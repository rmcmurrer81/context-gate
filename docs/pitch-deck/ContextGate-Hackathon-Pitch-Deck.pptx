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a034fa76d24050" /><Relationship Type="http://schemas.openxmlformats.org/officeDocument/2006/relationships/extended-properties" Target="/docProps/app.xml" Id="R95c9f3120e664f23" /><Relationship Type="http://schemas.openxmlformats.org/officeDocument/2006/relationships/officeDocument" Target="/ppt/presentation.xml" Id="Rdac36eccc649482b" /></Relationships>
</file>

<file path=ppt/presentation.xml><?xml version="1.0" encoding="utf-8"?>
<p:presentation xmlns:p="http://schemas.openxmlformats.org/presentationml/2006/main">
  <p:sldMasterIdLst>
    <p:sldMasterId xmlns:r="http://schemas.openxmlformats.org/officeDocument/2006/relationships" id="2147483648" r:id="Rb3d28117c0da4482"/>
  </p:sldMasterIdLst>
  <p:notesMasterIdLst>
    <p:notesMasterId xmlns:r="http://schemas.openxmlformats.org/officeDocument/2006/relationships" r:id="Rf48478c4c6cc450b"/>
  </p:notesMasterIdLst>
  <p:sldIdLst>
    <p:sldId xmlns:r="http://schemas.openxmlformats.org/officeDocument/2006/relationships" id="256" r:id="R027cb27f04ff4bbf"/>
    <p:sldId xmlns:r="http://schemas.openxmlformats.org/officeDocument/2006/relationships" id="257" r:id="Rbc35ef8419ab4673"/>
    <p:sldId xmlns:r="http://schemas.openxmlformats.org/officeDocument/2006/relationships" id="258" r:id="R15f2cca6d6ac46ff"/>
    <p:sldId xmlns:r="http://schemas.openxmlformats.org/officeDocument/2006/relationships" id="259" r:id="R3e1ca18cea484d5b"/>
    <p:sldId xmlns:r="http://schemas.openxmlformats.org/officeDocument/2006/relationships" id="260" r:id="R456b7ac49e724afe"/>
    <p:sldId xmlns:r="http://schemas.openxmlformats.org/officeDocument/2006/relationships" id="261" r:id="Rb4a3c191525146ef"/>
    <p:sldId xmlns:r="http://schemas.openxmlformats.org/officeDocument/2006/relationships" id="262" r:id="R5f6e53f1304448c6"/>
    <p:sldId xmlns:r="http://schemas.openxmlformats.org/officeDocument/2006/relationships" id="263" r:id="R0d2351ded4c64dab"/>
    <p:sldId xmlns:r="http://schemas.openxmlformats.org/officeDocument/2006/relationships" id="264" r:id="R166eb670cfa8477c"/>
    <p:sldId xmlns:r="http://schemas.openxmlformats.org/officeDocument/2006/relationships" id="265" r:id="Rc56c7cf561f84b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e0efe7c6d049cd" /><Relationship Type="http://schemas.openxmlformats.org/officeDocument/2006/relationships/slideMaster" Target="/ppt/slideMasters/slideMaster1.xml" Id="Rb3d28117c0da4482" /><Relationship Type="http://schemas.openxmlformats.org/officeDocument/2006/relationships/notesMaster" Target="/ppt/notesMasters/notesMaster1.xml" Id="Rf48478c4c6cc450b" /><Relationship Type="http://schemas.openxmlformats.org/officeDocument/2006/relationships/presProps" Target="/ppt/presProps.xml" Id="R8559df89fc534193" /><Relationship Type="http://schemas.openxmlformats.org/officeDocument/2006/relationships/tableStyles" Target="/ppt/tableStyles.xml" Id="R38f4f4d307364087" /><Relationship Type="http://schemas.openxmlformats.org/officeDocument/2006/relationships/slide" Target="/ppt/slides/slide1.xml" Id="R027cb27f04ff4bbf" /><Relationship Type="http://schemas.openxmlformats.org/officeDocument/2006/relationships/slide" Target="/ppt/slides/slide2.xml" Id="Rbc35ef8419ab4673" /><Relationship Type="http://schemas.openxmlformats.org/officeDocument/2006/relationships/slide" Target="/ppt/slides/slide3.xml" Id="R15f2cca6d6ac46ff" /><Relationship Type="http://schemas.openxmlformats.org/officeDocument/2006/relationships/slide" Target="/ppt/slides/slide4.xml" Id="R3e1ca18cea484d5b" /><Relationship Type="http://schemas.openxmlformats.org/officeDocument/2006/relationships/slide" Target="/ppt/slides/slide5.xml" Id="R456b7ac49e724afe" /><Relationship Type="http://schemas.openxmlformats.org/officeDocument/2006/relationships/slide" Target="/ppt/slides/slide6.xml" Id="Rb4a3c191525146ef" /><Relationship Type="http://schemas.openxmlformats.org/officeDocument/2006/relationships/slide" Target="/ppt/slides/slide7.xml" Id="R5f6e53f1304448c6" /><Relationship Type="http://schemas.openxmlformats.org/officeDocument/2006/relationships/slide" Target="/ppt/slides/slide8.xml" Id="R0d2351ded4c64dab" /><Relationship Type="http://schemas.openxmlformats.org/officeDocument/2006/relationships/slide" Target="/ppt/slides/slide9.xml" Id="R166eb670cfa8477c" /><Relationship Type="http://schemas.openxmlformats.org/officeDocument/2006/relationships/slide" Target="/ppt/slides/slide10.xml" Id="Rc56c7cf561f84b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ee76a3339449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cb625e1b61462c" /><Relationship Type="http://schemas.openxmlformats.org/officeDocument/2006/relationships/notesMaster" Target="/ppt/notesMasters/notesMaster1.xml" Id="Rd7246d2e0e0f40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640f7b866c45cf" /><Relationship Type="http://schemas.openxmlformats.org/officeDocument/2006/relationships/notesMaster" Target="/ppt/notesMasters/notesMaster1.xml" Id="R622605fd9eee4f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6bb35b941b49c1" /><Relationship Type="http://schemas.openxmlformats.org/officeDocument/2006/relationships/notesMaster" Target="/ppt/notesMasters/notesMaster1.xml" Id="R759ff731444d4f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7f2f795a8d49c6" /><Relationship Type="http://schemas.openxmlformats.org/officeDocument/2006/relationships/notesMaster" Target="/ppt/notesMasters/notesMaster1.xml" Id="R820b923ac75449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7f678379b14f67" /><Relationship Type="http://schemas.openxmlformats.org/officeDocument/2006/relationships/notesMaster" Target="/ppt/notesMasters/notesMaster1.xml" Id="R52f693880c5b45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0f7e7ee7a345c2" /><Relationship Type="http://schemas.openxmlformats.org/officeDocument/2006/relationships/notesMaster" Target="/ppt/notesMasters/notesMaster1.xml" Id="R6f3d321d4e9644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dda2a558494930" /><Relationship Type="http://schemas.openxmlformats.org/officeDocument/2006/relationships/notesMaster" Target="/ppt/notesMasters/notesMaster1.xml" Id="R8dafd20cbcb84f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aba7cba8bc4884" /><Relationship Type="http://schemas.openxmlformats.org/officeDocument/2006/relationships/notesMaster" Target="/ppt/notesMasters/notesMaster1.xml" Id="R1a4a5fca5d1a4d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a6999886bf4eaa" /><Relationship Type="http://schemas.openxmlformats.org/officeDocument/2006/relationships/notesMaster" Target="/ppt/notesMasters/notesMaster1.xml" Id="R4ecc9eaa04714c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7a84c8dc644842" /><Relationship Type="http://schemas.openxmlformats.org/officeDocument/2006/relationships/notesMaster" Target="/ppt/notesMasters/notesMaster1.xml" Id="Rc68d40306a9343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tension: agents are only as safe as the context they act on. ContextGate converts changing evidence into a governed, explainable receipt before an action proceeds.</a:t>
            </a:r>
          </a:p>
          <a:p xmlns:a="http://schemas.openxmlformats.org/drawingml/2006/main">
            <a:r>
              <a:t/>
            </a:r>
          </a:p>
          <a:p xmlns:a="http://schemas.openxmlformats.org/drawingml/2006/main">
            <a:r>
              <a:t>[Sources]</a:t>
            </a:r>
          </a:p>
          <a:p xmlns:a="http://schemas.openxmlformats.org/drawingml/2006/main">
            <a:r>
              <a:t>- C:\Users\robmc\Documents\Codex\2026-09-02\i-x20\outputs\context-gate\README.md</a:t>
            </a:r>
          </a:p>
          <a:p xmlns:a="http://schemas.openxmlformats.org/drawingml/2006/main">
            <a:r>
              <a:t>- Brand asset: C:\Users\robmc\AppData\Local\Temp\codex-clipboard-3d8c1838-efbf-4f1e-a60d-ea9e7bd84815.png</a:t>
            </a:r>
          </a:p>
          <a:p xmlns:a="http://schemas.openxmlformats.org/drawingml/2006/main">
            <a:r>
              <a:t>- Event and audience framing: user-provided hackathon brief, 2026-09-03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statements as a simple proof of the problem. ContextGate must preserve the source, identify whether a number is a delta or replacement, compare authority, and bind the decision to the evidence available at the time.</a:t>
            </a:r>
          </a:p>
          <a:p xmlns:a="http://schemas.openxmlformats.org/drawingml/2006/main">
            <a:r>
              <a:t/>
            </a:r>
          </a:p>
          <a:p xmlns:a="http://schemas.openxmlformats.org/drawingml/2006/main">
            <a:r>
              <a:t>[Sources]</a:t>
            </a:r>
          </a:p>
          <a:p xmlns:a="http://schemas.openxmlformats.org/drawingml/2006/main">
            <a:r>
              <a:t>- C:\Users\robmc\Documents\Codex\2026-09-02\i-x20\outputs\context-gate\docs\demo_script.md — Judge Q&amp;A: wrong totals and duplicates</a:t>
            </a:r>
          </a:p>
          <a:p xmlns:a="http://schemas.openxmlformats.org/drawingml/2006/main">
            <a:r>
              <a:t>- C:\Users\robmc\Documents\Codex\2026-09-02\i-x20\outputs\context-gate\context_gate\data\synthetic_context_events.json — fictional evidence fixtures</a:t>
            </a:r>
          </a:p>
          <a:p xmlns:a="http://schemas.openxmlformats.org/drawingml/2006/main">
            <a:r>
              <a:t>- C:\Users\robmc\Documents\Codex\2026-09-02\i-x20\outputs\context-gate\context_gate\source_catalog.py — normalized event identity and count logic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live-demo screen. Point left-to-right: company controls and sources, the operational decision picture, then the evidence-grounded assistant. The screenshot source is isolated in the builder so a refreshed UI capture can be swapped without changing the slide layout.</a:t>
            </a:r>
          </a:p>
          <a:p xmlns:a="http://schemas.openxmlformats.org/drawingml/2006/main">
            <a:r>
              <a:t/>
            </a:r>
          </a:p>
          <a:p xmlns:a="http://schemas.openxmlformats.org/drawingml/2006/main">
            <a:r>
              <a:t>[Sources]</a:t>
            </a:r>
          </a:p>
          <a:p xmlns:a="http://schemas.openxmlformats.org/drawingml/2006/main">
            <a:r>
              <a:t>- Screenshot: C:\Users\robmc\Documents\Codex\2026-09-02\i-x20\outputs\context-gate\docs\screenshots\01-dashboard.png</a:t>
            </a:r>
          </a:p>
          <a:p xmlns:a="http://schemas.openxmlformats.org/drawingml/2006/main">
            <a:r>
              <a:t>- C:\Users\robmc\Documents\Codex\2026-09-02\i-x20\outputs\context-gate\README.md — Built-in Pattern Lab and web application behavior</a:t>
            </a:r>
          </a:p>
          <a:p xmlns:a="http://schemas.openxmlformats.org/drawingml/2006/main">
            <a:r>
              <a:t>- C:\Users\robmc\Documents\Codex\2026-09-02\i-x20\outputs\context-gate\docs\demo_script.md — 0:46–1:43 decision picture and stopped-action path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workshop-aligned point: ContextGate does not dump every record into the model. For each question or proposed action, it selects only relevant records, deduplicates updates, attaches provenance, authority and event time, flags conflicts, and cites the evidence. That compact evidence packet goes through the deterministic gate. A Streaming Agent can explain the fixed receipt, while a human correction becomes remembered guidance plus a new receipt. Be explicit: the Confluent path is bundled and ready for workshop credentials, but it is not yet running against a live Confluent Cloud workspace.</a:t>
            </a:r>
          </a:p>
          <a:p xmlns:a="http://schemas.openxmlformats.org/drawingml/2006/main">
            <a:r>
              <a:t/>
            </a:r>
          </a:p>
          <a:p xmlns:a="http://schemas.openxmlformats.org/drawingml/2006/main">
            <a:r>
              <a:t>[Sources]</a:t>
            </a:r>
          </a:p>
          <a:p xmlns:a="http://schemas.openxmlformats.org/drawingml/2006/main">
            <a:r>
              <a:t>- C:\Users\robmc\Documents\Codex\2026-09-02\i-x20\outputs\context-gate\README.md — How it works and Confluent workshop path</a:t>
            </a:r>
          </a:p>
          <a:p xmlns:a="http://schemas.openxmlformats.org/drawingml/2006/main">
            <a:r>
              <a:t>- C:\Users\robmc\Documents\Codex\2026-09-02\i-x20\outputs\context-gate\docs\architecture.md — deterministic enforcement and Flink coverage boundary</a:t>
            </a:r>
          </a:p>
          <a:p xmlns:a="http://schemas.openxmlformats.org/drawingml/2006/main">
            <a:r>
              <a:t>- C:\Users\robmc\Documents\Codex\2026-09-02\i-x20\outputs\context-gate\context_gate\confluent_adapter.py</a:t>
            </a:r>
          </a:p>
          <a:p xmlns:a="http://schemas.openxmlformats.org/drawingml/2006/main">
            <a:r>
              <a:t>- C:\Users\robmc\Documents\Codex\2026-09-02\i-x20\outputs\context-gate\flink\ — ordered SQL deployment artifacts</a:t>
            </a:r>
          </a:p>
          <a:p xmlns:a="http://schemas.openxmlformats.org/drawingml/2006/main">
            <a:r>
              <a:t>- https://docs.confluent.io/cloud/current/flink/reference/queries/deduplication.html</a:t>
            </a:r>
          </a:p>
          <a:p xmlns:a="http://schemas.openxmlformats.org/drawingml/2006/main">
            <a:r>
              <a:t>- https://docs.confluent.io/cloud/current/flink/reference/queries/joins.html#temporal-joins</a:t>
            </a:r>
          </a:p>
          <a:p xmlns:a="http://schemas.openxmlformats.org/drawingml/2006/main">
            <a:r>
              <a:t>- https://docs.confluent.io/cloud/current/ai/streaming-agents/monitor-streaming-agents.html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configured by the operator, not hard-coded by a developer. In Connect sources, paste an authorized public URL, describe exactly what to collect, and choose Scan; saved sites can be rescanned or removed. In Settings → Email accounts, connect Gmail or Microsoft/Hotmail through the provider's real read-only OAuth flow and disconnect each account independently. ContextGate never treats a typed email address as authentication. Disconnecting a source stops access; deleting a matching local catalog record is a separate data action. Once configured, the same product can track events, sales, operations, or other company-defined signals in parallel.</a:t>
            </a:r>
          </a:p>
          <a:p xmlns:a="http://schemas.openxmlformats.org/drawingml/2006/main">
            <a:r>
              <a:t/>
            </a:r>
          </a:p>
          <a:p xmlns:a="http://schemas.openxmlformats.org/drawingml/2006/main">
            <a:r>
              <a:t>[Sources]</a:t>
            </a:r>
          </a:p>
          <a:p xmlns:a="http://schemas.openxmlformats.org/drawingml/2006/main">
            <a:r>
              <a:t>- Screenshot: C:\Users\robmc\Documents\Codex\2026-09-02\i-x20\outputs\context-gate\docs\screenshots\05-website-sources.png</a:t>
            </a:r>
          </a:p>
          <a:p xmlns:a="http://schemas.openxmlformats.org/drawingml/2006/main">
            <a:r>
              <a:t>- C:\Users\robmc\Documents\Codex\2026-09-02\i-x20\outputs\context-gate\docs\ingestion_connectors.md — source types and provenance</a:t>
            </a:r>
          </a:p>
          <a:p xmlns:a="http://schemas.openxmlformats.org/drawingml/2006/main">
            <a:r>
              <a:t>- C:\Users\robmc\Documents\Codex\2026-09-02\i-x20\outputs\context-gate\docs\demo_script.md — public website configuration, Gmail/Microsoft OAuth, disconnect/delete boundary</a:t>
            </a:r>
          </a:p>
          <a:p xmlns:a="http://schemas.openxmlformats.org/drawingml/2006/main">
            <a:r>
              <a:t>- C:\Users\robmc\Documents\Codex\2026-09-02\i-x20\outputs\context-gate\docs\company_setup.md — company settings and OAuth configuration</a:t>
            </a:r>
          </a:p>
          <a:p xmlns:a="http://schemas.openxmlformats.org/drawingml/2006/main">
            <a:r>
              <a:t>- C:\Users\robmc\Documents\Codex\2026-09-02\i-x20\outputs\context-gate\context_gate\website_sources.py — bounded website scans</a:t>
            </a:r>
          </a:p>
          <a:p xmlns:a="http://schemas.openxmlformats.org/drawingml/2006/main">
            <a:r>
              <a:t>- C:\Users\robmc\Documents\Codex\2026-09-02\i-x20\outputs\context-gate\context_gate\email_connectors.py — OAuth-backed mailbox sessions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this personal and concrete. A solo user can track hackathons, launch events, AI and robotics meetups, purchases, receipts, reservations, reminders, and venue changes across explicitly authorized sources. The calendar keeps undated evidence separate instead of guessing. Hide is reversible; delete removes the local catalog record but does not erase the upstream source.</a:t>
            </a:r>
          </a:p>
          <a:p xmlns:a="http://schemas.openxmlformats.org/drawingml/2006/main">
            <a:r>
              <a:t/>
            </a:r>
          </a:p>
          <a:p xmlns:a="http://schemas.openxmlformats.org/drawingml/2006/main">
            <a:r>
              <a:t>[Sources]</a:t>
            </a:r>
          </a:p>
          <a:p xmlns:a="http://schemas.openxmlformats.org/drawingml/2006/main">
            <a:r>
              <a:t>- Screenshot: C:\Users\robmc\Documents\Codex\2026-09-02\i-x20\outputs\context-gate\docs\screenshots\06-calendar.png</a:t>
            </a:r>
          </a:p>
          <a:p xmlns:a="http://schemas.openxmlformats.org/drawingml/2006/main">
            <a:r>
              <a:t>- C:\Users\robmc\Documents\Codex\2026-09-02\i-x20\outputs\context-gate\docs\demo_script.md — optional personal-use story and calendar behavior</a:t>
            </a:r>
          </a:p>
          <a:p xmlns:a="http://schemas.openxmlformats.org/drawingml/2006/main">
            <a:r>
              <a:t>- C:\Users\robmc\Documents\Codex\2026-09-02\i-x20\outputs\context-gate\docs\company_memory.md — tracking topics and operator guidance</a:t>
            </a:r>
          </a:p>
          <a:p xmlns:a="http://schemas.openxmlformats.org/drawingml/2006/main">
            <a:r>
              <a:t>- C:\Users\robmc\Documents\Codex\2026-09-02\i-x20\outputs\context-gate\README.md — privacy and provenance boundaries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verification numbers, then separate fictional demo counts from the time-bound real connector observation. The fictional catalog contains six Eventbrite messages resolving to five distinct Eventbrite events, and seven NYC messages resolving to six distinct NYC events. The real Eventbrite scan returned 20 structured records on September 3, 2026; that number is an observation from one test run, not a durable site statistic.</a:t>
            </a:r>
          </a:p>
          <a:p xmlns:a="http://schemas.openxmlformats.org/drawingml/2006/main">
            <a:r>
              <a:t/>
            </a:r>
          </a:p>
          <a:p xmlns:a="http://schemas.openxmlformats.org/drawingml/2006/main">
            <a:r>
              <a:t>[Sources]</a:t>
            </a:r>
          </a:p>
          <a:p xmlns:a="http://schemas.openxmlformats.org/drawingml/2006/main">
            <a:r>
              <a:t>- Local verification summary supplied for this deck, 2026-09-03: 57/57 chat scenarios; 277 tests passed; 2 expected skips; 4/4 CI matrix jobs</a:t>
            </a:r>
          </a:p>
          <a:p xmlns:a="http://schemas.openxmlformats.org/drawingml/2006/main">
            <a:r>
              <a:t>- C:\Users\robmc\Documents\Codex\2026-09-02\i-x20\outputs\context-gate\.github\workflows\ci.yml — Ubuntu/Windows × Python 3.11/3.13 matrix</a:t>
            </a:r>
          </a:p>
          <a:p xmlns:a="http://schemas.openxmlformats.org/drawingml/2006/main">
            <a:r>
              <a:t>- C:\Users\robmc\Documents\Codex\2026-09-02\i-x20\outputs\context-gate\tests\test_web_console.py — chat behavior</a:t>
            </a:r>
          </a:p>
          <a:p xmlns:a="http://schemas.openxmlformats.org/drawingml/2006/main">
            <a:r>
              <a:t>- C:\Users\robmc\Documents\Codex\2026-09-02\i-x20\outputs\context-gate\tests\test_source_catalog.py — fictional deduplication counts</a:t>
            </a:r>
          </a:p>
          <a:p xmlns:a="http://schemas.openxmlformats.org/drawingml/2006/main">
            <a:r>
              <a:t>- C:\Users\robmc\Documents\Codex\2026-09-02\i-x20\outputs\context-gate\docs\demo_script.md — real-site connector test observation and fictional count labels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safety differentiator. Source rank, evidence identity, event time, conflicts, and action policy stay in deterministic code. Schema validation prevents model prose from changing the outcome. The local judged path takes no external action. Gmail and Microsoft connections require provider-hosted OAuth and read-only mail scopes; an email address or password is never enough to connect an inbox.</a:t>
            </a:r>
          </a:p>
          <a:p xmlns:a="http://schemas.openxmlformats.org/drawingml/2006/main">
            <a:r>
              <a:t/>
            </a:r>
          </a:p>
          <a:p xmlns:a="http://schemas.openxmlformats.org/drawingml/2006/main">
            <a:r>
              <a:t>[Sources]</a:t>
            </a:r>
          </a:p>
          <a:p xmlns:a="http://schemas.openxmlformats.org/drawingml/2006/main">
            <a:r>
              <a:t>- Screenshot: C:\Users\robmc\Documents\Codex\2026-09-02\i-x20\outputs\context-gate\docs\screenshots\02-red-explanation.png</a:t>
            </a:r>
          </a:p>
          <a:p xmlns:a="http://schemas.openxmlformats.org/drawingml/2006/main">
            <a:r>
              <a:t>- C:\Users\robmc\Documents\Codex\2026-09-02\i-x20\outputs\context-gate\README.md — enforcement invariants, privacy and provenance</a:t>
            </a:r>
          </a:p>
          <a:p xmlns:a="http://schemas.openxmlformats.org/drawingml/2006/main">
            <a:r>
              <a:t>- C:\Users\robmc\Documents\Codex\2026-09-02\i-x20\outputs\context-gate\docs\architecture.md — decision and audit boundaries</a:t>
            </a:r>
          </a:p>
          <a:p xmlns:a="http://schemas.openxmlformats.org/drawingml/2006/main">
            <a:r>
              <a:t>- C:\Users\robmc\Documents\Codex\2026-09-02\i-x20\outputs\context-gate\docs\demo_script.md — Gmail/Hotmail OAuth and security judge Q&amp;A</a:t>
            </a:r>
          </a:p>
          <a:p xmlns:a="http://schemas.openxmlformats.org/drawingml/2006/main">
            <a:r>
              <a:t>- C:\Users\robmc\Documents\Codex\2026-09-02\i-x20\outputs\context-gate\context_gate\chat.py — receipt-bounded explanation behavior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the prompts that fit the remaining time. Start with a red explanation, then show the fictional Eventbrite count, one human correction, and a branded export. If Wi-Fi fails, the localhost demo and deterministic gate still work. The report is saved locally; ContextGate does not email or print automatically.</a:t>
            </a:r>
          </a:p>
          <a:p xmlns:a="http://schemas.openxmlformats.org/drawingml/2006/main">
            <a:r>
              <a:t/>
            </a:r>
          </a:p>
          <a:p xmlns:a="http://schemas.openxmlformats.org/drawingml/2006/main">
            <a:r>
              <a:t>[Sources]</a:t>
            </a:r>
          </a:p>
          <a:p xmlns:a="http://schemas.openxmlformats.org/drawingml/2006/main">
            <a:r>
              <a:t>- C:\Users\robmc\Documents\Codex\2026-09-02\i-x20\outputs\context-gate\docs\demo_script.md — exact timed prompts, optional prompts, and offline backup</a:t>
            </a:r>
          </a:p>
          <a:p xmlns:a="http://schemas.openxmlformats.org/drawingml/2006/main">
            <a:r>
              <a:t>- C:\Users\robmc\Documents\Codex\2026-09-02\i-x20\outputs\context-gate\tests\test_web_console.py — chat and correction paths</a:t>
            </a:r>
          </a:p>
          <a:p xmlns:a="http://schemas.openxmlformats.org/drawingml/2006/main">
            <a:r>
              <a:t>- C:\Users\robmc\Documents\Codex\2026-09-02\i-x20\outputs\context-gate\context_gate\report_exports.py — DOCX/PDF/PNG/HTML exports</a:t>
            </a:r>
          </a:p>
          <a:p xmlns:a="http://schemas.openxmlformats.org/drawingml/2006/main">
            <a:r>
              <a:t>- C:\Users\robmc\Documents\Codex\2026-09-02\i-x20\outputs\context-gate\README.md — local fallback boundary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tension. ContextGate makes changing evidence governable: what is known, why it is trusted, what can act, and who approved it. The concrete workshop ask is to connect the assigned credentials and validate the included Kafka/Flink/Streaming Agents path against the live environment.</a:t>
            </a:r>
          </a:p>
          <a:p xmlns:a="http://schemas.openxmlformats.org/drawingml/2006/main">
            <a:r>
              <a:t/>
            </a:r>
          </a:p>
          <a:p xmlns:a="http://schemas.openxmlformats.org/drawingml/2006/main">
            <a:r>
              <a:t>[Sources]</a:t>
            </a:r>
          </a:p>
          <a:p xmlns:a="http://schemas.openxmlformats.org/drawingml/2006/main">
            <a:r>
              <a:t>- C:\Users\robmc\Documents\Codex\2026-09-02\i-x20\outputs\context-gate\README.md — Confluent workshop path and enforcement invariants</a:t>
            </a:r>
          </a:p>
          <a:p xmlns:a="http://schemas.openxmlformats.org/drawingml/2006/main">
            <a:r>
              <a:t>- C:\Users\robmc\Documents\Codex\2026-09-02\i-x20\outputs\context-gate\docs\event_day_checklist.md — credentials, topics, Flink, and Streaming Agent steps</a:t>
            </a:r>
          </a:p>
          <a:p xmlns:a="http://schemas.openxmlformats.org/drawingml/2006/main">
            <a:r>
              <a:t>- C:\Users\robmc\Documents\Codex\2026-09-02\i-x20\outputs\context-gate\docs\demo_script.md — closing statement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9ab319d2234e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e73848053a4612" /><Relationship Type="http://schemas.openxmlformats.org/officeDocument/2006/relationships/slideLayout" Target="/ppt/slideLayouts/slideLayout1.xml" Id="R14e43c0ea5e54c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e43c0ea5e54c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ee3d8b73e6469f" /><Relationship Type="http://schemas.openxmlformats.org/officeDocument/2006/relationships/image" Target="/ppt/media/image.png" Id="Rfc051d4d6333472c" /><Relationship Type="http://schemas.openxmlformats.org/officeDocument/2006/relationships/notesSlide" Target="/ppt/notesSlides/notesSlide1.xml" Id="R1f812bf3cbac42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9dd37626b4407b" /><Relationship Type="http://schemas.openxmlformats.org/officeDocument/2006/relationships/notesSlide" Target="/ppt/notesSlides/notesSlide2.xml" Id="R2ffad0468bd046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c0c46d1c234452" /><Relationship Type="http://schemas.openxmlformats.org/officeDocument/2006/relationships/image" Target="/ppt/media/image2.png" Id="R7dea15f6a7df4757" /><Relationship Type="http://schemas.openxmlformats.org/officeDocument/2006/relationships/notesSlide" Target="/ppt/notesSlides/notesSlide3.xml" Id="Re2585f95c2da46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bb2ce62d88481a" /><Relationship Type="http://schemas.openxmlformats.org/officeDocument/2006/relationships/notesSlide" Target="/ppt/notesSlides/notesSlide4.xml" Id="R374f081834954e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18d1bb7cc44632" /><Relationship Type="http://schemas.openxmlformats.org/officeDocument/2006/relationships/image" Target="/ppt/media/image3.png" Id="Rc5c418dd749a4cb7" /><Relationship Type="http://schemas.openxmlformats.org/officeDocument/2006/relationships/notesSlide" Target="/ppt/notesSlides/notesSlide5.xml" Id="R165fb4e744bc48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38c94d4c144d08" /><Relationship Type="http://schemas.openxmlformats.org/officeDocument/2006/relationships/image" Target="/ppt/media/image4.png" Id="R6e409949d2f942f1" /><Relationship Type="http://schemas.openxmlformats.org/officeDocument/2006/relationships/notesSlide" Target="/ppt/notesSlides/notesSlide6.xml" Id="R64c380cfebbb44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5c9f92ad1b451e" /><Relationship Type="http://schemas.openxmlformats.org/officeDocument/2006/relationships/notesSlide" Target="/ppt/notesSlides/notesSlide7.xml" Id="Re916898b42cb4c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e214fb3e9b4067" /><Relationship Type="http://schemas.openxmlformats.org/officeDocument/2006/relationships/image" Target="/ppt/media/image5.png" Id="R4f479fbbc66e4cb6" /><Relationship Type="http://schemas.openxmlformats.org/officeDocument/2006/relationships/notesSlide" Target="/ppt/notesSlides/notesSlide8.xml" Id="R61fee689d9bf44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1ac81e9fc447e9" /><Relationship Type="http://schemas.openxmlformats.org/officeDocument/2006/relationships/notesSlide" Target="/ppt/notesSlides/notesSlide9.xml" Id="R5d656b2f64b34b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1f014aaf464db7" /><Relationship Type="http://schemas.openxmlformats.org/officeDocument/2006/relationships/notesSlide" Target="/ppt/notesSlides/notesSlide10.xml" Id="Ra3cf98dffd7940cb" /></Relationships>
</file>

<file path=ppt/slides/slide1.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21" name="top-signal-1">
            <a:extLst xmlns:a="http://schemas.openxmlformats.org/drawingml/2006/main">
              <a:ext uri="{FF2B5EF4-FFF2-40B4-BE49-F238E27FC236}">
                <a16:creationId xmlns:a16="http://schemas.microsoft.com/office/drawing/2014/main" id="{2EE90451-1E34-46D7-88C1-2019BE25071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1">
            <a:extLst xmlns:a="http://schemas.openxmlformats.org/drawingml/2006/main">
              <a:ext uri="{FF2B5EF4-FFF2-40B4-BE49-F238E27FC236}">
                <a16:creationId xmlns:a16="http://schemas.microsoft.com/office/drawing/2014/main" id="{9CA64A86-8374-424A-A311-CAB2C64BD06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3" name="signal-line-a-1">
            <a:extLst xmlns:a="http://schemas.openxmlformats.org/drawingml/2006/main">
              <a:ext uri="{FF2B5EF4-FFF2-40B4-BE49-F238E27FC236}">
                <a16:creationId xmlns:a16="http://schemas.microsoft.com/office/drawing/2014/main" id="{18543604-BBB4-406D-A702-D2E238103337}"/>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1">
            <a:extLst xmlns:a="http://schemas.openxmlformats.org/drawingml/2006/main">
              <a:ext uri="{FF2B5EF4-FFF2-40B4-BE49-F238E27FC236}">
                <a16:creationId xmlns:a16="http://schemas.microsoft.com/office/drawing/2014/main" id="{F39FF5C3-A922-4855-9902-76096840BEAF}"/>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1">
            <a:extLst xmlns:a="http://schemas.openxmlformats.org/drawingml/2006/main">
              <a:ext uri="{FF2B5EF4-FFF2-40B4-BE49-F238E27FC236}">
                <a16:creationId xmlns:a16="http://schemas.microsoft.com/office/drawing/2014/main" id="{B319E553-1F32-4CD4-A983-BED27B1F7BB3}"/>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c051d4d6333472c"/>
          <a:stretch xmlns:a="http://schemas.openxmlformats.org/drawingml/2006/main"/>
        </p:blipFill>
        <p:spPr>
          <a:xfrm xmlns:a="http://schemas.openxmlformats.org/drawingml/2006/main">
            <a:off x="723900" y="657225"/>
            <a:ext cx="914400" cy="914400"/>
          </a:xfrm>
          <a:prstGeom xmlns:a="http://schemas.openxmlformats.org/drawingml/2006/main" prst="roundRect">
            <a:avLst>
              <a:gd name="adj" fmla="val 12500"/>
            </a:avLst>
          </a:prstGeom>
        </p:spPr>
      </p:pic>
      <p:sp>
        <p:nvSpPr>
          <p:cNvPr id="7" name="event">
            <a:extLst xmlns:a="http://schemas.openxmlformats.org/drawingml/2006/main">
              <a:ext uri="{FF2B5EF4-FFF2-40B4-BE49-F238E27FC236}">
                <a16:creationId xmlns:a16="http://schemas.microsoft.com/office/drawing/2014/main" id="{81379E09-EBE0-482C-91ED-FE0A0DDD8952}"/>
              </a:ext>
            </a:extLst>
          </p:cNvPr>
          <p:cNvSpPr>
            <a:spLocks xmlns:a="http://schemas.openxmlformats.org/drawingml/2006/main" noGrp="1"/>
          </p:cNvSpPr>
          <p:nvPr/>
        </p:nvSpPr>
        <p:spPr>
          <a:xfrm xmlns:a="http://schemas.openxmlformats.org/drawingml/2006/main">
            <a:off x="1847850" y="7239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3DDCFF"/>
                </a:solidFill>
                <a:latin typeface="Aptos Mono"/>
                <a:ea typeface="Aptos Mono"/>
                <a:cs typeface="Aptos Mono"/>
              </a:defRPr>
            </a:pPr>
            <a:r>
              <a:rPr sz="1200" b="1">
                <a:solidFill>
                  <a:srgbClr val="3DDCFF"/>
                </a:solidFill>
                <a:latin typeface="Aptos Mono"/>
                <a:ea typeface="Aptos Mono"/>
                <a:cs typeface="Aptos Mono"/>
              </a:rPr>
              <a:t>KIRA LABS  /  CONFLUENT AI DAY NYC</a:t>
            </a:r>
          </a:p>
        </p:txBody>
      </p:sp>
      <p:sp>
        <p:nvSpPr>
          <p:cNvPr id="8" name="presenter">
            <a:extLst xmlns:a="http://schemas.openxmlformats.org/drawingml/2006/main">
              <a:ext uri="{FF2B5EF4-FFF2-40B4-BE49-F238E27FC236}">
                <a16:creationId xmlns:a16="http://schemas.microsoft.com/office/drawing/2014/main" id="{8A906EAD-BD20-4B1F-AF13-A2817A6A414A}"/>
              </a:ext>
            </a:extLst>
          </p:cNvPr>
          <p:cNvSpPr>
            <a:spLocks xmlns:a="http://schemas.openxmlformats.org/drawingml/2006/main" noGrp="1"/>
          </p:cNvSpPr>
          <p:nvPr/>
        </p:nvSpPr>
        <p:spPr>
          <a:xfrm xmlns:a="http://schemas.openxmlformats.org/drawingml/2006/main">
            <a:off x="1847850" y="10668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83A4BA"/>
                </a:solidFill>
                <a:latin typeface="Aptos"/>
                <a:ea typeface="Aptos"/>
                <a:cs typeface="Aptos"/>
              </a:defRPr>
            </a:pPr>
            <a:r>
              <a:rPr sz="1575" b="0">
                <a:solidFill>
                  <a:srgbClr val="83A4BA"/>
                </a:solidFill>
                <a:latin typeface="Aptos"/>
                <a:ea typeface="Aptos"/>
                <a:cs typeface="Aptos"/>
              </a:rPr>
              <a:t>Robert McMurrer  ·  kiralabs.org</a:t>
            </a:r>
          </a:p>
        </p:txBody>
      </p:sp>
      <p:sp>
        <p:nvSpPr>
          <p:cNvPr id="9" name="deck-title">
            <a:extLst xmlns:a="http://schemas.openxmlformats.org/drawingml/2006/main">
              <a:ext uri="{FF2B5EF4-FFF2-40B4-BE49-F238E27FC236}">
                <a16:creationId xmlns:a16="http://schemas.microsoft.com/office/drawing/2014/main" id="{1D9F6AC3-2137-47F4-84A9-69E8A6BC3481}"/>
              </a:ext>
            </a:extLst>
          </p:cNvPr>
          <p:cNvSpPr>
            <a:spLocks xmlns:a="http://schemas.openxmlformats.org/drawingml/2006/main" noGrp="1"/>
          </p:cNvSpPr>
          <p:nvPr/>
        </p:nvSpPr>
        <p:spPr>
          <a:xfrm xmlns:a="http://schemas.openxmlformats.org/drawingml/2006/main">
            <a:off x="723900" y="2076450"/>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6000" b="1">
                <a:solidFill>
                  <a:srgbClr val="F6FBFF"/>
                </a:solidFill>
                <a:latin typeface="Aptos Display"/>
                <a:ea typeface="Aptos Display"/>
                <a:cs typeface="Aptos Display"/>
              </a:defRPr>
            </a:pPr>
            <a:r>
              <a:rPr sz="6000" b="1">
                <a:solidFill>
                  <a:srgbClr val="F6FBFF"/>
                </a:solidFill>
                <a:latin typeface="Aptos Display"/>
                <a:ea typeface="Aptos Display"/>
                <a:cs typeface="Aptos Display"/>
              </a:rPr>
              <a:t>ContextGate</a:t>
            </a:r>
          </a:p>
        </p:txBody>
      </p:sp>
      <p:sp>
        <p:nvSpPr>
          <p:cNvPr id="10" name="deck-subtitle">
            <a:extLst xmlns:a="http://schemas.openxmlformats.org/drawingml/2006/main">
              <a:ext uri="{FF2B5EF4-FFF2-40B4-BE49-F238E27FC236}">
                <a16:creationId xmlns:a16="http://schemas.microsoft.com/office/drawing/2014/main" id="{4B989173-AE02-40A1-8C49-41E04D04B5C4}"/>
              </a:ext>
            </a:extLst>
          </p:cNvPr>
          <p:cNvSpPr>
            <a:spLocks xmlns:a="http://schemas.openxmlformats.org/drawingml/2006/main" noGrp="1"/>
          </p:cNvSpPr>
          <p:nvPr/>
        </p:nvSpPr>
        <p:spPr>
          <a:xfrm xmlns:a="http://schemas.openxmlformats.org/drawingml/2006/main">
            <a:off x="762000" y="3038475"/>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3DDCFF"/>
                </a:solidFill>
                <a:latin typeface="Aptos"/>
                <a:ea typeface="Aptos"/>
                <a:cs typeface="Aptos"/>
              </a:defRPr>
            </a:pPr>
            <a:r>
              <a:rPr sz="2850" b="1">
                <a:solidFill>
                  <a:srgbClr val="3DDCFF"/>
                </a:solidFill>
                <a:latin typeface="Aptos"/>
                <a:ea typeface="Aptos"/>
                <a:cs typeface="Aptos"/>
              </a:rPr>
              <a:t>Make changing evidence safe to act on.</a:t>
            </a:r>
          </a:p>
        </p:txBody>
      </p:sp>
      <p:sp>
        <p:nvSpPr>
          <p:cNvPr id="11" name="deck-thesis">
            <a:extLst xmlns:a="http://schemas.openxmlformats.org/drawingml/2006/main">
              <a:ext uri="{FF2B5EF4-FFF2-40B4-BE49-F238E27FC236}">
                <a16:creationId xmlns:a16="http://schemas.microsoft.com/office/drawing/2014/main" id="{E34661C1-73CE-4457-85C9-E3D79E37A7FA}"/>
              </a:ext>
            </a:extLst>
          </p:cNvPr>
          <p:cNvSpPr>
            <a:spLocks xmlns:a="http://schemas.openxmlformats.org/drawingml/2006/main" noGrp="1"/>
          </p:cNvSpPr>
          <p:nvPr/>
        </p:nvSpPr>
        <p:spPr>
          <a:xfrm xmlns:a="http://schemas.openxmlformats.org/drawingml/2006/main">
            <a:off x="781050" y="38290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0">
                <a:solidFill>
                  <a:srgbClr val="83A4BA"/>
                </a:solidFill>
                <a:latin typeface="Aptos Mono"/>
                <a:ea typeface="Aptos Mono"/>
                <a:cs typeface="Aptos Mono"/>
              </a:defRPr>
            </a:pPr>
            <a:r>
              <a:rPr sz="1950" b="0">
                <a:solidFill>
                  <a:srgbClr val="83A4BA"/>
                </a:solidFill>
                <a:latin typeface="Aptos Mono"/>
                <a:ea typeface="Aptos Mono"/>
                <a:cs typeface="Aptos Mono"/>
              </a:rPr>
              <a:t>Evidence  →  decision  →  receipt</a:t>
            </a:r>
          </a:p>
        </p:txBody>
      </p:sp>
      <p:sp>
        <p:nvSpPr>
          <p:cNvPr id="12" name="hero-ring-outer">
            <a:extLst xmlns:a="http://schemas.openxmlformats.org/drawingml/2006/main">
              <a:ext uri="{FF2B5EF4-FFF2-40B4-BE49-F238E27FC236}">
                <a16:creationId xmlns:a16="http://schemas.microsoft.com/office/drawing/2014/main" id="{7EF4B023-EDC6-4C72-9216-9750DA255CE0}"/>
              </a:ext>
            </a:extLst>
          </p:cNvPr>
          <p:cNvSpPr>
            <a:spLocks xmlns:a="http://schemas.openxmlformats.org/drawingml/2006/main" noGrp="1"/>
          </p:cNvSpPr>
          <p:nvPr/>
        </p:nvSpPr>
        <p:spPr>
          <a:xfrm xmlns:a="http://schemas.openxmlformats.org/drawingml/2006/main">
            <a:off x="8620125" y="1581150"/>
            <a:ext cx="2333625" cy="2333625"/>
          </a:xfrm>
          <a:prstGeom xmlns:a="http://schemas.openxmlformats.org/drawingml/2006/main" prst="ellipse">
            <a:avLst/>
          </a:prstGeom>
          <a:solidFill xmlns:a="http://schemas.openxmlformats.org/drawingml/2006/main">
            <a:srgbClr val="03070D"/>
          </a:solidFill>
          <a:ln xmlns:a="http://schemas.openxmlformats.org/drawingml/2006/main" w="38100">
            <a:solidFill>
              <a:srgbClr val="17435B"/>
            </a:solidFill>
            <a:prstDash val="solid"/>
          </a:ln>
        </p:spPr>
      </p:sp>
      <p:sp>
        <p:nvSpPr>
          <p:cNvPr id="13" name="hero-ring-mid">
            <a:extLst xmlns:a="http://schemas.openxmlformats.org/drawingml/2006/main">
              <a:ext uri="{FF2B5EF4-FFF2-40B4-BE49-F238E27FC236}">
                <a16:creationId xmlns:a16="http://schemas.microsoft.com/office/drawing/2014/main" id="{A6D4AB80-439B-4B16-ADAF-EEE427AD0053}"/>
              </a:ext>
            </a:extLst>
          </p:cNvPr>
          <p:cNvSpPr>
            <a:spLocks xmlns:a="http://schemas.openxmlformats.org/drawingml/2006/main" noGrp="1"/>
          </p:cNvSpPr>
          <p:nvPr/>
        </p:nvSpPr>
        <p:spPr>
          <a:xfrm xmlns:a="http://schemas.openxmlformats.org/drawingml/2006/main">
            <a:off x="8982075" y="1943100"/>
            <a:ext cx="1609725" cy="1609725"/>
          </a:xfrm>
          <a:prstGeom xmlns:a="http://schemas.openxmlformats.org/drawingml/2006/main" prst="ellipse">
            <a:avLst/>
          </a:prstGeom>
          <a:solidFill xmlns:a="http://schemas.openxmlformats.org/drawingml/2006/main">
            <a:srgbClr val="03070D"/>
          </a:solidFill>
          <a:ln xmlns:a="http://schemas.openxmlformats.org/drawingml/2006/main" w="28575">
            <a:solidFill>
              <a:srgbClr val="099DCC"/>
            </a:solidFill>
            <a:prstDash val="solid"/>
          </a:ln>
        </p:spPr>
      </p:sp>
      <p:sp>
        <p:nvSpPr>
          <p:cNvPr id="14" name="hero-ring-inner">
            <a:extLst xmlns:a="http://schemas.openxmlformats.org/drawingml/2006/main">
              <a:ext uri="{FF2B5EF4-FFF2-40B4-BE49-F238E27FC236}">
                <a16:creationId xmlns:a16="http://schemas.microsoft.com/office/drawing/2014/main" id="{F94E5F7B-8EAE-4D03-96C8-85AE24CE7BD8}"/>
              </a:ext>
            </a:extLst>
          </p:cNvPr>
          <p:cNvSpPr>
            <a:spLocks xmlns:a="http://schemas.openxmlformats.org/drawingml/2006/main" noGrp="1"/>
          </p:cNvSpPr>
          <p:nvPr/>
        </p:nvSpPr>
        <p:spPr>
          <a:xfrm xmlns:a="http://schemas.openxmlformats.org/drawingml/2006/main">
            <a:off x="9458325" y="2419350"/>
            <a:ext cx="657225" cy="657225"/>
          </a:xfrm>
          <a:prstGeom xmlns:a="http://schemas.openxmlformats.org/drawingml/2006/main" prst="ellipse">
            <a:avLst/>
          </a:prstGeom>
          <a:solidFill xmlns:a="http://schemas.openxmlformats.org/drawingml/2006/main">
            <a:srgbClr val="10283A"/>
          </a:solidFill>
          <a:ln xmlns:a="http://schemas.openxmlformats.org/drawingml/2006/main" w="38100">
            <a:solidFill>
              <a:srgbClr val="3DDCFF"/>
            </a:solidFill>
            <a:prstDash val="solid"/>
          </a:ln>
        </p:spPr>
      </p:sp>
      <p:sp>
        <p:nvSpPr>
          <p:cNvPr id="15" name="hero-core">
            <a:extLst xmlns:a="http://schemas.openxmlformats.org/drawingml/2006/main">
              <a:ext uri="{FF2B5EF4-FFF2-40B4-BE49-F238E27FC236}">
                <a16:creationId xmlns:a16="http://schemas.microsoft.com/office/drawing/2014/main" id="{9F4BCEB4-8D91-4245-83BE-4DFB9A2A111E}"/>
              </a:ext>
            </a:extLst>
          </p:cNvPr>
          <p:cNvSpPr>
            <a:spLocks xmlns:a="http://schemas.openxmlformats.org/drawingml/2006/main" noGrp="1"/>
          </p:cNvSpPr>
          <p:nvPr/>
        </p:nvSpPr>
        <p:spPr>
          <a:xfrm xmlns:a="http://schemas.openxmlformats.org/drawingml/2006/main">
            <a:off x="9525000" y="2590800"/>
            <a:ext cx="523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575" b="1">
                <a:solidFill>
                  <a:srgbClr val="F6FBFF"/>
                </a:solidFill>
                <a:latin typeface="Aptos Mono"/>
                <a:ea typeface="Aptos Mono"/>
                <a:cs typeface="Aptos Mono"/>
              </a:defRPr>
            </a:pPr>
            <a:r>
              <a:rPr sz="1575" b="1">
                <a:solidFill>
                  <a:srgbClr val="F6FBFF"/>
                </a:solidFill>
                <a:latin typeface="Aptos Mono"/>
                <a:ea typeface="Aptos Mono"/>
                <a:cs typeface="Aptos Mono"/>
              </a:rPr>
              <a:t>CG</a:t>
            </a:r>
          </a:p>
        </p:txBody>
      </p:sp>
      <p:sp>
        <p:nvSpPr>
          <p:cNvPr id="16" name="pulse-left">
            <a:extLst xmlns:a="http://schemas.openxmlformats.org/drawingml/2006/main">
              <a:ext uri="{FF2B5EF4-FFF2-40B4-BE49-F238E27FC236}">
                <a16:creationId xmlns:a16="http://schemas.microsoft.com/office/drawing/2014/main" id="{3E345067-0C07-4DDC-9EC7-5CD297FA0F9E}"/>
              </a:ext>
            </a:extLst>
          </p:cNvPr>
          <p:cNvSpPr>
            <a:spLocks xmlns:a="http://schemas.openxmlformats.org/drawingml/2006/main" noGrp="1"/>
          </p:cNvSpPr>
          <p:nvPr/>
        </p:nvSpPr>
        <p:spPr>
          <a:xfrm xmlns:a="http://schemas.openxmlformats.org/drawingml/2006/main">
            <a:off x="7715250" y="2724150"/>
            <a:ext cx="1743075" cy="381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17" name="pulse-right">
            <a:extLst xmlns:a="http://schemas.openxmlformats.org/drawingml/2006/main">
              <a:ext uri="{FF2B5EF4-FFF2-40B4-BE49-F238E27FC236}">
                <a16:creationId xmlns:a16="http://schemas.microsoft.com/office/drawing/2014/main" id="{6AD0033D-96C6-4197-8736-F160AE41148F}"/>
              </a:ext>
            </a:extLst>
          </p:cNvPr>
          <p:cNvSpPr>
            <a:spLocks xmlns:a="http://schemas.openxmlformats.org/drawingml/2006/main" noGrp="1"/>
          </p:cNvSpPr>
          <p:nvPr/>
        </p:nvSpPr>
        <p:spPr>
          <a:xfrm xmlns:a="http://schemas.openxmlformats.org/drawingml/2006/main">
            <a:off x="10115550" y="2724150"/>
            <a:ext cx="1219200" cy="381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18" name="outcomes">
            <a:extLst xmlns:a="http://schemas.openxmlformats.org/drawingml/2006/main">
              <a:ext uri="{FF2B5EF4-FFF2-40B4-BE49-F238E27FC236}">
                <a16:creationId xmlns:a16="http://schemas.microsoft.com/office/drawing/2014/main" id="{863AEA9D-A8DD-48F2-8E6E-16EAD17F1A08}"/>
              </a:ext>
            </a:extLst>
          </p:cNvPr>
          <p:cNvSpPr>
            <a:spLocks xmlns:a="http://schemas.openxmlformats.org/drawingml/2006/main" noGrp="1"/>
          </p:cNvSpPr>
          <p:nvPr/>
        </p:nvSpPr>
        <p:spPr>
          <a:xfrm xmlns:a="http://schemas.openxmlformats.org/drawingml/2006/main">
            <a:off x="8029575" y="429577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83A4BA"/>
                </a:solidFill>
                <a:latin typeface="Aptos Mono"/>
                <a:ea typeface="Aptos Mono"/>
                <a:cs typeface="Aptos Mono"/>
              </a:defRPr>
            </a:pPr>
            <a:r>
              <a:rPr sz="1275" b="1">
                <a:solidFill>
                  <a:srgbClr val="83A4BA"/>
                </a:solidFill>
                <a:latin typeface="Aptos Mono"/>
                <a:ea typeface="Aptos Mono"/>
                <a:cs typeface="Aptos Mono"/>
              </a:rPr>
              <a:t>ALLOW     REVIEW     BLOCK</a:t>
            </a:r>
          </a:p>
        </p:txBody>
      </p:sp>
      <p:sp>
        <p:nvSpPr>
          <p:cNvPr id="19" name="cover-close">
            <a:extLst xmlns:a="http://schemas.openxmlformats.org/drawingml/2006/main">
              <a:ext uri="{FF2B5EF4-FFF2-40B4-BE49-F238E27FC236}">
                <a16:creationId xmlns:a16="http://schemas.microsoft.com/office/drawing/2014/main" id="{5F9C198E-CA3C-4218-A7E7-8B4FFB792C94}"/>
              </a:ext>
            </a:extLst>
          </p:cNvPr>
          <p:cNvSpPr>
            <a:spLocks xmlns:a="http://schemas.openxmlformats.org/drawingml/2006/main" noGrp="1"/>
          </p:cNvSpPr>
          <p:nvPr/>
        </p:nvSpPr>
        <p:spPr>
          <a:xfrm xmlns:a="http://schemas.openxmlformats.org/drawingml/2006/main">
            <a:off x="742950" y="55721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0">
                <a:solidFill>
                  <a:srgbClr val="DCEAF4"/>
                </a:solidFill>
                <a:latin typeface="Aptos"/>
                <a:ea typeface="Aptos"/>
                <a:cs typeface="Aptos"/>
              </a:defRPr>
            </a:pPr>
            <a:r>
              <a:rPr sz="1800" b="0">
                <a:solidFill>
                  <a:srgbClr val="DCEAF4"/>
                </a:solidFill>
                <a:latin typeface="Aptos"/>
                <a:ea typeface="Aptos"/>
                <a:cs typeface="Aptos"/>
              </a:rPr>
              <a:t>An explainable control layer for AI agents</a:t>
            </a:r>
          </a:p>
        </p:txBody>
      </p:sp>
      <p:sp>
        <p:nvSpPr>
          <p:cNvPr id="20" name="cover-number">
            <a:extLst xmlns:a="http://schemas.openxmlformats.org/drawingml/2006/main">
              <a:ext uri="{FF2B5EF4-FFF2-40B4-BE49-F238E27FC236}">
                <a16:creationId xmlns:a16="http://schemas.microsoft.com/office/drawing/2014/main" id="{584B5A5B-2E4D-4D0E-94F6-E676637958C8}"/>
              </a:ext>
            </a:extLst>
          </p:cNvPr>
          <p:cNvSpPr>
            <a:spLocks xmlns:a="http://schemas.openxmlformats.org/drawingml/2006/main" noGrp="1"/>
          </p:cNvSpPr>
          <p:nvPr/>
        </p:nvSpPr>
        <p:spPr>
          <a:xfrm xmlns:a="http://schemas.openxmlformats.org/drawingml/2006/main">
            <a:off x="11077575"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01</a:t>
            </a:r>
          </a:p>
        </p:txBody>
      </p:sp>
    </p:spTree>
    <p:extLst>
      <p:ext uri="{BB962C8B-B14F-4D97-AF65-F5344CB8AC3E}">
        <p14:creationId xmlns:p14="http://schemas.microsoft.com/office/powerpoint/2010/main" val="953254987"/>
      </p:ext>
    </p:extLst>
  </p:cSld>
</p:sld>
</file>

<file path=ppt/slides/slide2.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33" name="top-signal-2">
            <a:extLst xmlns:a="http://schemas.openxmlformats.org/drawingml/2006/main">
              <a:ext uri="{FF2B5EF4-FFF2-40B4-BE49-F238E27FC236}">
                <a16:creationId xmlns:a16="http://schemas.microsoft.com/office/drawing/2014/main" id="{B27DCEC2-4105-47B9-85E0-A5EA7419B74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2">
            <a:extLst xmlns:a="http://schemas.openxmlformats.org/drawingml/2006/main">
              <a:ext uri="{FF2B5EF4-FFF2-40B4-BE49-F238E27FC236}">
                <a16:creationId xmlns:a16="http://schemas.microsoft.com/office/drawing/2014/main" id="{0D116222-181A-415F-8D6F-AFDB3613E55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3" name="signal-line-a-2">
            <a:extLst xmlns:a="http://schemas.openxmlformats.org/drawingml/2006/main">
              <a:ext uri="{FF2B5EF4-FFF2-40B4-BE49-F238E27FC236}">
                <a16:creationId xmlns:a16="http://schemas.microsoft.com/office/drawing/2014/main" id="{2207488D-06A9-408F-84F1-B675DB94B6F8}"/>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2">
            <a:extLst xmlns:a="http://schemas.openxmlformats.org/drawingml/2006/main">
              <a:ext uri="{FF2B5EF4-FFF2-40B4-BE49-F238E27FC236}">
                <a16:creationId xmlns:a16="http://schemas.microsoft.com/office/drawing/2014/main" id="{C8FE2B3F-FBBE-459F-8229-982F704E3A12}"/>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2">
            <a:extLst xmlns:a="http://schemas.openxmlformats.org/drawingml/2006/main">
              <a:ext uri="{FF2B5EF4-FFF2-40B4-BE49-F238E27FC236}">
                <a16:creationId xmlns:a16="http://schemas.microsoft.com/office/drawing/2014/main" id="{137D3F0C-1DB2-4BA8-ABB0-860466D67F2E}"/>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kicker-2">
            <a:extLst xmlns:a="http://schemas.openxmlformats.org/drawingml/2006/main">
              <a:ext uri="{FF2B5EF4-FFF2-40B4-BE49-F238E27FC236}">
                <a16:creationId xmlns:a16="http://schemas.microsoft.com/office/drawing/2014/main" id="{2AA13606-0287-4D17-AEE0-72B92870FC47}"/>
              </a:ext>
            </a:extLst>
          </p:cNvPr>
          <p:cNvSpPr>
            <a:spLocks xmlns:a="http://schemas.openxmlformats.org/drawingml/2006/main" noGrp="1"/>
          </p:cNvSpPr>
          <p:nvPr/>
        </p:nvSpPr>
        <p:spPr>
          <a:xfrm xmlns:a="http://schemas.openxmlformats.org/drawingml/2006/main">
            <a:off x="609600" y="3810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THE RISK</a:t>
            </a:r>
          </a:p>
        </p:txBody>
      </p:sp>
      <p:sp>
        <p:nvSpPr>
          <p:cNvPr id="7" name="title-2">
            <a:extLst xmlns:a="http://schemas.openxmlformats.org/drawingml/2006/main">
              <a:ext uri="{FF2B5EF4-FFF2-40B4-BE49-F238E27FC236}">
                <a16:creationId xmlns:a16="http://schemas.microsoft.com/office/drawing/2014/main" id="{E7E51929-A683-43D4-B349-13D1DB66271B}"/>
              </a:ext>
            </a:extLst>
          </p:cNvPr>
          <p:cNvSpPr>
            <a:spLocks xmlns:a="http://schemas.openxmlformats.org/drawingml/2006/main" noGrp="1"/>
          </p:cNvSpPr>
          <p:nvPr/>
        </p:nvSpPr>
        <p:spPr>
          <a:xfrm xmlns:a="http://schemas.openxmlformats.org/drawingml/2006/main">
            <a:off x="609600" y="6572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3750" b="1">
                <a:solidFill>
                  <a:srgbClr val="F6FBFF"/>
                </a:solidFill>
                <a:latin typeface="Aptos Display"/>
                <a:ea typeface="Aptos Display"/>
                <a:cs typeface="Aptos Display"/>
              </a:defRPr>
            </a:pPr>
            <a:r>
              <a:rPr sz="3750" b="1">
                <a:solidFill>
                  <a:srgbClr val="F6FBFF"/>
                </a:solidFill>
                <a:latin typeface="Aptos Display"/>
                <a:ea typeface="Aptos Display"/>
                <a:cs typeface="Aptos Display"/>
              </a:rPr>
              <a:t>Changing context breaks agent decisions</a:t>
            </a:r>
          </a:p>
        </p:txBody>
      </p:sp>
      <p:sp>
        <p:nvSpPr>
          <p:cNvPr id="8" name="subtitle-2">
            <a:extLst xmlns:a="http://schemas.openxmlformats.org/drawingml/2006/main">
              <a:ext uri="{FF2B5EF4-FFF2-40B4-BE49-F238E27FC236}">
                <a16:creationId xmlns:a16="http://schemas.microsoft.com/office/drawing/2014/main" id="{DD4B7F14-A900-46A6-8CF5-BD40E37FE395}"/>
              </a:ext>
            </a:extLst>
          </p:cNvPr>
          <p:cNvSpPr>
            <a:spLocks xmlns:a="http://schemas.openxmlformats.org/drawingml/2006/main" noGrp="1"/>
          </p:cNvSpPr>
          <p:nvPr/>
        </p:nvSpPr>
        <p:spPr>
          <a:xfrm xmlns:a="http://schemas.openxmlformats.org/drawingml/2006/main">
            <a:off x="628650" y="12382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83A4BA"/>
                </a:solidFill>
                <a:latin typeface="Aptos"/>
                <a:ea typeface="Aptos"/>
                <a:cs typeface="Aptos"/>
              </a:defRPr>
            </a:pPr>
            <a:r>
              <a:rPr sz="1725" b="0">
                <a:solidFill>
                  <a:srgbClr val="83A4BA"/>
                </a:solidFill>
                <a:latin typeface="Aptos"/>
                <a:ea typeface="Aptos"/>
                <a:cs typeface="Aptos"/>
              </a:rPr>
              <a:t>Recency, wording, and authority can point in different directions.</a:t>
            </a:r>
          </a:p>
        </p:txBody>
      </p:sp>
      <p:sp>
        <p:nvSpPr>
          <p:cNvPr id="9" name="evidence-rule-0">
            <a:extLst xmlns:a="http://schemas.openxmlformats.org/drawingml/2006/main">
              <a:ext uri="{FF2B5EF4-FFF2-40B4-BE49-F238E27FC236}">
                <a16:creationId xmlns:a16="http://schemas.microsoft.com/office/drawing/2014/main" id="{F96876CC-369D-4763-898E-19F3C3B777CD}"/>
              </a:ext>
            </a:extLst>
          </p:cNvPr>
          <p:cNvSpPr>
            <a:spLocks xmlns:a="http://schemas.openxmlformats.org/drawingml/2006/main" noGrp="1"/>
          </p:cNvSpPr>
          <p:nvPr/>
        </p:nvSpPr>
        <p:spPr>
          <a:xfrm xmlns:a="http://schemas.openxmlformats.org/drawingml/2006/main">
            <a:off x="685800" y="2000250"/>
            <a:ext cx="71437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0" name="evidence-signal-0">
            <a:extLst xmlns:a="http://schemas.openxmlformats.org/drawingml/2006/main">
              <a:ext uri="{FF2B5EF4-FFF2-40B4-BE49-F238E27FC236}">
                <a16:creationId xmlns:a16="http://schemas.microsoft.com/office/drawing/2014/main" id="{4FDF19B5-CD67-4D1F-A183-EBC0C3754D90}"/>
              </a:ext>
            </a:extLst>
          </p:cNvPr>
          <p:cNvSpPr>
            <a:spLocks xmlns:a="http://schemas.openxmlformats.org/drawingml/2006/main" noGrp="1"/>
          </p:cNvSpPr>
          <p:nvPr/>
        </p:nvSpPr>
        <p:spPr>
          <a:xfrm xmlns:a="http://schemas.openxmlformats.org/drawingml/2006/main">
            <a:off x="685800" y="1895475"/>
            <a:ext cx="95250" cy="228600"/>
          </a:xfrm>
          <a:prstGeom xmlns:a="http://schemas.openxmlformats.org/drawingml/2006/main" prst="rect">
            <a:avLst/>
          </a:prstGeom>
          <a:solidFill xmlns:a="http://schemas.openxmlformats.org/drawingml/2006/main">
            <a:srgbClr val="29E7B1"/>
          </a:solidFill>
          <a:ln xmlns:a="http://schemas.openxmlformats.org/drawingml/2006/main" w="0">
            <a:noFill/>
            <a:prstDash val="solid"/>
          </a:ln>
        </p:spPr>
      </p:sp>
      <p:sp>
        <p:nvSpPr>
          <p:cNvPr id="11" name="evidence-source-0">
            <a:extLst xmlns:a="http://schemas.openxmlformats.org/drawingml/2006/main">
              <a:ext uri="{FF2B5EF4-FFF2-40B4-BE49-F238E27FC236}">
                <a16:creationId xmlns:a16="http://schemas.microsoft.com/office/drawing/2014/main" id="{FAD1B209-40D3-44E0-AA01-91F62916B0B1}"/>
              </a:ext>
            </a:extLst>
          </p:cNvPr>
          <p:cNvSpPr>
            <a:spLocks xmlns:a="http://schemas.openxmlformats.org/drawingml/2006/main" noGrp="1"/>
          </p:cNvSpPr>
          <p:nvPr/>
        </p:nvSpPr>
        <p:spPr>
          <a:xfrm xmlns:a="http://schemas.openxmlformats.org/drawingml/2006/main">
            <a:off x="990600" y="1847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29E7B1"/>
                </a:solidFill>
                <a:latin typeface="Aptos Mono"/>
                <a:ea typeface="Aptos Mono"/>
                <a:cs typeface="Aptos Mono"/>
              </a:defRPr>
            </a:pPr>
            <a:r>
              <a:rPr sz="1125" b="1">
                <a:solidFill>
                  <a:srgbClr val="29E7B1"/>
                </a:solidFill>
                <a:latin typeface="Aptos Mono"/>
                <a:ea typeface="Aptos Mono"/>
                <a:cs typeface="Aptos Mono"/>
              </a:rPr>
              <a:t>OFFICIAL CONFIRMATION</a:t>
            </a:r>
          </a:p>
        </p:txBody>
      </p:sp>
      <p:sp>
        <p:nvSpPr>
          <p:cNvPr id="12" name="evidence-time-0">
            <a:extLst xmlns:a="http://schemas.openxmlformats.org/drawingml/2006/main">
              <a:ext uri="{FF2B5EF4-FFF2-40B4-BE49-F238E27FC236}">
                <a16:creationId xmlns:a16="http://schemas.microsoft.com/office/drawing/2014/main" id="{42DE0802-2C3A-4C40-B766-D01FF5EA5C05}"/>
              </a:ext>
            </a:extLst>
          </p:cNvPr>
          <p:cNvSpPr>
            <a:spLocks xmlns:a="http://schemas.openxmlformats.org/drawingml/2006/main" noGrp="1"/>
          </p:cNvSpPr>
          <p:nvPr/>
        </p:nvSpPr>
        <p:spPr>
          <a:xfrm xmlns:a="http://schemas.openxmlformats.org/drawingml/2006/main">
            <a:off x="3905250" y="1847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3A4BA"/>
                </a:solidFill>
                <a:latin typeface="Aptos Mono"/>
                <a:ea typeface="Aptos Mono"/>
                <a:cs typeface="Aptos Mono"/>
              </a:defRPr>
            </a:pPr>
            <a:r>
              <a:rPr sz="1125" b="0">
                <a:solidFill>
                  <a:srgbClr val="83A4BA"/>
                </a:solidFill>
                <a:latin typeface="Aptos Mono"/>
                <a:ea typeface="Aptos Mono"/>
                <a:cs typeface="Aptos Mono"/>
              </a:rPr>
              <a:t>09:00</a:t>
            </a:r>
          </a:p>
        </p:txBody>
      </p:sp>
      <p:sp>
        <p:nvSpPr>
          <p:cNvPr id="13" name="evidence-value-0">
            <a:extLst xmlns:a="http://schemas.openxmlformats.org/drawingml/2006/main">
              <a:ext uri="{FF2B5EF4-FFF2-40B4-BE49-F238E27FC236}">
                <a16:creationId xmlns:a16="http://schemas.microsoft.com/office/drawing/2014/main" id="{00BC4EEC-F4DC-425E-BE7F-2BFAA0330A7D}"/>
              </a:ext>
            </a:extLst>
          </p:cNvPr>
          <p:cNvSpPr>
            <a:spLocks xmlns:a="http://schemas.openxmlformats.org/drawingml/2006/main" noGrp="1"/>
          </p:cNvSpPr>
          <p:nvPr/>
        </p:nvSpPr>
        <p:spPr>
          <a:xfrm xmlns:a="http://schemas.openxmlformats.org/drawingml/2006/main">
            <a:off x="4905375" y="1685925"/>
            <a:ext cx="290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625" b="1">
                <a:solidFill>
                  <a:srgbClr val="F6FBFF"/>
                </a:solidFill>
                <a:latin typeface="Aptos"/>
                <a:ea typeface="Aptos"/>
                <a:cs typeface="Aptos"/>
              </a:defRPr>
            </a:pPr>
            <a:r>
              <a:rPr sz="2625" b="1">
                <a:solidFill>
                  <a:srgbClr val="F6FBFF"/>
                </a:solidFill>
                <a:latin typeface="Aptos"/>
                <a:ea typeface="Aptos"/>
                <a:cs typeface="Aptos"/>
              </a:rPr>
              <a:t>35 confirmed</a:t>
            </a:r>
          </a:p>
        </p:txBody>
      </p:sp>
      <p:sp>
        <p:nvSpPr>
          <p:cNvPr id="14" name="evidence-rule-1">
            <a:extLst xmlns:a="http://schemas.openxmlformats.org/drawingml/2006/main">
              <a:ext uri="{FF2B5EF4-FFF2-40B4-BE49-F238E27FC236}">
                <a16:creationId xmlns:a16="http://schemas.microsoft.com/office/drawing/2014/main" id="{D0C44821-60E3-4720-96BA-0526CEF5F493}"/>
              </a:ext>
            </a:extLst>
          </p:cNvPr>
          <p:cNvSpPr>
            <a:spLocks xmlns:a="http://schemas.openxmlformats.org/drawingml/2006/main" noGrp="1"/>
          </p:cNvSpPr>
          <p:nvPr/>
        </p:nvSpPr>
        <p:spPr>
          <a:xfrm xmlns:a="http://schemas.openxmlformats.org/drawingml/2006/main">
            <a:off x="685800" y="3000375"/>
            <a:ext cx="71437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5" name="evidence-signal-1">
            <a:extLst xmlns:a="http://schemas.openxmlformats.org/drawingml/2006/main">
              <a:ext uri="{FF2B5EF4-FFF2-40B4-BE49-F238E27FC236}">
                <a16:creationId xmlns:a16="http://schemas.microsoft.com/office/drawing/2014/main" id="{7E76A9E3-72DD-4A26-8713-CE38678DA676}"/>
              </a:ext>
            </a:extLst>
          </p:cNvPr>
          <p:cNvSpPr>
            <a:spLocks xmlns:a="http://schemas.openxmlformats.org/drawingml/2006/main" noGrp="1"/>
          </p:cNvSpPr>
          <p:nvPr/>
        </p:nvSpPr>
        <p:spPr>
          <a:xfrm xmlns:a="http://schemas.openxmlformats.org/drawingml/2006/main">
            <a:off x="685800" y="2895600"/>
            <a:ext cx="95250" cy="228600"/>
          </a:xfrm>
          <a:prstGeom xmlns:a="http://schemas.openxmlformats.org/drawingml/2006/main" prst="rect">
            <a:avLst/>
          </a:prstGeom>
          <a:solidFill xmlns:a="http://schemas.openxmlformats.org/drawingml/2006/main">
            <a:srgbClr val="FFC24A"/>
          </a:solidFill>
          <a:ln xmlns:a="http://schemas.openxmlformats.org/drawingml/2006/main" w="0">
            <a:noFill/>
            <a:prstDash val="solid"/>
          </a:ln>
        </p:spPr>
      </p:sp>
      <p:sp>
        <p:nvSpPr>
          <p:cNvPr id="16" name="evidence-source-1">
            <a:extLst xmlns:a="http://schemas.openxmlformats.org/drawingml/2006/main">
              <a:ext uri="{FF2B5EF4-FFF2-40B4-BE49-F238E27FC236}">
                <a16:creationId xmlns:a16="http://schemas.microsoft.com/office/drawing/2014/main" id="{EA0DA822-A806-4D04-95EF-23CF84E3A96C}"/>
              </a:ext>
            </a:extLst>
          </p:cNvPr>
          <p:cNvSpPr>
            <a:spLocks xmlns:a="http://schemas.openxmlformats.org/drawingml/2006/main" noGrp="1"/>
          </p:cNvSpPr>
          <p:nvPr/>
        </p:nvSpPr>
        <p:spPr>
          <a:xfrm xmlns:a="http://schemas.openxmlformats.org/drawingml/2006/main">
            <a:off x="990600" y="2847975"/>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FFC24A"/>
                </a:solidFill>
                <a:latin typeface="Aptos Mono"/>
                <a:ea typeface="Aptos Mono"/>
                <a:cs typeface="Aptos Mono"/>
              </a:defRPr>
            </a:pPr>
            <a:r>
              <a:rPr sz="1125" b="1">
                <a:solidFill>
                  <a:srgbClr val="FFC24A"/>
                </a:solidFill>
                <a:latin typeface="Aptos Mono"/>
                <a:ea typeface="Aptos Mono"/>
                <a:cs typeface="Aptos Mono"/>
              </a:rPr>
              <a:t>EMAIL UPDATE</a:t>
            </a:r>
          </a:p>
        </p:txBody>
      </p:sp>
      <p:sp>
        <p:nvSpPr>
          <p:cNvPr id="17" name="evidence-time-1">
            <a:extLst xmlns:a="http://schemas.openxmlformats.org/drawingml/2006/main">
              <a:ext uri="{FF2B5EF4-FFF2-40B4-BE49-F238E27FC236}">
                <a16:creationId xmlns:a16="http://schemas.microsoft.com/office/drawing/2014/main" id="{87B83C11-AF68-4F84-AD4A-B3DC6F286B61}"/>
              </a:ext>
            </a:extLst>
          </p:cNvPr>
          <p:cNvSpPr>
            <a:spLocks xmlns:a="http://schemas.openxmlformats.org/drawingml/2006/main" noGrp="1"/>
          </p:cNvSpPr>
          <p:nvPr/>
        </p:nvSpPr>
        <p:spPr>
          <a:xfrm xmlns:a="http://schemas.openxmlformats.org/drawingml/2006/main">
            <a:off x="3905250" y="284797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3A4BA"/>
                </a:solidFill>
                <a:latin typeface="Aptos Mono"/>
                <a:ea typeface="Aptos Mono"/>
                <a:cs typeface="Aptos Mono"/>
              </a:defRPr>
            </a:pPr>
            <a:r>
              <a:rPr sz="1125" b="0">
                <a:solidFill>
                  <a:srgbClr val="83A4BA"/>
                </a:solidFill>
                <a:latin typeface="Aptos Mono"/>
                <a:ea typeface="Aptos Mono"/>
                <a:cs typeface="Aptos Mono"/>
              </a:rPr>
              <a:t>09:12</a:t>
            </a:r>
          </a:p>
        </p:txBody>
      </p:sp>
      <p:sp>
        <p:nvSpPr>
          <p:cNvPr id="18" name="evidence-value-1">
            <a:extLst xmlns:a="http://schemas.openxmlformats.org/drawingml/2006/main">
              <a:ext uri="{FF2B5EF4-FFF2-40B4-BE49-F238E27FC236}">
                <a16:creationId xmlns:a16="http://schemas.microsoft.com/office/drawing/2014/main" id="{F320B493-10BF-42CB-BA9F-05822EC67F41}"/>
              </a:ext>
            </a:extLst>
          </p:cNvPr>
          <p:cNvSpPr>
            <a:spLocks xmlns:a="http://schemas.openxmlformats.org/drawingml/2006/main" noGrp="1"/>
          </p:cNvSpPr>
          <p:nvPr/>
        </p:nvSpPr>
        <p:spPr>
          <a:xfrm xmlns:a="http://schemas.openxmlformats.org/drawingml/2006/main">
            <a:off x="4905375" y="2686050"/>
            <a:ext cx="290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625" b="1">
                <a:solidFill>
                  <a:srgbClr val="F6FBFF"/>
                </a:solidFill>
                <a:latin typeface="Aptos"/>
                <a:ea typeface="Aptos"/>
                <a:cs typeface="Aptos"/>
              </a:defRPr>
            </a:pPr>
            <a:r>
              <a:rPr sz="2625" b="1">
                <a:solidFill>
                  <a:srgbClr val="F6FBFF"/>
                </a:solidFill>
                <a:latin typeface="Aptos"/>
                <a:ea typeface="Aptos"/>
                <a:cs typeface="Aptos"/>
              </a:rPr>
              <a:t>+78 more</a:t>
            </a:r>
          </a:p>
        </p:txBody>
      </p:sp>
      <p:sp>
        <p:nvSpPr>
          <p:cNvPr id="19" name="evidence-rule-2">
            <a:extLst xmlns:a="http://schemas.openxmlformats.org/drawingml/2006/main">
              <a:ext uri="{FF2B5EF4-FFF2-40B4-BE49-F238E27FC236}">
                <a16:creationId xmlns:a16="http://schemas.microsoft.com/office/drawing/2014/main" id="{E2BF2D3D-8C3E-46D7-8C10-0439DFBDAEC4}"/>
              </a:ext>
            </a:extLst>
          </p:cNvPr>
          <p:cNvSpPr>
            <a:spLocks xmlns:a="http://schemas.openxmlformats.org/drawingml/2006/main" noGrp="1"/>
          </p:cNvSpPr>
          <p:nvPr/>
        </p:nvSpPr>
        <p:spPr>
          <a:xfrm xmlns:a="http://schemas.openxmlformats.org/drawingml/2006/main">
            <a:off x="685800" y="4000500"/>
            <a:ext cx="71437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0" name="evidence-signal-2">
            <a:extLst xmlns:a="http://schemas.openxmlformats.org/drawingml/2006/main">
              <a:ext uri="{FF2B5EF4-FFF2-40B4-BE49-F238E27FC236}">
                <a16:creationId xmlns:a16="http://schemas.microsoft.com/office/drawing/2014/main" id="{F4F4A4F6-26E3-4B5A-8ABD-96957756A746}"/>
              </a:ext>
            </a:extLst>
          </p:cNvPr>
          <p:cNvSpPr>
            <a:spLocks xmlns:a="http://schemas.openxmlformats.org/drawingml/2006/main" noGrp="1"/>
          </p:cNvSpPr>
          <p:nvPr/>
        </p:nvSpPr>
        <p:spPr>
          <a:xfrm xmlns:a="http://schemas.openxmlformats.org/drawingml/2006/main">
            <a:off x="685800" y="3895725"/>
            <a:ext cx="95250" cy="228600"/>
          </a:xfrm>
          <a:prstGeom xmlns:a="http://schemas.openxmlformats.org/drawingml/2006/main" prst="rect">
            <a:avLst/>
          </a:prstGeom>
          <a:solidFill xmlns:a="http://schemas.openxmlformats.org/drawingml/2006/main">
            <a:srgbClr val="FF5B78"/>
          </a:solidFill>
          <a:ln xmlns:a="http://schemas.openxmlformats.org/drawingml/2006/main" w="0">
            <a:noFill/>
            <a:prstDash val="solid"/>
          </a:ln>
        </p:spPr>
      </p:sp>
      <p:sp>
        <p:nvSpPr>
          <p:cNvPr id="21" name="evidence-source-2">
            <a:extLst xmlns:a="http://schemas.openxmlformats.org/drawingml/2006/main">
              <a:ext uri="{FF2B5EF4-FFF2-40B4-BE49-F238E27FC236}">
                <a16:creationId xmlns:a16="http://schemas.microsoft.com/office/drawing/2014/main" id="{962C8B05-5EE3-4F8A-83E0-E05C2EB69452}"/>
              </a:ext>
            </a:extLst>
          </p:cNvPr>
          <p:cNvSpPr>
            <a:spLocks xmlns:a="http://schemas.openxmlformats.org/drawingml/2006/main" noGrp="1"/>
          </p:cNvSpPr>
          <p:nvPr/>
        </p:nvSpPr>
        <p:spPr>
          <a:xfrm xmlns:a="http://schemas.openxmlformats.org/drawingml/2006/main">
            <a:off x="990600" y="384810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FF5B78"/>
                </a:solidFill>
                <a:latin typeface="Aptos Mono"/>
                <a:ea typeface="Aptos Mono"/>
                <a:cs typeface="Aptos Mono"/>
              </a:defRPr>
            </a:pPr>
            <a:r>
              <a:rPr sz="1125" b="1">
                <a:solidFill>
                  <a:srgbClr val="FF5B78"/>
                </a:solidFill>
                <a:latin typeface="Aptos Mono"/>
                <a:ea typeface="Aptos Mono"/>
                <a:cs typeface="Aptos Mono"/>
              </a:rPr>
              <a:t>COPIED LISTING</a:t>
            </a:r>
          </a:p>
        </p:txBody>
      </p:sp>
      <p:sp>
        <p:nvSpPr>
          <p:cNvPr id="22" name="evidence-time-2">
            <a:extLst xmlns:a="http://schemas.openxmlformats.org/drawingml/2006/main">
              <a:ext uri="{FF2B5EF4-FFF2-40B4-BE49-F238E27FC236}">
                <a16:creationId xmlns:a16="http://schemas.microsoft.com/office/drawing/2014/main" id="{0E319D96-F071-4F25-B38F-834412300C7F}"/>
              </a:ext>
            </a:extLst>
          </p:cNvPr>
          <p:cNvSpPr>
            <a:spLocks xmlns:a="http://schemas.openxmlformats.org/drawingml/2006/main" noGrp="1"/>
          </p:cNvSpPr>
          <p:nvPr/>
        </p:nvSpPr>
        <p:spPr>
          <a:xfrm xmlns:a="http://schemas.openxmlformats.org/drawingml/2006/main">
            <a:off x="3905250" y="3848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3A4BA"/>
                </a:solidFill>
                <a:latin typeface="Aptos Mono"/>
                <a:ea typeface="Aptos Mono"/>
                <a:cs typeface="Aptos Mono"/>
              </a:defRPr>
            </a:pPr>
            <a:r>
              <a:rPr sz="1125" b="0">
                <a:solidFill>
                  <a:srgbClr val="83A4BA"/>
                </a:solidFill>
                <a:latin typeface="Aptos Mono"/>
                <a:ea typeface="Aptos Mono"/>
                <a:cs typeface="Aptos Mono"/>
              </a:rPr>
              <a:t>09:14</a:t>
            </a:r>
          </a:p>
        </p:txBody>
      </p:sp>
      <p:sp>
        <p:nvSpPr>
          <p:cNvPr id="23" name="evidence-value-2">
            <a:extLst xmlns:a="http://schemas.openxmlformats.org/drawingml/2006/main">
              <a:ext uri="{FF2B5EF4-FFF2-40B4-BE49-F238E27FC236}">
                <a16:creationId xmlns:a16="http://schemas.microsoft.com/office/drawing/2014/main" id="{C0282802-E774-45A2-9A57-08223A434AAA}"/>
              </a:ext>
            </a:extLst>
          </p:cNvPr>
          <p:cNvSpPr>
            <a:spLocks xmlns:a="http://schemas.openxmlformats.org/drawingml/2006/main" noGrp="1"/>
          </p:cNvSpPr>
          <p:nvPr/>
        </p:nvSpPr>
        <p:spPr>
          <a:xfrm xmlns:a="http://schemas.openxmlformats.org/drawingml/2006/main">
            <a:off x="4905375" y="3686175"/>
            <a:ext cx="290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625" b="1">
                <a:solidFill>
                  <a:srgbClr val="F6FBFF"/>
                </a:solidFill>
                <a:latin typeface="Aptos"/>
                <a:ea typeface="Aptos"/>
                <a:cs typeface="Aptos"/>
              </a:defRPr>
            </a:pPr>
            <a:r>
              <a:rPr sz="2625" b="1">
                <a:solidFill>
                  <a:srgbClr val="F6FBFF"/>
                </a:solidFill>
                <a:latin typeface="Aptos"/>
                <a:ea typeface="Aptos"/>
                <a:cs typeface="Aptos"/>
              </a:rPr>
              <a:t>78 attending</a:t>
            </a:r>
          </a:p>
        </p:txBody>
      </p:sp>
      <p:sp>
        <p:nvSpPr>
          <p:cNvPr id="24" name="problem-divider">
            <a:extLst xmlns:a="http://schemas.openxmlformats.org/drawingml/2006/main">
              <a:ext uri="{FF2B5EF4-FFF2-40B4-BE49-F238E27FC236}">
                <a16:creationId xmlns:a16="http://schemas.microsoft.com/office/drawing/2014/main" id="{077D7D2F-0886-40ED-9E5B-416C76139BDF}"/>
              </a:ext>
            </a:extLst>
          </p:cNvPr>
          <p:cNvSpPr>
            <a:spLocks xmlns:a="http://schemas.openxmlformats.org/drawingml/2006/main" noGrp="1"/>
          </p:cNvSpPr>
          <p:nvPr/>
        </p:nvSpPr>
        <p:spPr>
          <a:xfrm xmlns:a="http://schemas.openxmlformats.org/drawingml/2006/main">
            <a:off x="8172450" y="1943100"/>
            <a:ext cx="19050" cy="27241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5" name="problem-question-mark">
            <a:extLst xmlns:a="http://schemas.openxmlformats.org/drawingml/2006/main">
              <a:ext uri="{FF2B5EF4-FFF2-40B4-BE49-F238E27FC236}">
                <a16:creationId xmlns:a16="http://schemas.microsoft.com/office/drawing/2014/main" id="{CF0EC76B-CA0E-4341-98D9-9763861608F2}"/>
              </a:ext>
            </a:extLst>
          </p:cNvPr>
          <p:cNvSpPr>
            <a:spLocks xmlns:a="http://schemas.openxmlformats.org/drawingml/2006/main" noGrp="1"/>
          </p:cNvSpPr>
          <p:nvPr/>
        </p:nvSpPr>
        <p:spPr>
          <a:xfrm xmlns:a="http://schemas.openxmlformats.org/drawingml/2006/main">
            <a:off x="8763000" y="1885950"/>
            <a:ext cx="171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8850" b="1">
                <a:solidFill>
                  <a:srgbClr val="3DDCFF"/>
                </a:solidFill>
                <a:latin typeface="Aptos Display"/>
                <a:ea typeface="Aptos Display"/>
                <a:cs typeface="Aptos Display"/>
              </a:defRPr>
            </a:pPr>
            <a:r>
              <a:rPr sz="8850" b="1">
                <a:solidFill>
                  <a:srgbClr val="3DDCFF"/>
                </a:solidFill>
                <a:latin typeface="Aptos Display"/>
                <a:ea typeface="Aptos Display"/>
                <a:cs typeface="Aptos Display"/>
              </a:rPr>
              <a:t>?</a:t>
            </a:r>
          </a:p>
        </p:txBody>
      </p:sp>
      <p:sp>
        <p:nvSpPr>
          <p:cNvPr id="26" name="problem-question">
            <a:extLst xmlns:a="http://schemas.openxmlformats.org/drawingml/2006/main">
              <a:ext uri="{FF2B5EF4-FFF2-40B4-BE49-F238E27FC236}">
                <a16:creationId xmlns:a16="http://schemas.microsoft.com/office/drawing/2014/main" id="{D2B03AC9-AB88-4C5D-A220-E039F6AFE1E7}"/>
              </a:ext>
            </a:extLst>
          </p:cNvPr>
          <p:cNvSpPr>
            <a:spLocks xmlns:a="http://schemas.openxmlformats.org/drawingml/2006/main" noGrp="1"/>
          </p:cNvSpPr>
          <p:nvPr/>
        </p:nvSpPr>
        <p:spPr>
          <a:xfrm xmlns:a="http://schemas.openxmlformats.org/drawingml/2006/main">
            <a:off x="8429625" y="3390900"/>
            <a:ext cx="2905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2325" b="1">
                <a:solidFill>
                  <a:srgbClr val="F6FBFF"/>
                </a:solidFill>
                <a:latin typeface="Aptos"/>
                <a:ea typeface="Aptos"/>
                <a:cs typeface="Aptos"/>
              </a:defRPr>
            </a:pPr>
            <a:r>
              <a:rPr sz="2325" b="1">
                <a:solidFill>
                  <a:srgbClr val="F6FBFF"/>
                </a:solidFill>
                <a:latin typeface="Aptos"/>
                <a:ea typeface="Aptos"/>
                <a:cs typeface="Aptos"/>
              </a:rPr>
              <a:t>Which fact should the agent use?</a:t>
            </a:r>
          </a:p>
        </p:txBody>
      </p:sp>
      <p:sp>
        <p:nvSpPr>
          <p:cNvPr id="27" name="problem-answer">
            <a:extLst xmlns:a="http://schemas.openxmlformats.org/drawingml/2006/main">
              <a:ext uri="{FF2B5EF4-FFF2-40B4-BE49-F238E27FC236}">
                <a16:creationId xmlns:a16="http://schemas.microsoft.com/office/drawing/2014/main" id="{7B7D05AE-2210-4281-8AF1-86A43DE2FC1F}"/>
              </a:ext>
            </a:extLst>
          </p:cNvPr>
          <p:cNvSpPr>
            <a:spLocks xmlns:a="http://schemas.openxmlformats.org/drawingml/2006/main" noGrp="1"/>
          </p:cNvSpPr>
          <p:nvPr/>
        </p:nvSpPr>
        <p:spPr>
          <a:xfrm xmlns:a="http://schemas.openxmlformats.org/drawingml/2006/main">
            <a:off x="8543925" y="4362450"/>
            <a:ext cx="2686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0">
                <a:solidFill>
                  <a:srgbClr val="83A4BA"/>
                </a:solidFill>
                <a:latin typeface="Aptos"/>
                <a:ea typeface="Aptos"/>
                <a:cs typeface="Aptos"/>
              </a:defRPr>
            </a:pPr>
            <a:r>
              <a:rPr sz="1575" b="0">
                <a:solidFill>
                  <a:srgbClr val="83A4BA"/>
                </a:solidFill>
                <a:latin typeface="Aptos"/>
                <a:ea typeface="Aptos"/>
                <a:cs typeface="Aptos"/>
              </a:rPr>
              <a:t>A timestamp alone cannot answer that.</a:t>
            </a:r>
          </a:p>
        </p:txBody>
      </p:sp>
      <p:sp>
        <p:nvSpPr>
          <p:cNvPr id="28" name="stakes-bar">
            <a:extLst xmlns:a="http://schemas.openxmlformats.org/drawingml/2006/main">
              <a:ext uri="{FF2B5EF4-FFF2-40B4-BE49-F238E27FC236}">
                <a16:creationId xmlns:a16="http://schemas.microsoft.com/office/drawing/2014/main" id="{EEFE79DE-0794-4757-A3C4-813B90D246D7}"/>
              </a:ext>
            </a:extLst>
          </p:cNvPr>
          <p:cNvSpPr>
            <a:spLocks xmlns:a="http://schemas.openxmlformats.org/drawingml/2006/main" noGrp="1"/>
          </p:cNvSpPr>
          <p:nvPr/>
        </p:nvSpPr>
        <p:spPr>
          <a:xfrm xmlns:a="http://schemas.openxmlformats.org/drawingml/2006/main">
            <a:off x="685800" y="5372100"/>
            <a:ext cx="10648950" cy="704850"/>
          </a:xfrm>
          <a:prstGeom xmlns:a="http://schemas.openxmlformats.org/drawingml/2006/main" prst="roundRect">
            <a:avLst>
              <a:gd name="adj" fmla="val 16216"/>
            </a:avLst>
          </a:prstGeom>
          <a:solidFill xmlns:a="http://schemas.openxmlformats.org/drawingml/2006/main">
            <a:srgbClr val="0B1C2C"/>
          </a:solidFill>
          <a:ln xmlns:a="http://schemas.openxmlformats.org/drawingml/2006/main" w="9525">
            <a:solidFill>
              <a:srgbClr val="17435B"/>
            </a:solidFill>
            <a:prstDash val="solid"/>
          </a:ln>
        </p:spPr>
      </p:sp>
      <p:sp>
        <p:nvSpPr>
          <p:cNvPr id="29" name="stakes-copy">
            <a:extLst xmlns:a="http://schemas.openxmlformats.org/drawingml/2006/main">
              <a:ext uri="{FF2B5EF4-FFF2-40B4-BE49-F238E27FC236}">
                <a16:creationId xmlns:a16="http://schemas.microsoft.com/office/drawing/2014/main" id="{4166F868-F186-4127-929D-1428FED1161F}"/>
              </a:ext>
            </a:extLst>
          </p:cNvPr>
          <p:cNvSpPr>
            <a:spLocks xmlns:a="http://schemas.openxmlformats.org/drawingml/2006/main" noGrp="1"/>
          </p:cNvSpPr>
          <p:nvPr/>
        </p:nvSpPr>
        <p:spPr>
          <a:xfrm xmlns:a="http://schemas.openxmlformats.org/drawingml/2006/main">
            <a:off x="971550" y="556260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FF5B78"/>
                </a:solidFill>
                <a:latin typeface="Aptos Mono"/>
                <a:ea typeface="Aptos Mono"/>
                <a:cs typeface="Aptos Mono"/>
              </a:defRPr>
            </a:pPr>
            <a:r>
              <a:rPr sz="2025" b="1">
                <a:solidFill>
                  <a:srgbClr val="FF5B78"/>
                </a:solidFill>
                <a:latin typeface="Aptos Mono"/>
                <a:ea typeface="Aptos Mono"/>
                <a:cs typeface="Aptos Mono"/>
              </a:rPr>
              <a:t>Wrong context  →  wrong action  →  no defensible audit trail</a:t>
            </a:r>
          </a:p>
        </p:txBody>
      </p:sp>
      <p:sp>
        <p:nvSpPr>
          <p:cNvPr id="30" name="footer-line-2">
            <a:extLst xmlns:a="http://schemas.openxmlformats.org/drawingml/2006/main">
              <a:ext uri="{FF2B5EF4-FFF2-40B4-BE49-F238E27FC236}">
                <a16:creationId xmlns:a16="http://schemas.microsoft.com/office/drawing/2014/main" id="{144E3EC5-8095-4D39-88CA-97E8905BECCB}"/>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31" name="footer-brand-2">
            <a:extLst xmlns:a="http://schemas.openxmlformats.org/drawingml/2006/main">
              <a:ext uri="{FF2B5EF4-FFF2-40B4-BE49-F238E27FC236}">
                <a16:creationId xmlns:a16="http://schemas.microsoft.com/office/drawing/2014/main" id="{41E5EA24-BFDA-498F-9581-5FDBBACC080A}"/>
              </a:ext>
            </a:extLst>
          </p:cNvPr>
          <p:cNvSpPr>
            <a:spLocks xmlns:a="http://schemas.openxmlformats.org/drawingml/2006/main" noGrp="1"/>
          </p:cNvSpPr>
          <p:nvPr/>
        </p:nvSpPr>
        <p:spPr>
          <a:xfrm xmlns:a="http://schemas.openxmlformats.org/drawingml/2006/main">
            <a:off x="6096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46657A"/>
                </a:solidFill>
                <a:latin typeface="Aptos Mono"/>
                <a:ea typeface="Aptos Mono"/>
                <a:cs typeface="Aptos Mono"/>
              </a:defRPr>
            </a:pPr>
            <a:r>
              <a:rPr sz="975" b="1">
                <a:solidFill>
                  <a:srgbClr val="46657A"/>
                </a:solidFill>
                <a:latin typeface="Aptos Mono"/>
                <a:ea typeface="Aptos Mono"/>
                <a:cs typeface="Aptos Mono"/>
              </a:rPr>
              <a:t>CONTEXTGATE  /  KIRA LABS</a:t>
            </a:r>
          </a:p>
        </p:txBody>
      </p:sp>
      <p:sp>
        <p:nvSpPr>
          <p:cNvPr id="32" name="footer-number-2">
            <a:extLst xmlns:a="http://schemas.openxmlformats.org/drawingml/2006/main">
              <a:ext uri="{FF2B5EF4-FFF2-40B4-BE49-F238E27FC236}">
                <a16:creationId xmlns:a16="http://schemas.microsoft.com/office/drawing/2014/main" id="{4E60B2C9-CD7B-442D-A344-DED4D4E8A252}"/>
              </a:ext>
            </a:extLst>
          </p:cNvPr>
          <p:cNvSpPr>
            <a:spLocks xmlns:a="http://schemas.openxmlformats.org/drawingml/2006/main" noGrp="1"/>
          </p:cNvSpPr>
          <p:nvPr/>
        </p:nvSpPr>
        <p:spPr>
          <a:xfrm xmlns:a="http://schemas.openxmlformats.org/drawingml/2006/main">
            <a:off x="11144250" y="65722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02</a:t>
            </a:r>
          </a:p>
        </p:txBody>
      </p:sp>
    </p:spTree>
    <p:extLst>
      <p:ext uri="{BB962C8B-B14F-4D97-AF65-F5344CB8AC3E}">
        <p14:creationId xmlns:p14="http://schemas.microsoft.com/office/powerpoint/2010/main" val="453181671"/>
      </p:ext>
    </p:extLst>
  </p:cSld>
</p:sld>
</file>

<file path=ppt/slides/slide3.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24" name="top-signal-3">
            <a:extLst xmlns:a="http://schemas.openxmlformats.org/drawingml/2006/main">
              <a:ext uri="{FF2B5EF4-FFF2-40B4-BE49-F238E27FC236}">
                <a16:creationId xmlns:a16="http://schemas.microsoft.com/office/drawing/2014/main" id="{BEBC48B1-635F-444C-99D4-77EE23319C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3">
            <a:extLst xmlns:a="http://schemas.openxmlformats.org/drawingml/2006/main">
              <a:ext uri="{FF2B5EF4-FFF2-40B4-BE49-F238E27FC236}">
                <a16:creationId xmlns:a16="http://schemas.microsoft.com/office/drawing/2014/main" id="{0C7644E4-18E9-47CD-B06F-FA5675A98E2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3" name="signal-line-a-3">
            <a:extLst xmlns:a="http://schemas.openxmlformats.org/drawingml/2006/main">
              <a:ext uri="{FF2B5EF4-FFF2-40B4-BE49-F238E27FC236}">
                <a16:creationId xmlns:a16="http://schemas.microsoft.com/office/drawing/2014/main" id="{469FDF09-C5AB-487E-8BEA-DF6D09A19FFD}"/>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3">
            <a:extLst xmlns:a="http://schemas.openxmlformats.org/drawingml/2006/main">
              <a:ext uri="{FF2B5EF4-FFF2-40B4-BE49-F238E27FC236}">
                <a16:creationId xmlns:a16="http://schemas.microsoft.com/office/drawing/2014/main" id="{221D54EA-21BD-4557-8DAC-046DFFD8BE48}"/>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3">
            <a:extLst xmlns:a="http://schemas.openxmlformats.org/drawingml/2006/main">
              <a:ext uri="{FF2B5EF4-FFF2-40B4-BE49-F238E27FC236}">
                <a16:creationId xmlns:a16="http://schemas.microsoft.com/office/drawing/2014/main" id="{34C77DBF-FA0B-4AF5-83DA-ADD0DC837E49}"/>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kicker-3">
            <a:extLst xmlns:a="http://schemas.openxmlformats.org/drawingml/2006/main">
              <a:ext uri="{FF2B5EF4-FFF2-40B4-BE49-F238E27FC236}">
                <a16:creationId xmlns:a16="http://schemas.microsoft.com/office/drawing/2014/main" id="{3EA78751-1721-4B56-A60A-08D5DF37A406}"/>
              </a:ext>
            </a:extLst>
          </p:cNvPr>
          <p:cNvSpPr>
            <a:spLocks xmlns:a="http://schemas.openxmlformats.org/drawingml/2006/main" noGrp="1"/>
          </p:cNvSpPr>
          <p:nvPr/>
        </p:nvSpPr>
        <p:spPr>
          <a:xfrm xmlns:a="http://schemas.openxmlformats.org/drawingml/2006/main">
            <a:off x="609600" y="3810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THE PRODUCT</a:t>
            </a:r>
          </a:p>
        </p:txBody>
      </p:sp>
      <p:sp>
        <p:nvSpPr>
          <p:cNvPr id="7" name="title-3">
            <a:extLst xmlns:a="http://schemas.openxmlformats.org/drawingml/2006/main">
              <a:ext uri="{FF2B5EF4-FFF2-40B4-BE49-F238E27FC236}">
                <a16:creationId xmlns:a16="http://schemas.microsoft.com/office/drawing/2014/main" id="{2FB30AF1-89E1-4739-ADC4-82D4CA517A42}"/>
              </a:ext>
            </a:extLst>
          </p:cNvPr>
          <p:cNvSpPr>
            <a:spLocks xmlns:a="http://schemas.openxmlformats.org/drawingml/2006/main" noGrp="1"/>
          </p:cNvSpPr>
          <p:nvPr/>
        </p:nvSpPr>
        <p:spPr>
          <a:xfrm xmlns:a="http://schemas.openxmlformats.org/drawingml/2006/main">
            <a:off x="609600" y="6572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3750" b="1">
                <a:solidFill>
                  <a:srgbClr val="F6FBFF"/>
                </a:solidFill>
                <a:latin typeface="Aptos Display"/>
                <a:ea typeface="Aptos Display"/>
                <a:cs typeface="Aptos Display"/>
              </a:defRPr>
            </a:pPr>
            <a:r>
              <a:rPr sz="3750" b="1">
                <a:solidFill>
                  <a:srgbClr val="F6FBFF"/>
                </a:solidFill>
                <a:latin typeface="Aptos Display"/>
                <a:ea typeface="Aptos Display"/>
                <a:cs typeface="Aptos Display"/>
              </a:rPr>
              <a:t>One screen shows what can act—and why</a:t>
            </a:r>
          </a:p>
        </p:txBody>
      </p:sp>
      <p:sp>
        <p:nvSpPr>
          <p:cNvPr id="8" name="subtitle-3">
            <a:extLst xmlns:a="http://schemas.openxmlformats.org/drawingml/2006/main">
              <a:ext uri="{FF2B5EF4-FFF2-40B4-BE49-F238E27FC236}">
                <a16:creationId xmlns:a16="http://schemas.microsoft.com/office/drawing/2014/main" id="{DDB5921D-A172-4808-869E-37461E9E602D}"/>
              </a:ext>
            </a:extLst>
          </p:cNvPr>
          <p:cNvSpPr>
            <a:spLocks xmlns:a="http://schemas.openxmlformats.org/drawingml/2006/main" noGrp="1"/>
          </p:cNvSpPr>
          <p:nvPr/>
        </p:nvSpPr>
        <p:spPr>
          <a:xfrm xmlns:a="http://schemas.openxmlformats.org/drawingml/2006/main">
            <a:off x="628650" y="12382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83A4BA"/>
                </a:solidFill>
                <a:latin typeface="Aptos"/>
                <a:ea typeface="Aptos"/>
                <a:cs typeface="Aptos"/>
              </a:defRPr>
            </a:pPr>
            <a:r>
              <a:rPr sz="1725" b="0">
                <a:solidFill>
                  <a:srgbClr val="83A4BA"/>
                </a:solidFill>
                <a:latin typeface="Aptos"/>
                <a:ea typeface="Aptos"/>
                <a:cs typeface="Aptos"/>
              </a:rPr>
              <a:t>Green previews safely. Amber asks a person. Red stops the action.</a:t>
            </a:r>
          </a:p>
        </p:txBody>
      </p:sp>
      <p:sp>
        <p:nvSpPr>
          <p:cNvPr id="9" name="product-frame">
            <a:extLst xmlns:a="http://schemas.openxmlformats.org/drawingml/2006/main">
              <a:ext uri="{FF2B5EF4-FFF2-40B4-BE49-F238E27FC236}">
                <a16:creationId xmlns:a16="http://schemas.microsoft.com/office/drawing/2014/main" id="{44EF0A07-FF3F-4943-AE71-B42FCCB91948}"/>
              </a:ext>
            </a:extLst>
          </p:cNvPr>
          <p:cNvSpPr>
            <a:spLocks xmlns:a="http://schemas.openxmlformats.org/drawingml/2006/main" noGrp="1"/>
          </p:cNvSpPr>
          <p:nvPr/>
        </p:nvSpPr>
        <p:spPr>
          <a:xfrm xmlns:a="http://schemas.openxmlformats.org/drawingml/2006/main">
            <a:off x="552450" y="1790700"/>
            <a:ext cx="8915400" cy="4476750"/>
          </a:xfrm>
          <a:prstGeom xmlns:a="http://schemas.openxmlformats.org/drawingml/2006/main" prst="roundRect">
            <a:avLst>
              <a:gd name="adj" fmla="val 2553"/>
            </a:avLst>
          </a:prstGeom>
          <a:solidFill xmlns:a="http://schemas.openxmlformats.org/drawingml/2006/main">
            <a:srgbClr val="071421"/>
          </a:solidFill>
          <a:ln xmlns:a="http://schemas.openxmlformats.org/drawingml/2006/main" w="19050">
            <a:solidFill>
              <a:srgbClr val="099DCC"/>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7dea15f6a7df4757"/>
          <a:stretch xmlns:a="http://schemas.openxmlformats.org/drawingml/2006/main"/>
        </p:blipFill>
        <p:spPr>
          <a:xfrm xmlns:a="http://schemas.openxmlformats.org/drawingml/2006/main">
            <a:off x="1520190" y="1847850"/>
            <a:ext cx="6979920" cy="4362450"/>
          </a:xfrm>
          <a:prstGeom xmlns:a="http://schemas.openxmlformats.org/drawingml/2006/main" prst="roundRect">
            <a:avLst>
              <a:gd name="adj" fmla="val 1747"/>
            </a:avLst>
          </a:prstGeom>
        </p:spPr>
      </p:pic>
      <p:sp>
        <p:nvSpPr>
          <p:cNvPr id="11" name="product-rail-head">
            <a:extLst xmlns:a="http://schemas.openxmlformats.org/drawingml/2006/main">
              <a:ext uri="{FF2B5EF4-FFF2-40B4-BE49-F238E27FC236}">
                <a16:creationId xmlns:a16="http://schemas.microsoft.com/office/drawing/2014/main" id="{4C90ECCB-7B1A-4EA0-9C9F-270A5A52DBCB}"/>
              </a:ext>
            </a:extLst>
          </p:cNvPr>
          <p:cNvSpPr>
            <a:spLocks xmlns:a="http://schemas.openxmlformats.org/drawingml/2006/main" noGrp="1"/>
          </p:cNvSpPr>
          <p:nvPr/>
        </p:nvSpPr>
        <p:spPr>
          <a:xfrm xmlns:a="http://schemas.openxmlformats.org/drawingml/2006/main">
            <a:off x="9791700" y="19240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1">
                <a:solidFill>
                  <a:srgbClr val="3DDCFF"/>
                </a:solidFill>
                <a:latin typeface="Aptos Mono"/>
                <a:ea typeface="Aptos Mono"/>
                <a:cs typeface="Aptos Mono"/>
              </a:defRPr>
            </a:pPr>
            <a:r>
              <a:rPr sz="1200" b="1">
                <a:solidFill>
                  <a:srgbClr val="3DDCFF"/>
                </a:solidFill>
                <a:latin typeface="Aptos Mono"/>
                <a:ea typeface="Aptos Mono"/>
                <a:cs typeface="Aptos Mono"/>
              </a:rPr>
              <a:t>SEE IT. ASK IT. CORRECT IT.</a:t>
            </a:r>
          </a:p>
        </p:txBody>
      </p:sp>
      <p:sp>
        <p:nvSpPr>
          <p:cNvPr id="12" name="product-label-1-bar">
            <a:extLst xmlns:a="http://schemas.openxmlformats.org/drawingml/2006/main">
              <a:ext uri="{FF2B5EF4-FFF2-40B4-BE49-F238E27FC236}">
                <a16:creationId xmlns:a16="http://schemas.microsoft.com/office/drawing/2014/main" id="{57B197A8-70A3-4315-9B65-E134DBFFC08A}"/>
              </a:ext>
            </a:extLst>
          </p:cNvPr>
          <p:cNvSpPr>
            <a:spLocks xmlns:a="http://schemas.openxmlformats.org/drawingml/2006/main" noGrp="1"/>
          </p:cNvSpPr>
          <p:nvPr/>
        </p:nvSpPr>
        <p:spPr>
          <a:xfrm xmlns:a="http://schemas.openxmlformats.org/drawingml/2006/main">
            <a:off x="9829800" y="2705100"/>
            <a:ext cx="38100" cy="200025"/>
          </a:xfrm>
          <a:prstGeom xmlns:a="http://schemas.openxmlformats.org/drawingml/2006/main" prst="rect">
            <a:avLst/>
          </a:prstGeom>
          <a:solidFill xmlns:a="http://schemas.openxmlformats.org/drawingml/2006/main">
            <a:srgbClr val="29E7B1"/>
          </a:solidFill>
          <a:ln xmlns:a="http://schemas.openxmlformats.org/drawingml/2006/main" w="0">
            <a:noFill/>
            <a:prstDash val="solid"/>
          </a:ln>
        </p:spPr>
      </p:sp>
      <p:sp>
        <p:nvSpPr>
          <p:cNvPr id="13" name="product-label-1">
            <a:extLst xmlns:a="http://schemas.openxmlformats.org/drawingml/2006/main">
              <a:ext uri="{FF2B5EF4-FFF2-40B4-BE49-F238E27FC236}">
                <a16:creationId xmlns:a16="http://schemas.microsoft.com/office/drawing/2014/main" id="{719A883F-E367-4227-8A21-C4FBC6CBACD0}"/>
              </a:ext>
            </a:extLst>
          </p:cNvPr>
          <p:cNvSpPr>
            <a:spLocks xmlns:a="http://schemas.openxmlformats.org/drawingml/2006/main" noGrp="1"/>
          </p:cNvSpPr>
          <p:nvPr/>
        </p:nvSpPr>
        <p:spPr>
          <a:xfrm xmlns:a="http://schemas.openxmlformats.org/drawingml/2006/main">
            <a:off x="9972675" y="2667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Outcome picture</a:t>
            </a:r>
          </a:p>
        </p:txBody>
      </p:sp>
      <p:sp>
        <p:nvSpPr>
          <p:cNvPr id="14" name="product-detail-1">
            <a:extLst xmlns:a="http://schemas.openxmlformats.org/drawingml/2006/main">
              <a:ext uri="{FF2B5EF4-FFF2-40B4-BE49-F238E27FC236}">
                <a16:creationId xmlns:a16="http://schemas.microsoft.com/office/drawing/2014/main" id="{C695AFF4-14F6-4242-99E0-8EFD4B2B04EA}"/>
              </a:ext>
            </a:extLst>
          </p:cNvPr>
          <p:cNvSpPr>
            <a:spLocks xmlns:a="http://schemas.openxmlformats.org/drawingml/2006/main" noGrp="1"/>
          </p:cNvSpPr>
          <p:nvPr/>
        </p:nvSpPr>
        <p:spPr>
          <a:xfrm xmlns:a="http://schemas.openxmlformats.org/drawingml/2006/main">
            <a:off x="9972675" y="3009900"/>
            <a:ext cx="161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83A4BA"/>
                </a:solidFill>
                <a:latin typeface="Aptos"/>
                <a:ea typeface="Aptos"/>
                <a:cs typeface="Aptos"/>
              </a:defRPr>
            </a:pPr>
            <a:r>
              <a:rPr sz="1425" b="0">
                <a:solidFill>
                  <a:srgbClr val="83A4BA"/>
                </a:solidFill>
                <a:latin typeface="Aptos"/>
                <a:ea typeface="Aptos"/>
                <a:cs typeface="Aptos"/>
              </a:rPr>
              <a:t>ALLOW / REVIEW / BLOCK at a glance</a:t>
            </a:r>
          </a:p>
        </p:txBody>
      </p:sp>
      <p:sp>
        <p:nvSpPr>
          <p:cNvPr id="15" name="product-label-2-bar">
            <a:extLst xmlns:a="http://schemas.openxmlformats.org/drawingml/2006/main">
              <a:ext uri="{FF2B5EF4-FFF2-40B4-BE49-F238E27FC236}">
                <a16:creationId xmlns:a16="http://schemas.microsoft.com/office/drawing/2014/main" id="{8390D89B-C570-432A-8244-1A5652A663A6}"/>
              </a:ext>
            </a:extLst>
          </p:cNvPr>
          <p:cNvSpPr>
            <a:spLocks xmlns:a="http://schemas.openxmlformats.org/drawingml/2006/main" noGrp="1"/>
          </p:cNvSpPr>
          <p:nvPr/>
        </p:nvSpPr>
        <p:spPr>
          <a:xfrm xmlns:a="http://schemas.openxmlformats.org/drawingml/2006/main">
            <a:off x="9829800" y="3895725"/>
            <a:ext cx="38100" cy="200025"/>
          </a:xfrm>
          <a:prstGeom xmlns:a="http://schemas.openxmlformats.org/drawingml/2006/main" prst="rect">
            <a:avLst/>
          </a:prstGeom>
          <a:solidFill xmlns:a="http://schemas.openxmlformats.org/drawingml/2006/main">
            <a:srgbClr val="FFC24A"/>
          </a:solidFill>
          <a:ln xmlns:a="http://schemas.openxmlformats.org/drawingml/2006/main" w="0">
            <a:noFill/>
            <a:prstDash val="solid"/>
          </a:ln>
        </p:spPr>
      </p:sp>
      <p:sp>
        <p:nvSpPr>
          <p:cNvPr id="16" name="product-label-2">
            <a:extLst xmlns:a="http://schemas.openxmlformats.org/drawingml/2006/main">
              <a:ext uri="{FF2B5EF4-FFF2-40B4-BE49-F238E27FC236}">
                <a16:creationId xmlns:a16="http://schemas.microsoft.com/office/drawing/2014/main" id="{306832F8-EFF9-4A7F-8BEB-61B1E494AFDC}"/>
              </a:ext>
            </a:extLst>
          </p:cNvPr>
          <p:cNvSpPr>
            <a:spLocks xmlns:a="http://schemas.openxmlformats.org/drawingml/2006/main" noGrp="1"/>
          </p:cNvSpPr>
          <p:nvPr/>
        </p:nvSpPr>
        <p:spPr>
          <a:xfrm xmlns:a="http://schemas.openxmlformats.org/drawingml/2006/main">
            <a:off x="9972675" y="38576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Evidence queue</a:t>
            </a:r>
          </a:p>
        </p:txBody>
      </p:sp>
      <p:sp>
        <p:nvSpPr>
          <p:cNvPr id="17" name="product-detail-2">
            <a:extLst xmlns:a="http://schemas.openxmlformats.org/drawingml/2006/main">
              <a:ext uri="{FF2B5EF4-FFF2-40B4-BE49-F238E27FC236}">
                <a16:creationId xmlns:a16="http://schemas.microsoft.com/office/drawing/2014/main" id="{E72BD94E-5494-40B2-A675-7E90B6D9001D}"/>
              </a:ext>
            </a:extLst>
          </p:cNvPr>
          <p:cNvSpPr>
            <a:spLocks xmlns:a="http://schemas.openxmlformats.org/drawingml/2006/main" noGrp="1"/>
          </p:cNvSpPr>
          <p:nvPr/>
        </p:nvSpPr>
        <p:spPr>
          <a:xfrm xmlns:a="http://schemas.openxmlformats.org/drawingml/2006/main">
            <a:off x="9972675" y="4200525"/>
            <a:ext cx="161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83A4BA"/>
                </a:solidFill>
                <a:latin typeface="Aptos"/>
                <a:ea typeface="Aptos"/>
                <a:cs typeface="Aptos"/>
              </a:defRPr>
            </a:pPr>
            <a:r>
              <a:rPr sz="1425" b="0">
                <a:solidFill>
                  <a:srgbClr val="83A4BA"/>
                </a:solidFill>
                <a:latin typeface="Aptos"/>
                <a:ea typeface="Aptos"/>
                <a:cs typeface="Aptos"/>
              </a:rPr>
              <a:t>Open any case and inspect the receipt</a:t>
            </a:r>
          </a:p>
        </p:txBody>
      </p:sp>
      <p:sp>
        <p:nvSpPr>
          <p:cNvPr id="18" name="product-label-3-bar">
            <a:extLst xmlns:a="http://schemas.openxmlformats.org/drawingml/2006/main">
              <a:ext uri="{FF2B5EF4-FFF2-40B4-BE49-F238E27FC236}">
                <a16:creationId xmlns:a16="http://schemas.microsoft.com/office/drawing/2014/main" id="{387F4079-7E62-4DC2-895F-2BBF0366D0FD}"/>
              </a:ext>
            </a:extLst>
          </p:cNvPr>
          <p:cNvSpPr>
            <a:spLocks xmlns:a="http://schemas.openxmlformats.org/drawingml/2006/main" noGrp="1"/>
          </p:cNvSpPr>
          <p:nvPr/>
        </p:nvSpPr>
        <p:spPr>
          <a:xfrm xmlns:a="http://schemas.openxmlformats.org/drawingml/2006/main">
            <a:off x="9829800" y="5086350"/>
            <a:ext cx="38100" cy="200025"/>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19" name="product-label-3">
            <a:extLst xmlns:a="http://schemas.openxmlformats.org/drawingml/2006/main">
              <a:ext uri="{FF2B5EF4-FFF2-40B4-BE49-F238E27FC236}">
                <a16:creationId xmlns:a16="http://schemas.microsoft.com/office/drawing/2014/main" id="{11364E95-BBC7-4FB4-B995-967F5A0F4E6D}"/>
              </a:ext>
            </a:extLst>
          </p:cNvPr>
          <p:cNvSpPr>
            <a:spLocks xmlns:a="http://schemas.openxmlformats.org/drawingml/2006/main" noGrp="1"/>
          </p:cNvSpPr>
          <p:nvPr/>
        </p:nvSpPr>
        <p:spPr>
          <a:xfrm xmlns:a="http://schemas.openxmlformats.org/drawingml/2006/main">
            <a:off x="9972675" y="50482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Persistent chat</a:t>
            </a:r>
          </a:p>
        </p:txBody>
      </p:sp>
      <p:sp>
        <p:nvSpPr>
          <p:cNvPr id="20" name="product-detail-3">
            <a:extLst xmlns:a="http://schemas.openxmlformats.org/drawingml/2006/main">
              <a:ext uri="{FF2B5EF4-FFF2-40B4-BE49-F238E27FC236}">
                <a16:creationId xmlns:a16="http://schemas.microsoft.com/office/drawing/2014/main" id="{BFB0F155-8708-4AB2-8901-A441EFA3469F}"/>
              </a:ext>
            </a:extLst>
          </p:cNvPr>
          <p:cNvSpPr>
            <a:spLocks xmlns:a="http://schemas.openxmlformats.org/drawingml/2006/main" noGrp="1"/>
          </p:cNvSpPr>
          <p:nvPr/>
        </p:nvSpPr>
        <p:spPr>
          <a:xfrm xmlns:a="http://schemas.openxmlformats.org/drawingml/2006/main">
            <a:off x="9972675" y="5391150"/>
            <a:ext cx="161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83A4BA"/>
                </a:solidFill>
                <a:latin typeface="Aptos"/>
                <a:ea typeface="Aptos"/>
                <a:cs typeface="Aptos"/>
              </a:defRPr>
            </a:pPr>
            <a:r>
              <a:rPr sz="1425" b="0">
                <a:solidFill>
                  <a:srgbClr val="83A4BA"/>
                </a:solidFill>
                <a:latin typeface="Aptos"/>
                <a:ea typeface="Aptos"/>
                <a:cs typeface="Aptos"/>
              </a:rPr>
              <a:t>Ask for totals, sources, and corrections</a:t>
            </a:r>
          </a:p>
        </p:txBody>
      </p:sp>
      <p:sp>
        <p:nvSpPr>
          <p:cNvPr id="21" name="footer-line-3">
            <a:extLst xmlns:a="http://schemas.openxmlformats.org/drawingml/2006/main">
              <a:ext uri="{FF2B5EF4-FFF2-40B4-BE49-F238E27FC236}">
                <a16:creationId xmlns:a16="http://schemas.microsoft.com/office/drawing/2014/main" id="{029CA831-3BB4-4BAE-A12C-B93CB71A2D9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2" name="footer-brand-3">
            <a:extLst xmlns:a="http://schemas.openxmlformats.org/drawingml/2006/main">
              <a:ext uri="{FF2B5EF4-FFF2-40B4-BE49-F238E27FC236}">
                <a16:creationId xmlns:a16="http://schemas.microsoft.com/office/drawing/2014/main" id="{E6953538-3B4C-4FBE-B59C-926C25F6BBF5}"/>
              </a:ext>
            </a:extLst>
          </p:cNvPr>
          <p:cNvSpPr>
            <a:spLocks xmlns:a="http://schemas.openxmlformats.org/drawingml/2006/main" noGrp="1"/>
          </p:cNvSpPr>
          <p:nvPr/>
        </p:nvSpPr>
        <p:spPr>
          <a:xfrm xmlns:a="http://schemas.openxmlformats.org/drawingml/2006/main">
            <a:off x="6096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46657A"/>
                </a:solidFill>
                <a:latin typeface="Aptos Mono"/>
                <a:ea typeface="Aptos Mono"/>
                <a:cs typeface="Aptos Mono"/>
              </a:defRPr>
            </a:pPr>
            <a:r>
              <a:rPr sz="975" b="1">
                <a:solidFill>
                  <a:srgbClr val="46657A"/>
                </a:solidFill>
                <a:latin typeface="Aptos Mono"/>
                <a:ea typeface="Aptos Mono"/>
                <a:cs typeface="Aptos Mono"/>
              </a:rPr>
              <a:t>CONTEXTGATE  /  KIRA LABS</a:t>
            </a:r>
          </a:p>
        </p:txBody>
      </p:sp>
      <p:sp>
        <p:nvSpPr>
          <p:cNvPr id="23" name="footer-number-3">
            <a:extLst xmlns:a="http://schemas.openxmlformats.org/drawingml/2006/main">
              <a:ext uri="{FF2B5EF4-FFF2-40B4-BE49-F238E27FC236}">
                <a16:creationId xmlns:a16="http://schemas.microsoft.com/office/drawing/2014/main" id="{EAD2DD09-B65D-46F1-B226-634AA354231B}"/>
              </a:ext>
            </a:extLst>
          </p:cNvPr>
          <p:cNvSpPr>
            <a:spLocks xmlns:a="http://schemas.openxmlformats.org/drawingml/2006/main" noGrp="1"/>
          </p:cNvSpPr>
          <p:nvPr/>
        </p:nvSpPr>
        <p:spPr>
          <a:xfrm xmlns:a="http://schemas.openxmlformats.org/drawingml/2006/main">
            <a:off x="11144250" y="65722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03</a:t>
            </a:r>
          </a:p>
        </p:txBody>
      </p:sp>
    </p:spTree>
    <p:extLst>
      <p:ext uri="{BB962C8B-B14F-4D97-AF65-F5344CB8AC3E}">
        <p14:creationId xmlns:p14="http://schemas.microsoft.com/office/powerpoint/2010/main" val="753147678"/>
      </p:ext>
    </p:extLst>
  </p:cSld>
</p:sld>
</file>

<file path=ppt/slides/slide4.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40" name="top-signal-4">
            <a:extLst xmlns:a="http://schemas.openxmlformats.org/drawingml/2006/main">
              <a:ext uri="{FF2B5EF4-FFF2-40B4-BE49-F238E27FC236}">
                <a16:creationId xmlns:a16="http://schemas.microsoft.com/office/drawing/2014/main" id="{E32A8F50-DF12-44E0-B287-F78525F8A02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4">
            <a:extLst xmlns:a="http://schemas.openxmlformats.org/drawingml/2006/main">
              <a:ext uri="{FF2B5EF4-FFF2-40B4-BE49-F238E27FC236}">
                <a16:creationId xmlns:a16="http://schemas.microsoft.com/office/drawing/2014/main" id="{7AC788D4-4B43-49E4-BB98-68408B1334F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3" name="signal-line-a-4">
            <a:extLst xmlns:a="http://schemas.openxmlformats.org/drawingml/2006/main">
              <a:ext uri="{FF2B5EF4-FFF2-40B4-BE49-F238E27FC236}">
                <a16:creationId xmlns:a16="http://schemas.microsoft.com/office/drawing/2014/main" id="{E5D80078-6FC5-48AD-AA43-F79B5A2351FF}"/>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4">
            <a:extLst xmlns:a="http://schemas.openxmlformats.org/drawingml/2006/main">
              <a:ext uri="{FF2B5EF4-FFF2-40B4-BE49-F238E27FC236}">
                <a16:creationId xmlns:a16="http://schemas.microsoft.com/office/drawing/2014/main" id="{F84EA8E3-1E33-4604-AE77-5DCF3024B42E}"/>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4">
            <a:extLst xmlns:a="http://schemas.openxmlformats.org/drawingml/2006/main">
              <a:ext uri="{FF2B5EF4-FFF2-40B4-BE49-F238E27FC236}">
                <a16:creationId xmlns:a16="http://schemas.microsoft.com/office/drawing/2014/main" id="{388BD30A-2F64-4896-93EF-80294B04463B}"/>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kicker-4">
            <a:extLst xmlns:a="http://schemas.openxmlformats.org/drawingml/2006/main">
              <a:ext uri="{FF2B5EF4-FFF2-40B4-BE49-F238E27FC236}">
                <a16:creationId xmlns:a16="http://schemas.microsoft.com/office/drawing/2014/main" id="{73774DDD-7F00-4ABC-B2A5-51A5FAE3DF42}"/>
              </a:ext>
            </a:extLst>
          </p:cNvPr>
          <p:cNvSpPr>
            <a:spLocks xmlns:a="http://schemas.openxmlformats.org/drawingml/2006/main" noGrp="1"/>
          </p:cNvSpPr>
          <p:nvPr/>
        </p:nvSpPr>
        <p:spPr>
          <a:xfrm xmlns:a="http://schemas.openxmlformats.org/drawingml/2006/main">
            <a:off x="609600" y="3810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CONFLUENT PATH</a:t>
            </a:r>
          </a:p>
        </p:txBody>
      </p:sp>
      <p:sp>
        <p:nvSpPr>
          <p:cNvPr id="7" name="title-4">
            <a:extLst xmlns:a="http://schemas.openxmlformats.org/drawingml/2006/main">
              <a:ext uri="{FF2B5EF4-FFF2-40B4-BE49-F238E27FC236}">
                <a16:creationId xmlns:a16="http://schemas.microsoft.com/office/drawing/2014/main" id="{EA627F76-84AD-491A-AD55-C28F379C003A}"/>
              </a:ext>
            </a:extLst>
          </p:cNvPr>
          <p:cNvSpPr>
            <a:spLocks xmlns:a="http://schemas.openxmlformats.org/drawingml/2006/main" noGrp="1"/>
          </p:cNvSpPr>
          <p:nvPr/>
        </p:nvSpPr>
        <p:spPr>
          <a:xfrm xmlns:a="http://schemas.openxmlformats.org/drawingml/2006/main">
            <a:off x="609600" y="6572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3750" b="1">
                <a:solidFill>
                  <a:srgbClr val="F6FBFF"/>
                </a:solidFill>
                <a:latin typeface="Aptos Display"/>
                <a:ea typeface="Aptos Display"/>
                <a:cs typeface="Aptos Display"/>
              </a:defRPr>
            </a:pPr>
            <a:r>
              <a:rPr sz="3750" b="1">
                <a:solidFill>
                  <a:srgbClr val="F6FBFF"/>
                </a:solidFill>
                <a:latin typeface="Aptos Display"/>
                <a:ea typeface="Aptos Display"/>
                <a:cs typeface="Aptos Display"/>
              </a:rPr>
              <a:t>The right context, with proof</a:t>
            </a:r>
          </a:p>
        </p:txBody>
      </p:sp>
      <p:sp>
        <p:nvSpPr>
          <p:cNvPr id="8" name="subtitle-4">
            <a:extLst xmlns:a="http://schemas.openxmlformats.org/drawingml/2006/main">
              <a:ext uri="{FF2B5EF4-FFF2-40B4-BE49-F238E27FC236}">
                <a16:creationId xmlns:a16="http://schemas.microsoft.com/office/drawing/2014/main" id="{B62B5068-40EA-4114-9A35-965D8096C8CB}"/>
              </a:ext>
            </a:extLst>
          </p:cNvPr>
          <p:cNvSpPr>
            <a:spLocks xmlns:a="http://schemas.openxmlformats.org/drawingml/2006/main" noGrp="1"/>
          </p:cNvSpPr>
          <p:nvPr/>
        </p:nvSpPr>
        <p:spPr>
          <a:xfrm xmlns:a="http://schemas.openxmlformats.org/drawingml/2006/main">
            <a:off x="628650" y="12382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83A4BA"/>
                </a:solidFill>
                <a:latin typeface="Aptos"/>
                <a:ea typeface="Aptos"/>
                <a:cs typeface="Aptos"/>
              </a:defRPr>
            </a:pPr>
            <a:r>
              <a:rPr sz="1725" b="0">
                <a:solidFill>
                  <a:srgbClr val="83A4BA"/>
                </a:solidFill>
                <a:latin typeface="Aptos"/>
                <a:ea typeface="Aptos"/>
                <a:cs typeface="Aptos"/>
              </a:rPr>
              <a:t>Retrieve only what the question needs—then attach provenance, authority, time, conflicts, and citations.</a:t>
            </a:r>
          </a:p>
        </p:txBody>
      </p:sp>
      <p:sp>
        <p:nvSpPr>
          <p:cNvPr id="9" name="flow-arrow-0">
            <a:extLst xmlns:a="http://schemas.openxmlformats.org/drawingml/2006/main">
              <a:ext uri="{FF2B5EF4-FFF2-40B4-BE49-F238E27FC236}">
                <a16:creationId xmlns:a16="http://schemas.microsoft.com/office/drawing/2014/main" id="{F60B69FB-6110-4241-BB42-76AFB652F810}"/>
              </a:ext>
            </a:extLst>
          </p:cNvPr>
          <p:cNvSpPr>
            <a:spLocks xmlns:a="http://schemas.openxmlformats.org/drawingml/2006/main" noGrp="1"/>
          </p:cNvSpPr>
          <p:nvPr/>
        </p:nvSpPr>
        <p:spPr>
          <a:xfrm xmlns:a="http://schemas.openxmlformats.org/drawingml/2006/main">
            <a:off x="2152650" y="3067050"/>
            <a:ext cx="438150" cy="361950"/>
          </a:xfrm>
          <a:prstGeom xmlns:a="http://schemas.openxmlformats.org/drawingml/2006/main" prst="rightArrow">
            <a:avLst/>
          </a:prstGeom>
          <a:solidFill xmlns:a="http://schemas.openxmlformats.org/drawingml/2006/main">
            <a:srgbClr val="17435B"/>
          </a:solidFill>
          <a:ln xmlns:a="http://schemas.openxmlformats.org/drawingml/2006/main" w="0">
            <a:solidFill>
              <a:srgbClr val="17435B"/>
            </a:solidFill>
            <a:prstDash val="solid"/>
          </a:ln>
        </p:spPr>
      </p:sp>
      <p:sp>
        <p:nvSpPr>
          <p:cNvPr id="10" name="flow-arrow-1">
            <a:extLst xmlns:a="http://schemas.openxmlformats.org/drawingml/2006/main">
              <a:ext uri="{FF2B5EF4-FFF2-40B4-BE49-F238E27FC236}">
                <a16:creationId xmlns:a16="http://schemas.microsoft.com/office/drawing/2014/main" id="{8582A1D3-3D92-4E83-9666-4C66C42AFC90}"/>
              </a:ext>
            </a:extLst>
          </p:cNvPr>
          <p:cNvSpPr>
            <a:spLocks xmlns:a="http://schemas.openxmlformats.org/drawingml/2006/main" noGrp="1"/>
          </p:cNvSpPr>
          <p:nvPr/>
        </p:nvSpPr>
        <p:spPr>
          <a:xfrm xmlns:a="http://schemas.openxmlformats.org/drawingml/2006/main">
            <a:off x="4419600" y="3067050"/>
            <a:ext cx="438150" cy="361950"/>
          </a:xfrm>
          <a:prstGeom xmlns:a="http://schemas.openxmlformats.org/drawingml/2006/main" prst="rightArrow">
            <a:avLst/>
          </a:prstGeom>
          <a:solidFill xmlns:a="http://schemas.openxmlformats.org/drawingml/2006/main">
            <a:srgbClr val="17435B"/>
          </a:solidFill>
          <a:ln xmlns:a="http://schemas.openxmlformats.org/drawingml/2006/main" w="0">
            <a:solidFill>
              <a:srgbClr val="17435B"/>
            </a:solidFill>
            <a:prstDash val="solid"/>
          </a:ln>
        </p:spPr>
      </p:sp>
      <p:sp>
        <p:nvSpPr>
          <p:cNvPr id="11" name="flow-arrow-2">
            <a:extLst xmlns:a="http://schemas.openxmlformats.org/drawingml/2006/main">
              <a:ext uri="{FF2B5EF4-FFF2-40B4-BE49-F238E27FC236}">
                <a16:creationId xmlns:a16="http://schemas.microsoft.com/office/drawing/2014/main" id="{42B5E0E3-C37C-4BB9-B8F3-32C2E8C81664}"/>
              </a:ext>
            </a:extLst>
          </p:cNvPr>
          <p:cNvSpPr>
            <a:spLocks xmlns:a="http://schemas.openxmlformats.org/drawingml/2006/main" noGrp="1"/>
          </p:cNvSpPr>
          <p:nvPr/>
        </p:nvSpPr>
        <p:spPr>
          <a:xfrm xmlns:a="http://schemas.openxmlformats.org/drawingml/2006/main">
            <a:off x="6953250" y="3067050"/>
            <a:ext cx="438150" cy="361950"/>
          </a:xfrm>
          <a:prstGeom xmlns:a="http://schemas.openxmlformats.org/drawingml/2006/main" prst="rightArrow">
            <a:avLst/>
          </a:prstGeom>
          <a:solidFill xmlns:a="http://schemas.openxmlformats.org/drawingml/2006/main">
            <a:srgbClr val="17435B"/>
          </a:solidFill>
          <a:ln xmlns:a="http://schemas.openxmlformats.org/drawingml/2006/main" w="0">
            <a:solidFill>
              <a:srgbClr val="17435B"/>
            </a:solidFill>
            <a:prstDash val="solid"/>
          </a:ln>
        </p:spPr>
      </p:sp>
      <p:sp>
        <p:nvSpPr>
          <p:cNvPr id="12" name="flow-arrow-3">
            <a:extLst xmlns:a="http://schemas.openxmlformats.org/drawingml/2006/main">
              <a:ext uri="{FF2B5EF4-FFF2-40B4-BE49-F238E27FC236}">
                <a16:creationId xmlns:a16="http://schemas.microsoft.com/office/drawing/2014/main" id="{9CA89E45-0D17-42A0-94B2-F43050C85D20}"/>
              </a:ext>
            </a:extLst>
          </p:cNvPr>
          <p:cNvSpPr>
            <a:spLocks xmlns:a="http://schemas.openxmlformats.org/drawingml/2006/main" noGrp="1"/>
          </p:cNvSpPr>
          <p:nvPr/>
        </p:nvSpPr>
        <p:spPr>
          <a:xfrm xmlns:a="http://schemas.openxmlformats.org/drawingml/2006/main">
            <a:off x="8915400" y="3067050"/>
            <a:ext cx="438150" cy="361950"/>
          </a:xfrm>
          <a:prstGeom xmlns:a="http://schemas.openxmlformats.org/drawingml/2006/main" prst="rightArrow">
            <a:avLst/>
          </a:prstGeom>
          <a:solidFill xmlns:a="http://schemas.openxmlformats.org/drawingml/2006/main">
            <a:srgbClr val="17435B"/>
          </a:solidFill>
          <a:ln xmlns:a="http://schemas.openxmlformats.org/drawingml/2006/main" w="0">
            <a:solidFill>
              <a:srgbClr val="17435B"/>
            </a:solidFill>
            <a:prstDash val="solid"/>
          </a:ln>
        </p:spPr>
      </p:sp>
      <p:sp>
        <p:nvSpPr>
          <p:cNvPr id="13" name="flow-node-0">
            <a:extLst xmlns:a="http://schemas.openxmlformats.org/drawingml/2006/main">
              <a:ext uri="{FF2B5EF4-FFF2-40B4-BE49-F238E27FC236}">
                <a16:creationId xmlns:a16="http://schemas.microsoft.com/office/drawing/2014/main" id="{0EF26651-686D-49D6-A90F-3108D5441E89}"/>
              </a:ext>
            </a:extLst>
          </p:cNvPr>
          <p:cNvSpPr>
            <a:spLocks xmlns:a="http://schemas.openxmlformats.org/drawingml/2006/main" noGrp="1"/>
          </p:cNvSpPr>
          <p:nvPr/>
        </p:nvSpPr>
        <p:spPr>
          <a:xfrm xmlns:a="http://schemas.openxmlformats.org/drawingml/2006/main">
            <a:off x="495300" y="2266950"/>
            <a:ext cx="1714500" cy="1714500"/>
          </a:xfrm>
          <a:prstGeom xmlns:a="http://schemas.openxmlformats.org/drawingml/2006/main" prst="roundRect">
            <a:avLst>
              <a:gd name="adj" fmla="val 6667"/>
            </a:avLst>
          </a:prstGeom>
          <a:solidFill xmlns:a="http://schemas.openxmlformats.org/drawingml/2006/main">
            <a:srgbClr val="0B1C2C"/>
          </a:solidFill>
          <a:ln xmlns:a="http://schemas.openxmlformats.org/drawingml/2006/main" w="19050">
            <a:solidFill>
              <a:srgbClr val="3DDC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4" name="flow-title-0">
            <a:extLst xmlns:a="http://schemas.openxmlformats.org/drawingml/2006/main">
              <a:ext uri="{FF2B5EF4-FFF2-40B4-BE49-F238E27FC236}">
                <a16:creationId xmlns:a16="http://schemas.microsoft.com/office/drawing/2014/main" id="{527FA455-4C1B-4D43-842A-2ADADD26D5AE}"/>
              </a:ext>
            </a:extLst>
          </p:cNvPr>
          <p:cNvSpPr>
            <a:spLocks xmlns:a="http://schemas.openxmlformats.org/drawingml/2006/main" noGrp="1"/>
          </p:cNvSpPr>
          <p:nvPr/>
        </p:nvSpPr>
        <p:spPr>
          <a:xfrm xmlns:a="http://schemas.openxmlformats.org/drawingml/2006/main">
            <a:off x="609600" y="24765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950" b="1">
                <a:solidFill>
                  <a:srgbClr val="3DDCFF"/>
                </a:solidFill>
                <a:latin typeface="Aptos Mono"/>
                <a:ea typeface="Aptos Mono"/>
                <a:cs typeface="Aptos Mono"/>
              </a:defRPr>
            </a:pPr>
            <a:r>
              <a:rPr sz="1950" b="1">
                <a:solidFill>
                  <a:srgbClr val="3DDCFF"/>
                </a:solidFill>
                <a:latin typeface="Aptos Mono"/>
                <a:ea typeface="Aptos Mono"/>
                <a:cs typeface="Aptos Mono"/>
              </a:rPr>
              <a:t>KAFKA</a:t>
            </a:r>
          </a:p>
        </p:txBody>
      </p:sp>
      <p:sp>
        <p:nvSpPr>
          <p:cNvPr id="15" name="flow-rule-0">
            <a:extLst xmlns:a="http://schemas.openxmlformats.org/drawingml/2006/main">
              <a:ext uri="{FF2B5EF4-FFF2-40B4-BE49-F238E27FC236}">
                <a16:creationId xmlns:a16="http://schemas.microsoft.com/office/drawing/2014/main" id="{5AB38540-D7E1-4AEB-AC2E-43B393BE5D9A}"/>
              </a:ext>
            </a:extLst>
          </p:cNvPr>
          <p:cNvSpPr>
            <a:spLocks xmlns:a="http://schemas.openxmlformats.org/drawingml/2006/main" noGrp="1"/>
          </p:cNvSpPr>
          <p:nvPr/>
        </p:nvSpPr>
        <p:spPr>
          <a:xfrm xmlns:a="http://schemas.openxmlformats.org/drawingml/2006/main">
            <a:off x="733425" y="2971800"/>
            <a:ext cx="1238250" cy="1905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16" name="flow-body-0">
            <a:extLst xmlns:a="http://schemas.openxmlformats.org/drawingml/2006/main">
              <a:ext uri="{FF2B5EF4-FFF2-40B4-BE49-F238E27FC236}">
                <a16:creationId xmlns:a16="http://schemas.microsoft.com/office/drawing/2014/main" id="{91407B33-24AC-4B84-A983-7E26055561DA}"/>
              </a:ext>
            </a:extLst>
          </p:cNvPr>
          <p:cNvSpPr>
            <a:spLocks xmlns:a="http://schemas.openxmlformats.org/drawingml/2006/main" noGrp="1"/>
          </p:cNvSpPr>
          <p:nvPr/>
        </p:nvSpPr>
        <p:spPr>
          <a:xfrm xmlns:a="http://schemas.openxmlformats.org/drawingml/2006/main">
            <a:off x="628650" y="3143250"/>
            <a:ext cx="144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Replayable evidence</a:t>
            </a:r>
          </a:p>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 requests</a:t>
            </a:r>
          </a:p>
        </p:txBody>
      </p:sp>
      <p:sp>
        <p:nvSpPr>
          <p:cNvPr id="17" name="flow-node-1">
            <a:extLst xmlns:a="http://schemas.openxmlformats.org/drawingml/2006/main">
              <a:ext uri="{FF2B5EF4-FFF2-40B4-BE49-F238E27FC236}">
                <a16:creationId xmlns:a16="http://schemas.microsoft.com/office/drawing/2014/main" id="{2C82D59A-737A-489C-B890-AE60CC5FB308}"/>
              </a:ext>
            </a:extLst>
          </p:cNvPr>
          <p:cNvSpPr>
            <a:spLocks xmlns:a="http://schemas.openxmlformats.org/drawingml/2006/main" noGrp="1"/>
          </p:cNvSpPr>
          <p:nvPr/>
        </p:nvSpPr>
        <p:spPr>
          <a:xfrm xmlns:a="http://schemas.openxmlformats.org/drawingml/2006/main">
            <a:off x="2533650" y="2266950"/>
            <a:ext cx="1943100" cy="1714500"/>
          </a:xfrm>
          <a:prstGeom xmlns:a="http://schemas.openxmlformats.org/drawingml/2006/main" prst="roundRect">
            <a:avLst>
              <a:gd name="adj" fmla="val 6667"/>
            </a:avLst>
          </a:prstGeom>
          <a:solidFill xmlns:a="http://schemas.openxmlformats.org/drawingml/2006/main">
            <a:srgbClr val="0B1C2C"/>
          </a:solidFill>
          <a:ln xmlns:a="http://schemas.openxmlformats.org/drawingml/2006/main" w="19050">
            <a:solidFill>
              <a:srgbClr val="3DDC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8" name="flow-title-1">
            <a:extLst xmlns:a="http://schemas.openxmlformats.org/drawingml/2006/main">
              <a:ext uri="{FF2B5EF4-FFF2-40B4-BE49-F238E27FC236}">
                <a16:creationId xmlns:a16="http://schemas.microsoft.com/office/drawing/2014/main" id="{A2ED47A5-F042-4EC6-A52B-141460A78C01}"/>
              </a:ext>
            </a:extLst>
          </p:cNvPr>
          <p:cNvSpPr>
            <a:spLocks xmlns:a="http://schemas.openxmlformats.org/drawingml/2006/main" noGrp="1"/>
          </p:cNvSpPr>
          <p:nvPr/>
        </p:nvSpPr>
        <p:spPr>
          <a:xfrm xmlns:a="http://schemas.openxmlformats.org/drawingml/2006/main">
            <a:off x="2647950" y="24765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950" b="1">
                <a:solidFill>
                  <a:srgbClr val="3DDCFF"/>
                </a:solidFill>
                <a:latin typeface="Aptos Mono"/>
                <a:ea typeface="Aptos Mono"/>
                <a:cs typeface="Aptos Mono"/>
              </a:defRPr>
            </a:pPr>
            <a:r>
              <a:rPr sz="1950" b="1">
                <a:solidFill>
                  <a:srgbClr val="3DDCFF"/>
                </a:solidFill>
                <a:latin typeface="Aptos Mono"/>
                <a:ea typeface="Aptos Mono"/>
                <a:cs typeface="Aptos Mono"/>
              </a:rPr>
              <a:t>FLINK</a:t>
            </a:r>
          </a:p>
        </p:txBody>
      </p:sp>
      <p:sp>
        <p:nvSpPr>
          <p:cNvPr id="19" name="flow-rule-1">
            <a:extLst xmlns:a="http://schemas.openxmlformats.org/drawingml/2006/main">
              <a:ext uri="{FF2B5EF4-FFF2-40B4-BE49-F238E27FC236}">
                <a16:creationId xmlns:a16="http://schemas.microsoft.com/office/drawing/2014/main" id="{F89C1924-23A5-4F77-80CE-4B7A7B1C1F49}"/>
              </a:ext>
            </a:extLst>
          </p:cNvPr>
          <p:cNvSpPr>
            <a:spLocks xmlns:a="http://schemas.openxmlformats.org/drawingml/2006/main" noGrp="1"/>
          </p:cNvSpPr>
          <p:nvPr/>
        </p:nvSpPr>
        <p:spPr>
          <a:xfrm xmlns:a="http://schemas.openxmlformats.org/drawingml/2006/main">
            <a:off x="2771775" y="2971800"/>
            <a:ext cx="1466850" cy="1905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0" name="flow-body-1">
            <a:extLst xmlns:a="http://schemas.openxmlformats.org/drawingml/2006/main">
              <a:ext uri="{FF2B5EF4-FFF2-40B4-BE49-F238E27FC236}">
                <a16:creationId xmlns:a16="http://schemas.microsoft.com/office/drawing/2014/main" id="{6FF799DF-30C2-4329-B1F6-BC21891EEC1B}"/>
              </a:ext>
            </a:extLst>
          </p:cNvPr>
          <p:cNvSpPr>
            <a:spLocks xmlns:a="http://schemas.openxmlformats.org/drawingml/2006/main" noGrp="1"/>
          </p:cNvSpPr>
          <p:nvPr/>
        </p:nvSpPr>
        <p:spPr>
          <a:xfrm xmlns:a="http://schemas.openxmlformats.org/drawingml/2006/main">
            <a:off x="2667000" y="3143250"/>
            <a:ext cx="1676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Select · dedupe</a:t>
            </a:r>
          </a:p>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authority · conflict</a:t>
            </a:r>
          </a:p>
        </p:txBody>
      </p:sp>
      <p:sp>
        <p:nvSpPr>
          <p:cNvPr id="21" name="flow-node-2">
            <a:extLst xmlns:a="http://schemas.openxmlformats.org/drawingml/2006/main">
              <a:ext uri="{FF2B5EF4-FFF2-40B4-BE49-F238E27FC236}">
                <a16:creationId xmlns:a16="http://schemas.microsoft.com/office/drawing/2014/main" id="{18473485-DADA-4B60-948D-75BA0E071A2E}"/>
              </a:ext>
            </a:extLst>
          </p:cNvPr>
          <p:cNvSpPr>
            <a:spLocks xmlns:a="http://schemas.openxmlformats.org/drawingml/2006/main" noGrp="1"/>
          </p:cNvSpPr>
          <p:nvPr/>
        </p:nvSpPr>
        <p:spPr>
          <a:xfrm xmlns:a="http://schemas.openxmlformats.org/drawingml/2006/main">
            <a:off x="4800600" y="2266950"/>
            <a:ext cx="2209800" cy="1714500"/>
          </a:xfrm>
          <a:prstGeom xmlns:a="http://schemas.openxmlformats.org/drawingml/2006/main" prst="roundRect">
            <a:avLst>
              <a:gd name="adj" fmla="val 6667"/>
            </a:avLst>
          </a:prstGeom>
          <a:solidFill xmlns:a="http://schemas.openxmlformats.org/drawingml/2006/main">
            <a:srgbClr val="0B1C2C"/>
          </a:solidFill>
          <a:ln xmlns:a="http://schemas.openxmlformats.org/drawingml/2006/main" w="28575">
            <a:solidFill>
              <a:srgbClr val="F6FB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22" name="flow-title-2">
            <a:extLst xmlns:a="http://schemas.openxmlformats.org/drawingml/2006/main">
              <a:ext uri="{FF2B5EF4-FFF2-40B4-BE49-F238E27FC236}">
                <a16:creationId xmlns:a16="http://schemas.microsoft.com/office/drawing/2014/main" id="{651200CB-BCF8-483B-AF94-A8A73774FD2C}"/>
              </a:ext>
            </a:extLst>
          </p:cNvPr>
          <p:cNvSpPr>
            <a:spLocks xmlns:a="http://schemas.openxmlformats.org/drawingml/2006/main" noGrp="1"/>
          </p:cNvSpPr>
          <p:nvPr/>
        </p:nvSpPr>
        <p:spPr>
          <a:xfrm xmlns:a="http://schemas.openxmlformats.org/drawingml/2006/main">
            <a:off x="4914900" y="2476500"/>
            <a:ext cx="198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950" b="1">
                <a:solidFill>
                  <a:srgbClr val="F6FBFF"/>
                </a:solidFill>
                <a:latin typeface="Aptos Mono"/>
                <a:ea typeface="Aptos Mono"/>
                <a:cs typeface="Aptos Mono"/>
              </a:defRPr>
            </a:pPr>
            <a:r>
              <a:rPr sz="1950" b="1">
                <a:solidFill>
                  <a:srgbClr val="F6FBFF"/>
                </a:solidFill>
                <a:latin typeface="Aptos Mono"/>
                <a:ea typeface="Aptos Mono"/>
                <a:cs typeface="Aptos Mono"/>
              </a:rPr>
              <a:t>PACKET</a:t>
            </a:r>
          </a:p>
        </p:txBody>
      </p:sp>
      <p:sp>
        <p:nvSpPr>
          <p:cNvPr id="23" name="flow-rule-2">
            <a:extLst xmlns:a="http://schemas.openxmlformats.org/drawingml/2006/main">
              <a:ext uri="{FF2B5EF4-FFF2-40B4-BE49-F238E27FC236}">
                <a16:creationId xmlns:a16="http://schemas.microsoft.com/office/drawing/2014/main" id="{9E8EB16C-B69D-4EC8-8F45-BB61EFAE2625}"/>
              </a:ext>
            </a:extLst>
          </p:cNvPr>
          <p:cNvSpPr>
            <a:spLocks xmlns:a="http://schemas.openxmlformats.org/drawingml/2006/main" noGrp="1"/>
          </p:cNvSpPr>
          <p:nvPr/>
        </p:nvSpPr>
        <p:spPr>
          <a:xfrm xmlns:a="http://schemas.openxmlformats.org/drawingml/2006/main">
            <a:off x="5038725" y="2971800"/>
            <a:ext cx="1733550" cy="19050"/>
          </a:xfrm>
          <a:prstGeom xmlns:a="http://schemas.openxmlformats.org/drawingml/2006/main" prst="rect">
            <a:avLst/>
          </a:prstGeom>
          <a:solidFill xmlns:a="http://schemas.openxmlformats.org/drawingml/2006/main">
            <a:srgbClr val="F6FBFF"/>
          </a:solidFill>
          <a:ln xmlns:a="http://schemas.openxmlformats.org/drawingml/2006/main" w="0">
            <a:noFill/>
            <a:prstDash val="solid"/>
          </a:ln>
        </p:spPr>
      </p:sp>
      <p:sp>
        <p:nvSpPr>
          <p:cNvPr id="24" name="flow-body-2">
            <a:extLst xmlns:a="http://schemas.openxmlformats.org/drawingml/2006/main">
              <a:ext uri="{FF2B5EF4-FFF2-40B4-BE49-F238E27FC236}">
                <a16:creationId xmlns:a16="http://schemas.microsoft.com/office/drawing/2014/main" id="{E223BA7B-6B16-4115-8C9C-FFD4C22E3FEF}"/>
              </a:ext>
            </a:extLst>
          </p:cNvPr>
          <p:cNvSpPr>
            <a:spLocks xmlns:a="http://schemas.openxmlformats.org/drawingml/2006/main" noGrp="1"/>
          </p:cNvSpPr>
          <p:nvPr/>
        </p:nvSpPr>
        <p:spPr>
          <a:xfrm xmlns:a="http://schemas.openxmlformats.org/drawingml/2006/main">
            <a:off x="4933950" y="3143250"/>
            <a:ext cx="194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Provenance · time</a:t>
            </a:r>
          </a:p>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authority · citations</a:t>
            </a:r>
          </a:p>
        </p:txBody>
      </p:sp>
      <p:sp>
        <p:nvSpPr>
          <p:cNvPr id="25" name="flow-node-3">
            <a:extLst xmlns:a="http://schemas.openxmlformats.org/drawingml/2006/main">
              <a:ext uri="{FF2B5EF4-FFF2-40B4-BE49-F238E27FC236}">
                <a16:creationId xmlns:a16="http://schemas.microsoft.com/office/drawing/2014/main" id="{B2C34B07-74C3-4219-92D3-A82D537E2B75}"/>
              </a:ext>
            </a:extLst>
          </p:cNvPr>
          <p:cNvSpPr>
            <a:spLocks xmlns:a="http://schemas.openxmlformats.org/drawingml/2006/main" noGrp="1"/>
          </p:cNvSpPr>
          <p:nvPr/>
        </p:nvSpPr>
        <p:spPr>
          <a:xfrm xmlns:a="http://schemas.openxmlformats.org/drawingml/2006/main">
            <a:off x="7334250" y="2266950"/>
            <a:ext cx="1638300" cy="1714500"/>
          </a:xfrm>
          <a:prstGeom xmlns:a="http://schemas.openxmlformats.org/drawingml/2006/main" prst="roundRect">
            <a:avLst>
              <a:gd name="adj" fmla="val 6977"/>
            </a:avLst>
          </a:prstGeom>
          <a:solidFill xmlns:a="http://schemas.openxmlformats.org/drawingml/2006/main">
            <a:srgbClr val="0B1C2C"/>
          </a:solidFill>
          <a:ln xmlns:a="http://schemas.openxmlformats.org/drawingml/2006/main" w="19050">
            <a:solidFill>
              <a:srgbClr val="FFC24A"/>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26" name="flow-title-3">
            <a:extLst xmlns:a="http://schemas.openxmlformats.org/drawingml/2006/main">
              <a:ext uri="{FF2B5EF4-FFF2-40B4-BE49-F238E27FC236}">
                <a16:creationId xmlns:a16="http://schemas.microsoft.com/office/drawing/2014/main" id="{B2525BBA-EE7E-4D7A-B32C-E7FA3E20DFA6}"/>
              </a:ext>
            </a:extLst>
          </p:cNvPr>
          <p:cNvSpPr>
            <a:spLocks xmlns:a="http://schemas.openxmlformats.org/drawingml/2006/main" noGrp="1"/>
          </p:cNvSpPr>
          <p:nvPr/>
        </p:nvSpPr>
        <p:spPr>
          <a:xfrm xmlns:a="http://schemas.openxmlformats.org/drawingml/2006/main">
            <a:off x="7448550" y="2476500"/>
            <a:ext cx="140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950" b="1">
                <a:solidFill>
                  <a:srgbClr val="FFC24A"/>
                </a:solidFill>
                <a:latin typeface="Aptos Mono"/>
                <a:ea typeface="Aptos Mono"/>
                <a:cs typeface="Aptos Mono"/>
              </a:defRPr>
            </a:pPr>
            <a:r>
              <a:rPr sz="1950" b="1">
                <a:solidFill>
                  <a:srgbClr val="FFC24A"/>
                </a:solidFill>
                <a:latin typeface="Aptos Mono"/>
                <a:ea typeface="Aptos Mono"/>
                <a:cs typeface="Aptos Mono"/>
              </a:rPr>
              <a:t>GATE</a:t>
            </a:r>
          </a:p>
        </p:txBody>
      </p:sp>
      <p:sp>
        <p:nvSpPr>
          <p:cNvPr id="27" name="flow-rule-3">
            <a:extLst xmlns:a="http://schemas.openxmlformats.org/drawingml/2006/main">
              <a:ext uri="{FF2B5EF4-FFF2-40B4-BE49-F238E27FC236}">
                <a16:creationId xmlns:a16="http://schemas.microsoft.com/office/drawing/2014/main" id="{6F4C55DD-B4E8-447A-8328-9B3426D9537E}"/>
              </a:ext>
            </a:extLst>
          </p:cNvPr>
          <p:cNvSpPr>
            <a:spLocks xmlns:a="http://schemas.openxmlformats.org/drawingml/2006/main" noGrp="1"/>
          </p:cNvSpPr>
          <p:nvPr/>
        </p:nvSpPr>
        <p:spPr>
          <a:xfrm xmlns:a="http://schemas.openxmlformats.org/drawingml/2006/main">
            <a:off x="7572375" y="2971800"/>
            <a:ext cx="1162050" cy="19050"/>
          </a:xfrm>
          <a:prstGeom xmlns:a="http://schemas.openxmlformats.org/drawingml/2006/main" prst="rect">
            <a:avLst/>
          </a:prstGeom>
          <a:solidFill xmlns:a="http://schemas.openxmlformats.org/drawingml/2006/main">
            <a:srgbClr val="FFC24A"/>
          </a:solidFill>
          <a:ln xmlns:a="http://schemas.openxmlformats.org/drawingml/2006/main" w="0">
            <a:noFill/>
            <a:prstDash val="solid"/>
          </a:ln>
        </p:spPr>
      </p:sp>
      <p:sp>
        <p:nvSpPr>
          <p:cNvPr id="28" name="flow-body-3">
            <a:extLst xmlns:a="http://schemas.openxmlformats.org/drawingml/2006/main">
              <a:ext uri="{FF2B5EF4-FFF2-40B4-BE49-F238E27FC236}">
                <a16:creationId xmlns:a16="http://schemas.microsoft.com/office/drawing/2014/main" id="{8FBF4E8F-E4F6-4632-B9FE-75ADEFDD26DE}"/>
              </a:ext>
            </a:extLst>
          </p:cNvPr>
          <p:cNvSpPr>
            <a:spLocks xmlns:a="http://schemas.openxmlformats.org/drawingml/2006/main" noGrp="1"/>
          </p:cNvSpPr>
          <p:nvPr/>
        </p:nvSpPr>
        <p:spPr>
          <a:xfrm xmlns:a="http://schemas.openxmlformats.org/drawingml/2006/main">
            <a:off x="7467600" y="3143250"/>
            <a:ext cx="1371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ALLOW · REVIEW</a:t>
            </a:r>
          </a:p>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BLOCK</a:t>
            </a:r>
          </a:p>
        </p:txBody>
      </p:sp>
      <p:sp>
        <p:nvSpPr>
          <p:cNvPr id="29" name="flow-node-4">
            <a:extLst xmlns:a="http://schemas.openxmlformats.org/drawingml/2006/main">
              <a:ext uri="{FF2B5EF4-FFF2-40B4-BE49-F238E27FC236}">
                <a16:creationId xmlns:a16="http://schemas.microsoft.com/office/drawing/2014/main" id="{328EA645-DF40-40F5-BC69-8531B73E750A}"/>
              </a:ext>
            </a:extLst>
          </p:cNvPr>
          <p:cNvSpPr>
            <a:spLocks xmlns:a="http://schemas.openxmlformats.org/drawingml/2006/main" noGrp="1"/>
          </p:cNvSpPr>
          <p:nvPr/>
        </p:nvSpPr>
        <p:spPr>
          <a:xfrm xmlns:a="http://schemas.openxmlformats.org/drawingml/2006/main">
            <a:off x="9296400" y="2266950"/>
            <a:ext cx="2381250" cy="1714500"/>
          </a:xfrm>
          <a:prstGeom xmlns:a="http://schemas.openxmlformats.org/drawingml/2006/main" prst="roundRect">
            <a:avLst>
              <a:gd name="adj" fmla="val 6667"/>
            </a:avLst>
          </a:prstGeom>
          <a:solidFill xmlns:a="http://schemas.openxmlformats.org/drawingml/2006/main">
            <a:srgbClr val="0B1C2C"/>
          </a:solidFill>
          <a:ln xmlns:a="http://schemas.openxmlformats.org/drawingml/2006/main" w="19050">
            <a:solidFill>
              <a:srgbClr val="29E7B1"/>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30" name="flow-title-4">
            <a:extLst xmlns:a="http://schemas.openxmlformats.org/drawingml/2006/main">
              <a:ext uri="{FF2B5EF4-FFF2-40B4-BE49-F238E27FC236}">
                <a16:creationId xmlns:a16="http://schemas.microsoft.com/office/drawing/2014/main" id="{73B5E336-1E70-47E3-A8C6-5F8F673C22B3}"/>
              </a:ext>
            </a:extLst>
          </p:cNvPr>
          <p:cNvSpPr>
            <a:spLocks xmlns:a="http://schemas.openxmlformats.org/drawingml/2006/main" noGrp="1"/>
          </p:cNvSpPr>
          <p:nvPr/>
        </p:nvSpPr>
        <p:spPr>
          <a:xfrm xmlns:a="http://schemas.openxmlformats.org/drawingml/2006/main">
            <a:off x="9410700" y="2476500"/>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575" b="1">
                <a:solidFill>
                  <a:srgbClr val="29E7B1"/>
                </a:solidFill>
                <a:latin typeface="Aptos Mono"/>
                <a:ea typeface="Aptos Mono"/>
                <a:cs typeface="Aptos Mono"/>
              </a:defRPr>
            </a:pPr>
            <a:r>
              <a:rPr sz="1575" b="1">
                <a:solidFill>
                  <a:srgbClr val="29E7B1"/>
                </a:solidFill>
                <a:latin typeface="Aptos Mono"/>
                <a:ea typeface="Aptos Mono"/>
                <a:cs typeface="Aptos Mono"/>
              </a:rPr>
              <a:t>STREAMING AGENT</a:t>
            </a:r>
          </a:p>
        </p:txBody>
      </p:sp>
      <p:sp>
        <p:nvSpPr>
          <p:cNvPr id="31" name="flow-rule-4">
            <a:extLst xmlns:a="http://schemas.openxmlformats.org/drawingml/2006/main">
              <a:ext uri="{FF2B5EF4-FFF2-40B4-BE49-F238E27FC236}">
                <a16:creationId xmlns:a16="http://schemas.microsoft.com/office/drawing/2014/main" id="{22A84816-46CE-4EF3-880D-46CE602C034B}"/>
              </a:ext>
            </a:extLst>
          </p:cNvPr>
          <p:cNvSpPr>
            <a:spLocks xmlns:a="http://schemas.openxmlformats.org/drawingml/2006/main" noGrp="1"/>
          </p:cNvSpPr>
          <p:nvPr/>
        </p:nvSpPr>
        <p:spPr>
          <a:xfrm xmlns:a="http://schemas.openxmlformats.org/drawingml/2006/main">
            <a:off x="9534525" y="2971800"/>
            <a:ext cx="1905000" cy="19050"/>
          </a:xfrm>
          <a:prstGeom xmlns:a="http://schemas.openxmlformats.org/drawingml/2006/main" prst="rect">
            <a:avLst/>
          </a:prstGeom>
          <a:solidFill xmlns:a="http://schemas.openxmlformats.org/drawingml/2006/main">
            <a:srgbClr val="29E7B1"/>
          </a:solidFill>
          <a:ln xmlns:a="http://schemas.openxmlformats.org/drawingml/2006/main" w="0">
            <a:noFill/>
            <a:prstDash val="solid"/>
          </a:ln>
        </p:spPr>
      </p:sp>
      <p:sp>
        <p:nvSpPr>
          <p:cNvPr id="32" name="flow-body-4">
            <a:extLst xmlns:a="http://schemas.openxmlformats.org/drawingml/2006/main">
              <a:ext uri="{FF2B5EF4-FFF2-40B4-BE49-F238E27FC236}">
                <a16:creationId xmlns:a16="http://schemas.microsoft.com/office/drawing/2014/main" id="{F601292F-747F-4063-9A9C-5364A51FD874}"/>
              </a:ext>
            </a:extLst>
          </p:cNvPr>
          <p:cNvSpPr>
            <a:spLocks xmlns:a="http://schemas.openxmlformats.org/drawingml/2006/main" noGrp="1"/>
          </p:cNvSpPr>
          <p:nvPr/>
        </p:nvSpPr>
        <p:spPr>
          <a:xfrm xmlns:a="http://schemas.openxmlformats.org/drawingml/2006/main">
            <a:off x="9429750" y="3143250"/>
            <a:ext cx="2114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Explain the fixed</a:t>
            </a:r>
          </a:p>
          <a:p xmlns:a="http://schemas.openxmlformats.org/drawingml/2006/main">
            <a:pPr algn="ctr">
              <a:lnSpc>
                <a:spcPct val="105000"/>
              </a:lnSpc>
              <a:buNone/>
              <a:defRPr sz="1500" b="0">
                <a:solidFill>
                  <a:srgbClr val="DCEAF4"/>
                </a:solidFill>
                <a:latin typeface="Aptos"/>
                <a:ea typeface="Aptos"/>
                <a:cs typeface="Aptos"/>
              </a:defRPr>
            </a:pPr>
            <a:r>
              <a:rPr sz="1500" b="0">
                <a:solidFill>
                  <a:srgbClr val="DCEAF4"/>
                </a:solidFill>
                <a:latin typeface="Aptos"/>
                <a:ea typeface="Aptos"/>
                <a:cs typeface="Aptos"/>
              </a:rPr>
              <a:t>decision receipt</a:t>
            </a:r>
          </a:p>
        </p:txBody>
      </p:sp>
      <p:sp>
        <p:nvSpPr>
          <p:cNvPr id="33" name="human-band">
            <a:extLst xmlns:a="http://schemas.openxmlformats.org/drawingml/2006/main">
              <a:ext uri="{FF2B5EF4-FFF2-40B4-BE49-F238E27FC236}">
                <a16:creationId xmlns:a16="http://schemas.microsoft.com/office/drawing/2014/main" id="{3E6328C9-9AD3-4104-97FF-8BD8ED189D2A}"/>
              </a:ext>
            </a:extLst>
          </p:cNvPr>
          <p:cNvSpPr>
            <a:spLocks xmlns:a="http://schemas.openxmlformats.org/drawingml/2006/main" noGrp="1"/>
          </p:cNvSpPr>
          <p:nvPr/>
        </p:nvSpPr>
        <p:spPr>
          <a:xfrm xmlns:a="http://schemas.openxmlformats.org/drawingml/2006/main">
            <a:off x="885825" y="4629150"/>
            <a:ext cx="10420350" cy="1028700"/>
          </a:xfrm>
          <a:prstGeom xmlns:a="http://schemas.openxmlformats.org/drawingml/2006/main" prst="roundRect">
            <a:avLst>
              <a:gd name="adj" fmla="val 11111"/>
            </a:avLst>
          </a:prstGeom>
          <a:solidFill xmlns:a="http://schemas.openxmlformats.org/drawingml/2006/main">
            <a:srgbClr val="0B1C2C"/>
          </a:solidFill>
          <a:ln xmlns:a="http://schemas.openxmlformats.org/drawingml/2006/main" w="9525">
            <a:solidFill>
              <a:srgbClr val="17435B"/>
            </a:solidFill>
            <a:prstDash val="solid"/>
          </a:ln>
        </p:spPr>
      </p:sp>
      <p:sp>
        <p:nvSpPr>
          <p:cNvPr id="34" name="human-band-head">
            <a:extLst xmlns:a="http://schemas.openxmlformats.org/drawingml/2006/main">
              <a:ext uri="{FF2B5EF4-FFF2-40B4-BE49-F238E27FC236}">
                <a16:creationId xmlns:a16="http://schemas.microsoft.com/office/drawing/2014/main" id="{16544E2F-EB59-4FD2-ADF6-9F5CE07175EA}"/>
              </a:ext>
            </a:extLst>
          </p:cNvPr>
          <p:cNvSpPr>
            <a:spLocks xmlns:a="http://schemas.openxmlformats.org/drawingml/2006/main" noGrp="1"/>
          </p:cNvSpPr>
          <p:nvPr/>
        </p:nvSpPr>
        <p:spPr>
          <a:xfrm xmlns:a="http://schemas.openxmlformats.org/drawingml/2006/main">
            <a:off x="1143000" y="48291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29E7B1"/>
                </a:solidFill>
                <a:latin typeface="Aptos Mono"/>
                <a:ea typeface="Aptos Mono"/>
                <a:cs typeface="Aptos Mono"/>
              </a:defRPr>
            </a:pPr>
            <a:r>
              <a:rPr sz="1275" b="1">
                <a:solidFill>
                  <a:srgbClr val="29E7B1"/>
                </a:solidFill>
                <a:latin typeface="Aptos Mono"/>
                <a:ea typeface="Aptos Mono"/>
                <a:cs typeface="Aptos Mono"/>
              </a:rPr>
              <a:t>HUMAN CORRECTION  →  REMEMBERED GUIDANCE</a:t>
            </a:r>
          </a:p>
        </p:txBody>
      </p:sp>
      <p:sp>
        <p:nvSpPr>
          <p:cNvPr id="35" name="human-band-copy">
            <a:extLst xmlns:a="http://schemas.openxmlformats.org/drawingml/2006/main">
              <a:ext uri="{FF2B5EF4-FFF2-40B4-BE49-F238E27FC236}">
                <a16:creationId xmlns:a16="http://schemas.microsoft.com/office/drawing/2014/main" id="{92EA710B-3BC8-4170-800B-C8DD4FD10633}"/>
              </a:ext>
            </a:extLst>
          </p:cNvPr>
          <p:cNvSpPr>
            <a:spLocks xmlns:a="http://schemas.openxmlformats.org/drawingml/2006/main" noGrp="1"/>
          </p:cNvSpPr>
          <p:nvPr/>
        </p:nvSpPr>
        <p:spPr>
          <a:xfrm xmlns:a="http://schemas.openxmlformats.org/drawingml/2006/main">
            <a:off x="1143000" y="5191125"/>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DCEAF4"/>
                </a:solidFill>
                <a:latin typeface="Aptos"/>
                <a:ea typeface="Aptos"/>
                <a:cs typeface="Aptos"/>
              </a:defRPr>
            </a:pPr>
            <a:r>
              <a:rPr sz="1500" b="0">
                <a:solidFill>
                  <a:srgbClr val="DCEAF4"/>
                </a:solidFill>
                <a:latin typeface="Aptos"/>
                <a:ea typeface="Aptos"/>
                <a:cs typeface="Aptos"/>
              </a:rPr>
              <a:t>A correction becomes a new receipt and future guidance. It never rewrites the original evidence or silently changes authority.</a:t>
            </a:r>
          </a:p>
        </p:txBody>
      </p:sp>
      <p:sp>
        <p:nvSpPr>
          <p:cNvPr id="36" name="workshop-caption">
            <a:extLst xmlns:a="http://schemas.openxmlformats.org/drawingml/2006/main">
              <a:ext uri="{FF2B5EF4-FFF2-40B4-BE49-F238E27FC236}">
                <a16:creationId xmlns:a16="http://schemas.microsoft.com/office/drawing/2014/main" id="{F0178516-7CDD-4B01-A012-DAE02423BE29}"/>
              </a:ext>
            </a:extLst>
          </p:cNvPr>
          <p:cNvSpPr>
            <a:spLocks xmlns:a="http://schemas.openxmlformats.org/drawingml/2006/main" noGrp="1"/>
          </p:cNvSpPr>
          <p:nvPr/>
        </p:nvSpPr>
        <p:spPr>
          <a:xfrm xmlns:a="http://schemas.openxmlformats.org/drawingml/2006/main">
            <a:off x="762000" y="59531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LOCAL DEMO: DETERMINISTIC PYTHON   ·   REPO PATH: KAFKA + FLINK + STREAMING AGENTS, READY FOR WORKSHOP CREDENTIALS</a:t>
            </a:r>
          </a:p>
        </p:txBody>
      </p:sp>
      <p:sp>
        <p:nvSpPr>
          <p:cNvPr id="37" name="footer-line-4">
            <a:extLst xmlns:a="http://schemas.openxmlformats.org/drawingml/2006/main">
              <a:ext uri="{FF2B5EF4-FFF2-40B4-BE49-F238E27FC236}">
                <a16:creationId xmlns:a16="http://schemas.microsoft.com/office/drawing/2014/main" id="{8FC1C9DD-A5E6-4A1C-8269-32D0EB18BB8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38" name="footer-brand-4">
            <a:extLst xmlns:a="http://schemas.openxmlformats.org/drawingml/2006/main">
              <a:ext uri="{FF2B5EF4-FFF2-40B4-BE49-F238E27FC236}">
                <a16:creationId xmlns:a16="http://schemas.microsoft.com/office/drawing/2014/main" id="{1D9C874A-8408-4A98-BA0F-8455D19A9F74}"/>
              </a:ext>
            </a:extLst>
          </p:cNvPr>
          <p:cNvSpPr>
            <a:spLocks xmlns:a="http://schemas.openxmlformats.org/drawingml/2006/main" noGrp="1"/>
          </p:cNvSpPr>
          <p:nvPr/>
        </p:nvSpPr>
        <p:spPr>
          <a:xfrm xmlns:a="http://schemas.openxmlformats.org/drawingml/2006/main">
            <a:off x="6096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46657A"/>
                </a:solidFill>
                <a:latin typeface="Aptos Mono"/>
                <a:ea typeface="Aptos Mono"/>
                <a:cs typeface="Aptos Mono"/>
              </a:defRPr>
            </a:pPr>
            <a:r>
              <a:rPr sz="975" b="1">
                <a:solidFill>
                  <a:srgbClr val="46657A"/>
                </a:solidFill>
                <a:latin typeface="Aptos Mono"/>
                <a:ea typeface="Aptos Mono"/>
                <a:cs typeface="Aptos Mono"/>
              </a:rPr>
              <a:t>CONTEXTGATE  /  KIRA LABS</a:t>
            </a:r>
          </a:p>
        </p:txBody>
      </p:sp>
      <p:sp>
        <p:nvSpPr>
          <p:cNvPr id="39" name="footer-number-4">
            <a:extLst xmlns:a="http://schemas.openxmlformats.org/drawingml/2006/main">
              <a:ext uri="{FF2B5EF4-FFF2-40B4-BE49-F238E27FC236}">
                <a16:creationId xmlns:a16="http://schemas.microsoft.com/office/drawing/2014/main" id="{1C0DAA24-4EEC-49C6-9319-21C630F3FE4B}"/>
              </a:ext>
            </a:extLst>
          </p:cNvPr>
          <p:cNvSpPr>
            <a:spLocks xmlns:a="http://schemas.openxmlformats.org/drawingml/2006/main" noGrp="1"/>
          </p:cNvSpPr>
          <p:nvPr/>
        </p:nvSpPr>
        <p:spPr>
          <a:xfrm xmlns:a="http://schemas.openxmlformats.org/drawingml/2006/main">
            <a:off x="11144250" y="65722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04</a:t>
            </a:r>
          </a:p>
        </p:txBody>
      </p:sp>
    </p:spTree>
    <p:extLst>
      <p:ext uri="{BB962C8B-B14F-4D97-AF65-F5344CB8AC3E}">
        <p14:creationId xmlns:p14="http://schemas.microsoft.com/office/powerpoint/2010/main" val="1631997100"/>
      </p:ext>
    </p:extLst>
  </p:cSld>
</p:sld>
</file>

<file path=ppt/slides/slide5.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26" name="top-signal-5">
            <a:extLst xmlns:a="http://schemas.openxmlformats.org/drawingml/2006/main">
              <a:ext uri="{FF2B5EF4-FFF2-40B4-BE49-F238E27FC236}">
                <a16:creationId xmlns:a16="http://schemas.microsoft.com/office/drawing/2014/main" id="{A144CFAF-040B-4AB1-B054-37DBCE6A839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5">
            <a:extLst xmlns:a="http://schemas.openxmlformats.org/drawingml/2006/main">
              <a:ext uri="{FF2B5EF4-FFF2-40B4-BE49-F238E27FC236}">
                <a16:creationId xmlns:a16="http://schemas.microsoft.com/office/drawing/2014/main" id="{88AE5602-36EE-44A2-8DDD-B200839FF91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3" name="signal-line-a-5">
            <a:extLst xmlns:a="http://schemas.openxmlformats.org/drawingml/2006/main">
              <a:ext uri="{FF2B5EF4-FFF2-40B4-BE49-F238E27FC236}">
                <a16:creationId xmlns:a16="http://schemas.microsoft.com/office/drawing/2014/main" id="{1758CCF1-05D7-42CF-AC1F-31A2A1977CB3}"/>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5">
            <a:extLst xmlns:a="http://schemas.openxmlformats.org/drawingml/2006/main">
              <a:ext uri="{FF2B5EF4-FFF2-40B4-BE49-F238E27FC236}">
                <a16:creationId xmlns:a16="http://schemas.microsoft.com/office/drawing/2014/main" id="{E3824F54-0D83-4DAE-B526-E4766C19591B}"/>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5">
            <a:extLst xmlns:a="http://schemas.openxmlformats.org/drawingml/2006/main">
              <a:ext uri="{FF2B5EF4-FFF2-40B4-BE49-F238E27FC236}">
                <a16:creationId xmlns:a16="http://schemas.microsoft.com/office/drawing/2014/main" id="{26D76669-FE1A-47AE-A849-F7793AE80FF3}"/>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kicker-5">
            <a:extLst xmlns:a="http://schemas.openxmlformats.org/drawingml/2006/main">
              <a:ext uri="{FF2B5EF4-FFF2-40B4-BE49-F238E27FC236}">
                <a16:creationId xmlns:a16="http://schemas.microsoft.com/office/drawing/2014/main" id="{FA9E183B-06C6-49E5-8747-80EE5D7C24A5}"/>
              </a:ext>
            </a:extLst>
          </p:cNvPr>
          <p:cNvSpPr>
            <a:spLocks xmlns:a="http://schemas.openxmlformats.org/drawingml/2006/main" noGrp="1"/>
          </p:cNvSpPr>
          <p:nvPr/>
        </p:nvSpPr>
        <p:spPr>
          <a:xfrm xmlns:a="http://schemas.openxmlformats.org/drawingml/2006/main">
            <a:off x="609600" y="3810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COMPANY VALUE</a:t>
            </a:r>
          </a:p>
        </p:txBody>
      </p:sp>
      <p:sp>
        <p:nvSpPr>
          <p:cNvPr id="7" name="title-5">
            <a:extLst xmlns:a="http://schemas.openxmlformats.org/drawingml/2006/main">
              <a:ext uri="{FF2B5EF4-FFF2-40B4-BE49-F238E27FC236}">
                <a16:creationId xmlns:a16="http://schemas.microsoft.com/office/drawing/2014/main" id="{6F3A6424-E88E-4051-8D09-C680FD71043D}"/>
              </a:ext>
            </a:extLst>
          </p:cNvPr>
          <p:cNvSpPr>
            <a:spLocks xmlns:a="http://schemas.openxmlformats.org/drawingml/2006/main" noGrp="1"/>
          </p:cNvSpPr>
          <p:nvPr/>
        </p:nvSpPr>
        <p:spPr>
          <a:xfrm xmlns:a="http://schemas.openxmlformats.org/drawingml/2006/main">
            <a:off x="609600" y="6572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3750" b="1">
                <a:solidFill>
                  <a:srgbClr val="F6FBFF"/>
                </a:solidFill>
                <a:latin typeface="Aptos Display"/>
                <a:ea typeface="Aptos Display"/>
                <a:cs typeface="Aptos Display"/>
              </a:defRPr>
            </a:pPr>
            <a:r>
              <a:rPr sz="3750" b="1">
                <a:solidFill>
                  <a:srgbClr val="F6FBFF"/>
                </a:solidFill>
                <a:latin typeface="Aptos Display"/>
                <a:ea typeface="Aptos Display"/>
                <a:cs typeface="Aptos Display"/>
              </a:rPr>
              <a:t>Sources are self-service—not hard-coded</a:t>
            </a:r>
          </a:p>
        </p:txBody>
      </p:sp>
      <p:sp>
        <p:nvSpPr>
          <p:cNvPr id="8" name="subtitle-5">
            <a:extLst xmlns:a="http://schemas.openxmlformats.org/drawingml/2006/main">
              <a:ext uri="{FF2B5EF4-FFF2-40B4-BE49-F238E27FC236}">
                <a16:creationId xmlns:a16="http://schemas.microsoft.com/office/drawing/2014/main" id="{FBF2187A-313B-41DE-93B9-3DE2A1479DC4}"/>
              </a:ext>
            </a:extLst>
          </p:cNvPr>
          <p:cNvSpPr>
            <a:spLocks xmlns:a="http://schemas.openxmlformats.org/drawingml/2006/main" noGrp="1"/>
          </p:cNvSpPr>
          <p:nvPr/>
        </p:nvSpPr>
        <p:spPr>
          <a:xfrm xmlns:a="http://schemas.openxmlformats.org/drawingml/2006/main">
            <a:off x="628650" y="12382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83A4BA"/>
                </a:solidFill>
                <a:latin typeface="Aptos"/>
                <a:ea typeface="Aptos"/>
                <a:cs typeface="Aptos"/>
              </a:defRPr>
            </a:pPr>
            <a:r>
              <a:rPr sz="1725" b="0">
                <a:solidFill>
                  <a:srgbClr val="83A4BA"/>
                </a:solidFill>
                <a:latin typeface="Aptos"/>
                <a:ea typeface="Aptos"/>
                <a:cs typeface="Aptos"/>
              </a:rPr>
              <a:t>Configure where evidence comes from, what to collect, and which business signal matters.</a:t>
            </a:r>
          </a:p>
        </p:txBody>
      </p:sp>
      <p:sp>
        <p:nvSpPr>
          <p:cNvPr id="9" name="company-big-copy">
            <a:extLst xmlns:a="http://schemas.openxmlformats.org/drawingml/2006/main">
              <a:ext uri="{FF2B5EF4-FFF2-40B4-BE49-F238E27FC236}">
                <a16:creationId xmlns:a16="http://schemas.microsoft.com/office/drawing/2014/main" id="{D21AACD8-D9F5-43E9-8877-E97A69C7BF98}"/>
              </a:ext>
            </a:extLst>
          </p:cNvPr>
          <p:cNvSpPr>
            <a:spLocks xmlns:a="http://schemas.openxmlformats.org/drawingml/2006/main" noGrp="1"/>
          </p:cNvSpPr>
          <p:nvPr/>
        </p:nvSpPr>
        <p:spPr>
          <a:xfrm xmlns:a="http://schemas.openxmlformats.org/drawingml/2006/main">
            <a:off x="647700" y="1952625"/>
            <a:ext cx="4048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F6FBFF"/>
                </a:solidFill>
                <a:latin typeface="Aptos"/>
                <a:ea typeface="Aptos"/>
                <a:cs typeface="Aptos"/>
              </a:defRPr>
            </a:pPr>
            <a:r>
              <a:rPr sz="2250" b="1">
                <a:solidFill>
                  <a:srgbClr val="F6FBFF"/>
                </a:solidFill>
                <a:latin typeface="Aptos"/>
                <a:ea typeface="Aptos"/>
                <a:cs typeface="Aptos"/>
              </a:rPr>
              <a:t>Track events, sales, or operations without rebuilding the product.</a:t>
            </a:r>
          </a:p>
        </p:txBody>
      </p:sp>
      <p:sp>
        <p:nvSpPr>
          <p:cNvPr id="10" name="company-bullet-1-dot">
            <a:extLst xmlns:a="http://schemas.openxmlformats.org/drawingml/2006/main">
              <a:ext uri="{FF2B5EF4-FFF2-40B4-BE49-F238E27FC236}">
                <a16:creationId xmlns:a16="http://schemas.microsoft.com/office/drawing/2014/main" id="{E2ECCAF8-D34D-4AA4-92E2-CE9FD154B464}"/>
              </a:ext>
            </a:extLst>
          </p:cNvPr>
          <p:cNvSpPr>
            <a:spLocks xmlns:a="http://schemas.openxmlformats.org/drawingml/2006/main" noGrp="1"/>
          </p:cNvSpPr>
          <p:nvPr/>
        </p:nvSpPr>
        <p:spPr>
          <a:xfrm xmlns:a="http://schemas.openxmlformats.org/drawingml/2006/main">
            <a:off x="685800" y="3238500"/>
            <a:ext cx="95250" cy="95250"/>
          </a:xfrm>
          <a:prstGeom xmlns:a="http://schemas.openxmlformats.org/drawingml/2006/main" prst="ellipse">
            <a:avLst/>
          </a:prstGeom>
          <a:solidFill xmlns:a="http://schemas.openxmlformats.org/drawingml/2006/main">
            <a:srgbClr val="3DDCFF"/>
          </a:solidFill>
          <a:ln xmlns:a="http://schemas.openxmlformats.org/drawingml/2006/main" w="0">
            <a:solidFill>
              <a:srgbClr val="3DDCFF"/>
            </a:solidFill>
            <a:prstDash val="solid"/>
          </a:ln>
        </p:spPr>
      </p:sp>
      <p:sp>
        <p:nvSpPr>
          <p:cNvPr id="11" name="company-bullet-1">
            <a:extLst xmlns:a="http://schemas.openxmlformats.org/drawingml/2006/main">
              <a:ext uri="{FF2B5EF4-FFF2-40B4-BE49-F238E27FC236}">
                <a16:creationId xmlns:a16="http://schemas.microsoft.com/office/drawing/2014/main" id="{03502C6F-AAC7-40C7-BC07-4D8453CE3F6D}"/>
              </a:ext>
            </a:extLst>
          </p:cNvPr>
          <p:cNvSpPr>
            <a:spLocks xmlns:a="http://schemas.openxmlformats.org/drawingml/2006/main" noGrp="1"/>
          </p:cNvSpPr>
          <p:nvPr/>
        </p:nvSpPr>
        <p:spPr>
          <a:xfrm xmlns:a="http://schemas.openxmlformats.org/drawingml/2006/main">
            <a:off x="914400" y="31432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Public websites</a:t>
            </a:r>
          </a:p>
        </p:txBody>
      </p:sp>
      <p:sp>
        <p:nvSpPr>
          <p:cNvPr id="12" name="company-bullet-1-detail">
            <a:extLst xmlns:a="http://schemas.openxmlformats.org/drawingml/2006/main">
              <a:ext uri="{FF2B5EF4-FFF2-40B4-BE49-F238E27FC236}">
                <a16:creationId xmlns:a16="http://schemas.microsoft.com/office/drawing/2014/main" id="{0C31CE89-EA25-4778-BD00-C2751A893604}"/>
              </a:ext>
            </a:extLst>
          </p:cNvPr>
          <p:cNvSpPr>
            <a:spLocks xmlns:a="http://schemas.openxmlformats.org/drawingml/2006/main" noGrp="1"/>
          </p:cNvSpPr>
          <p:nvPr/>
        </p:nvSpPr>
        <p:spPr>
          <a:xfrm xmlns:a="http://schemas.openxmlformats.org/drawingml/2006/main">
            <a:off x="914400" y="34480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83A4BA"/>
                </a:solidFill>
                <a:latin typeface="Aptos"/>
                <a:ea typeface="Aptos"/>
                <a:cs typeface="Aptos"/>
              </a:defRPr>
            </a:pPr>
            <a:r>
              <a:rPr sz="1500" b="0">
                <a:solidFill>
                  <a:srgbClr val="83A4BA"/>
                </a:solidFill>
                <a:latin typeface="Aptos"/>
                <a:ea typeface="Aptos"/>
                <a:cs typeface="Aptos"/>
              </a:rPr>
              <a:t>Paste a URL + state the collection goal</a:t>
            </a:r>
          </a:p>
        </p:txBody>
      </p:sp>
      <p:sp>
        <p:nvSpPr>
          <p:cNvPr id="13" name="company-bullet-2-dot">
            <a:extLst xmlns:a="http://schemas.openxmlformats.org/drawingml/2006/main">
              <a:ext uri="{FF2B5EF4-FFF2-40B4-BE49-F238E27FC236}">
                <a16:creationId xmlns:a16="http://schemas.microsoft.com/office/drawing/2014/main" id="{CDAD439E-4D6A-4643-A69E-C19E071BF256}"/>
              </a:ext>
            </a:extLst>
          </p:cNvPr>
          <p:cNvSpPr>
            <a:spLocks xmlns:a="http://schemas.openxmlformats.org/drawingml/2006/main" noGrp="1"/>
          </p:cNvSpPr>
          <p:nvPr/>
        </p:nvSpPr>
        <p:spPr>
          <a:xfrm xmlns:a="http://schemas.openxmlformats.org/drawingml/2006/main">
            <a:off x="685800" y="4124325"/>
            <a:ext cx="95250" cy="95250"/>
          </a:xfrm>
          <a:prstGeom xmlns:a="http://schemas.openxmlformats.org/drawingml/2006/main" prst="ellipse">
            <a:avLst/>
          </a:prstGeom>
          <a:solidFill xmlns:a="http://schemas.openxmlformats.org/drawingml/2006/main">
            <a:srgbClr val="29E7B1"/>
          </a:solidFill>
          <a:ln xmlns:a="http://schemas.openxmlformats.org/drawingml/2006/main" w="0">
            <a:solidFill>
              <a:srgbClr val="29E7B1"/>
            </a:solidFill>
            <a:prstDash val="solid"/>
          </a:ln>
        </p:spPr>
      </p:sp>
      <p:sp>
        <p:nvSpPr>
          <p:cNvPr id="14" name="company-bullet-2">
            <a:extLst xmlns:a="http://schemas.openxmlformats.org/drawingml/2006/main">
              <a:ext uri="{FF2B5EF4-FFF2-40B4-BE49-F238E27FC236}">
                <a16:creationId xmlns:a16="http://schemas.microsoft.com/office/drawing/2014/main" id="{02806046-94B7-458B-BD81-CA216297CA59}"/>
              </a:ext>
            </a:extLst>
          </p:cNvPr>
          <p:cNvSpPr>
            <a:spLocks xmlns:a="http://schemas.openxmlformats.org/drawingml/2006/main" noGrp="1"/>
          </p:cNvSpPr>
          <p:nvPr/>
        </p:nvSpPr>
        <p:spPr>
          <a:xfrm xmlns:a="http://schemas.openxmlformats.org/drawingml/2006/main">
            <a:off x="914400" y="402907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Gmail + Microsoft</a:t>
            </a:r>
          </a:p>
        </p:txBody>
      </p:sp>
      <p:sp>
        <p:nvSpPr>
          <p:cNvPr id="15" name="company-bullet-2-detail">
            <a:extLst xmlns:a="http://schemas.openxmlformats.org/drawingml/2006/main">
              <a:ext uri="{FF2B5EF4-FFF2-40B4-BE49-F238E27FC236}">
                <a16:creationId xmlns:a16="http://schemas.microsoft.com/office/drawing/2014/main" id="{EA646C9F-D019-4412-8CD8-F8C29A52D1E4}"/>
              </a:ext>
            </a:extLst>
          </p:cNvPr>
          <p:cNvSpPr>
            <a:spLocks xmlns:a="http://schemas.openxmlformats.org/drawingml/2006/main" noGrp="1"/>
          </p:cNvSpPr>
          <p:nvPr/>
        </p:nvSpPr>
        <p:spPr>
          <a:xfrm xmlns:a="http://schemas.openxmlformats.org/drawingml/2006/main">
            <a:off x="914400" y="4333875"/>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83A4BA"/>
                </a:solidFill>
                <a:latin typeface="Aptos"/>
                <a:ea typeface="Aptos"/>
                <a:cs typeface="Aptos"/>
              </a:defRPr>
            </a:pPr>
            <a:r>
              <a:rPr sz="1500" b="0">
                <a:solidFill>
                  <a:srgbClr val="83A4BA"/>
                </a:solidFill>
                <a:latin typeface="Aptos"/>
                <a:ea typeface="Aptos"/>
                <a:cs typeface="Aptos"/>
              </a:rPr>
              <a:t>Real read-only OAuth per email account</a:t>
            </a:r>
          </a:p>
        </p:txBody>
      </p:sp>
      <p:sp>
        <p:nvSpPr>
          <p:cNvPr id="16" name="company-bullet-3-dot">
            <a:extLst xmlns:a="http://schemas.openxmlformats.org/drawingml/2006/main">
              <a:ext uri="{FF2B5EF4-FFF2-40B4-BE49-F238E27FC236}">
                <a16:creationId xmlns:a16="http://schemas.microsoft.com/office/drawing/2014/main" id="{3721037B-BF41-4FD7-8495-C7B81E2A84FF}"/>
              </a:ext>
            </a:extLst>
          </p:cNvPr>
          <p:cNvSpPr>
            <a:spLocks xmlns:a="http://schemas.openxmlformats.org/drawingml/2006/main" noGrp="1"/>
          </p:cNvSpPr>
          <p:nvPr/>
        </p:nvSpPr>
        <p:spPr>
          <a:xfrm xmlns:a="http://schemas.openxmlformats.org/drawingml/2006/main">
            <a:off x="685800" y="5010150"/>
            <a:ext cx="95250" cy="95250"/>
          </a:xfrm>
          <a:prstGeom xmlns:a="http://schemas.openxmlformats.org/drawingml/2006/main" prst="ellipse">
            <a:avLst/>
          </a:prstGeom>
          <a:solidFill xmlns:a="http://schemas.openxmlformats.org/drawingml/2006/main">
            <a:srgbClr val="FFC24A"/>
          </a:solidFill>
          <a:ln xmlns:a="http://schemas.openxmlformats.org/drawingml/2006/main" w="0">
            <a:solidFill>
              <a:srgbClr val="FFC24A"/>
            </a:solidFill>
            <a:prstDash val="solid"/>
          </a:ln>
        </p:spPr>
      </p:sp>
      <p:sp>
        <p:nvSpPr>
          <p:cNvPr id="17" name="company-bullet-3">
            <a:extLst xmlns:a="http://schemas.openxmlformats.org/drawingml/2006/main">
              <a:ext uri="{FF2B5EF4-FFF2-40B4-BE49-F238E27FC236}">
                <a16:creationId xmlns:a16="http://schemas.microsoft.com/office/drawing/2014/main" id="{673A642E-5E10-418E-9775-8C470EFBE353}"/>
              </a:ext>
            </a:extLst>
          </p:cNvPr>
          <p:cNvSpPr>
            <a:spLocks xmlns:a="http://schemas.openxmlformats.org/drawingml/2006/main" noGrp="1"/>
          </p:cNvSpPr>
          <p:nvPr/>
        </p:nvSpPr>
        <p:spPr>
          <a:xfrm xmlns:a="http://schemas.openxmlformats.org/drawingml/2006/main">
            <a:off x="914400" y="49149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Operator control</a:t>
            </a:r>
          </a:p>
        </p:txBody>
      </p:sp>
      <p:sp>
        <p:nvSpPr>
          <p:cNvPr id="18" name="company-bullet-3-detail">
            <a:extLst xmlns:a="http://schemas.openxmlformats.org/drawingml/2006/main">
              <a:ext uri="{FF2B5EF4-FFF2-40B4-BE49-F238E27FC236}">
                <a16:creationId xmlns:a16="http://schemas.microsoft.com/office/drawing/2014/main" id="{58DE61A1-5C1E-4498-9797-5791153425F8}"/>
              </a:ext>
            </a:extLst>
          </p:cNvPr>
          <p:cNvSpPr>
            <a:spLocks xmlns:a="http://schemas.openxmlformats.org/drawingml/2006/main" noGrp="1"/>
          </p:cNvSpPr>
          <p:nvPr/>
        </p:nvSpPr>
        <p:spPr>
          <a:xfrm xmlns:a="http://schemas.openxmlformats.org/drawingml/2006/main">
            <a:off x="914400" y="52197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83A4BA"/>
                </a:solidFill>
                <a:latin typeface="Aptos"/>
                <a:ea typeface="Aptos"/>
                <a:cs typeface="Aptos"/>
              </a:defRPr>
            </a:pPr>
            <a:r>
              <a:rPr sz="1500" b="0">
                <a:solidFill>
                  <a:srgbClr val="83A4BA"/>
                </a:solidFill>
                <a:latin typeface="Aptos"/>
                <a:ea typeface="Aptos"/>
                <a:cs typeface="Aptos"/>
              </a:rPr>
              <a:t>Add / remove sites · connect / disconnect email</a:t>
            </a:r>
          </a:p>
        </p:txBody>
      </p:sp>
      <p:sp>
        <p:nvSpPr>
          <p:cNvPr id="19" name="source-boundary">
            <a:extLst xmlns:a="http://schemas.openxmlformats.org/drawingml/2006/main">
              <a:ext uri="{FF2B5EF4-FFF2-40B4-BE49-F238E27FC236}">
                <a16:creationId xmlns:a16="http://schemas.microsoft.com/office/drawing/2014/main" id="{ADE15165-F2D2-4D8A-882F-3C10F6938DCE}"/>
              </a:ext>
            </a:extLst>
          </p:cNvPr>
          <p:cNvSpPr>
            <a:spLocks xmlns:a="http://schemas.openxmlformats.org/drawingml/2006/main" noGrp="1"/>
          </p:cNvSpPr>
          <p:nvPr/>
        </p:nvSpPr>
        <p:spPr>
          <a:xfrm xmlns:a="http://schemas.openxmlformats.org/drawingml/2006/main">
            <a:off x="914400" y="5857875"/>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83A4BA"/>
                </a:solidFill>
                <a:latin typeface="Aptos"/>
                <a:ea typeface="Aptos"/>
                <a:cs typeface="Aptos"/>
              </a:defRPr>
            </a:pPr>
            <a:r>
              <a:rPr sz="1350" b="0">
                <a:solidFill>
                  <a:srgbClr val="83A4BA"/>
                </a:solidFill>
                <a:latin typeface="Aptos"/>
                <a:ea typeface="Aptos"/>
                <a:cs typeface="Aptos"/>
              </a:rPr>
              <a:t>Disconnect stops access. Delete removes local catalog data. They are different controls.</a:t>
            </a:r>
          </a:p>
        </p:txBody>
      </p:sp>
      <p:sp>
        <p:nvSpPr>
          <p:cNvPr id="20" name="sources-frame">
            <a:extLst xmlns:a="http://schemas.openxmlformats.org/drawingml/2006/main">
              <a:ext uri="{FF2B5EF4-FFF2-40B4-BE49-F238E27FC236}">
                <a16:creationId xmlns:a16="http://schemas.microsoft.com/office/drawing/2014/main" id="{BF9B1F3E-A6DF-4EBF-910A-A68EA5287E89}"/>
              </a:ext>
            </a:extLst>
          </p:cNvPr>
          <p:cNvSpPr>
            <a:spLocks xmlns:a="http://schemas.openxmlformats.org/drawingml/2006/main" noGrp="1"/>
          </p:cNvSpPr>
          <p:nvPr/>
        </p:nvSpPr>
        <p:spPr>
          <a:xfrm xmlns:a="http://schemas.openxmlformats.org/drawingml/2006/main">
            <a:off x="4953000" y="1876425"/>
            <a:ext cx="6648450" cy="4171950"/>
          </a:xfrm>
          <a:prstGeom xmlns:a="http://schemas.openxmlformats.org/drawingml/2006/main" prst="roundRect">
            <a:avLst>
              <a:gd name="adj" fmla="val 2740"/>
            </a:avLst>
          </a:prstGeom>
          <a:solidFill xmlns:a="http://schemas.openxmlformats.org/drawingml/2006/main">
            <a:srgbClr val="071421"/>
          </a:solidFill>
          <a:ln xmlns:a="http://schemas.openxmlformats.org/drawingml/2006/main" w="19050">
            <a:solidFill>
              <a:srgbClr val="099DCC"/>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c5c418dd749a4cb7"/>
          <a:stretch xmlns:a="http://schemas.openxmlformats.org/drawingml/2006/main"/>
        </p:blipFill>
        <p:spPr>
          <a:xfrm xmlns:a="http://schemas.openxmlformats.org/drawingml/2006/main">
            <a:off x="5031105" y="1933575"/>
            <a:ext cx="6492240" cy="4057650"/>
          </a:xfrm>
          <a:prstGeom xmlns:a="http://schemas.openxmlformats.org/drawingml/2006/main" prst="roundRect">
            <a:avLst>
              <a:gd name="adj" fmla="val 1878"/>
            </a:avLst>
          </a:prstGeom>
        </p:spPr>
      </p:pic>
      <p:sp>
        <p:nvSpPr>
          <p:cNvPr id="22" name="sources-caption">
            <a:extLst xmlns:a="http://schemas.openxmlformats.org/drawingml/2006/main">
              <a:ext uri="{FF2B5EF4-FFF2-40B4-BE49-F238E27FC236}">
                <a16:creationId xmlns:a16="http://schemas.microsoft.com/office/drawing/2014/main" id="{919B6537-D66B-4CE9-868A-813AE6DF1264}"/>
              </a:ext>
            </a:extLst>
          </p:cNvPr>
          <p:cNvSpPr>
            <a:spLocks xmlns:a="http://schemas.openxmlformats.org/drawingml/2006/main" noGrp="1"/>
          </p:cNvSpPr>
          <p:nvPr/>
        </p:nvSpPr>
        <p:spPr>
          <a:xfrm xmlns:a="http://schemas.openxmlformats.org/drawingml/2006/main">
            <a:off x="5467350" y="6105525"/>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1">
                <a:solidFill>
                  <a:srgbClr val="3DDCFF"/>
                </a:solidFill>
                <a:latin typeface="Aptos Mono"/>
                <a:ea typeface="Aptos Mono"/>
                <a:cs typeface="Aptos Mono"/>
              </a:defRPr>
            </a:pPr>
            <a:r>
              <a:rPr sz="1050" b="1">
                <a:solidFill>
                  <a:srgbClr val="3DDCFF"/>
                </a:solidFill>
                <a:latin typeface="Aptos Mono"/>
                <a:ea typeface="Aptos Mono"/>
                <a:cs typeface="Aptos Mono"/>
              </a:rPr>
              <a:t>VISIBLE SOURCE CONTROL  ·  URL + COLLECTION GOAL  ·  ADD / SCAN / REMOVE</a:t>
            </a:r>
          </a:p>
        </p:txBody>
      </p:sp>
      <p:sp>
        <p:nvSpPr>
          <p:cNvPr id="23" name="footer-line-5">
            <a:extLst xmlns:a="http://schemas.openxmlformats.org/drawingml/2006/main">
              <a:ext uri="{FF2B5EF4-FFF2-40B4-BE49-F238E27FC236}">
                <a16:creationId xmlns:a16="http://schemas.microsoft.com/office/drawing/2014/main" id="{CEC38D98-8618-46C5-9C25-3BA7EB812C8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4" name="footer-brand-5">
            <a:extLst xmlns:a="http://schemas.openxmlformats.org/drawingml/2006/main">
              <a:ext uri="{FF2B5EF4-FFF2-40B4-BE49-F238E27FC236}">
                <a16:creationId xmlns:a16="http://schemas.microsoft.com/office/drawing/2014/main" id="{61B6F1B4-34CE-4838-8AF5-79014CFD21FE}"/>
              </a:ext>
            </a:extLst>
          </p:cNvPr>
          <p:cNvSpPr>
            <a:spLocks xmlns:a="http://schemas.openxmlformats.org/drawingml/2006/main" noGrp="1"/>
          </p:cNvSpPr>
          <p:nvPr/>
        </p:nvSpPr>
        <p:spPr>
          <a:xfrm xmlns:a="http://schemas.openxmlformats.org/drawingml/2006/main">
            <a:off x="6096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46657A"/>
                </a:solidFill>
                <a:latin typeface="Aptos Mono"/>
                <a:ea typeface="Aptos Mono"/>
                <a:cs typeface="Aptos Mono"/>
              </a:defRPr>
            </a:pPr>
            <a:r>
              <a:rPr sz="975" b="1">
                <a:solidFill>
                  <a:srgbClr val="46657A"/>
                </a:solidFill>
                <a:latin typeface="Aptos Mono"/>
                <a:ea typeface="Aptos Mono"/>
                <a:cs typeface="Aptos Mono"/>
              </a:rPr>
              <a:t>CONTEXTGATE  /  KIRA LABS</a:t>
            </a:r>
          </a:p>
        </p:txBody>
      </p:sp>
      <p:sp>
        <p:nvSpPr>
          <p:cNvPr id="25" name="footer-number-5">
            <a:extLst xmlns:a="http://schemas.openxmlformats.org/drawingml/2006/main">
              <a:ext uri="{FF2B5EF4-FFF2-40B4-BE49-F238E27FC236}">
                <a16:creationId xmlns:a16="http://schemas.microsoft.com/office/drawing/2014/main" id="{918DAC20-9246-4CF8-BD61-5125FB1F13A0}"/>
              </a:ext>
            </a:extLst>
          </p:cNvPr>
          <p:cNvSpPr>
            <a:spLocks xmlns:a="http://schemas.openxmlformats.org/drawingml/2006/main" noGrp="1"/>
          </p:cNvSpPr>
          <p:nvPr/>
        </p:nvSpPr>
        <p:spPr>
          <a:xfrm xmlns:a="http://schemas.openxmlformats.org/drawingml/2006/main">
            <a:off x="11144250" y="65722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05</a:t>
            </a:r>
          </a:p>
        </p:txBody>
      </p:sp>
    </p:spTree>
    <p:extLst>
      <p:ext uri="{BB962C8B-B14F-4D97-AF65-F5344CB8AC3E}">
        <p14:creationId xmlns:p14="http://schemas.microsoft.com/office/powerpoint/2010/main" val="164774024"/>
      </p:ext>
    </p:extLst>
  </p:cSld>
</p:sld>
</file>

<file path=ppt/slides/slide6.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26" name="top-signal-6">
            <a:extLst xmlns:a="http://schemas.openxmlformats.org/drawingml/2006/main">
              <a:ext uri="{FF2B5EF4-FFF2-40B4-BE49-F238E27FC236}">
                <a16:creationId xmlns:a16="http://schemas.microsoft.com/office/drawing/2014/main" id="{376EBF99-E8B2-4FA4-A7FA-E05A387F16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6">
            <a:extLst xmlns:a="http://schemas.openxmlformats.org/drawingml/2006/main">
              <a:ext uri="{FF2B5EF4-FFF2-40B4-BE49-F238E27FC236}">
                <a16:creationId xmlns:a16="http://schemas.microsoft.com/office/drawing/2014/main" id="{F2E310B4-7539-476A-BAEB-021DE24F953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3" name="signal-line-a-6">
            <a:extLst xmlns:a="http://schemas.openxmlformats.org/drawingml/2006/main">
              <a:ext uri="{FF2B5EF4-FFF2-40B4-BE49-F238E27FC236}">
                <a16:creationId xmlns:a16="http://schemas.microsoft.com/office/drawing/2014/main" id="{5789A5EA-0ECE-40CB-A6E1-7DF943110029}"/>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6">
            <a:extLst xmlns:a="http://schemas.openxmlformats.org/drawingml/2006/main">
              <a:ext uri="{FF2B5EF4-FFF2-40B4-BE49-F238E27FC236}">
                <a16:creationId xmlns:a16="http://schemas.microsoft.com/office/drawing/2014/main" id="{10254C82-895B-48D5-8E05-DCC21B1D12F3}"/>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6">
            <a:extLst xmlns:a="http://schemas.openxmlformats.org/drawingml/2006/main">
              <a:ext uri="{FF2B5EF4-FFF2-40B4-BE49-F238E27FC236}">
                <a16:creationId xmlns:a16="http://schemas.microsoft.com/office/drawing/2014/main" id="{44888CE4-B148-4C65-ABBF-806CFFDE7027}"/>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kicker-6">
            <a:extLst xmlns:a="http://schemas.openxmlformats.org/drawingml/2006/main">
              <a:ext uri="{FF2B5EF4-FFF2-40B4-BE49-F238E27FC236}">
                <a16:creationId xmlns:a16="http://schemas.microsoft.com/office/drawing/2014/main" id="{5B7AD13B-4C5D-4810-A1F6-BBCB63FC75F2}"/>
              </a:ext>
            </a:extLst>
          </p:cNvPr>
          <p:cNvSpPr>
            <a:spLocks xmlns:a="http://schemas.openxmlformats.org/drawingml/2006/main" noGrp="1"/>
          </p:cNvSpPr>
          <p:nvPr/>
        </p:nvSpPr>
        <p:spPr>
          <a:xfrm xmlns:a="http://schemas.openxmlformats.org/drawingml/2006/main">
            <a:off x="609600" y="3810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PERSONAL USE</a:t>
            </a:r>
          </a:p>
        </p:txBody>
      </p:sp>
      <p:sp>
        <p:nvSpPr>
          <p:cNvPr id="7" name="title-6">
            <a:extLst xmlns:a="http://schemas.openxmlformats.org/drawingml/2006/main">
              <a:ext uri="{FF2B5EF4-FFF2-40B4-BE49-F238E27FC236}">
                <a16:creationId xmlns:a16="http://schemas.microsoft.com/office/drawing/2014/main" id="{8410BD9A-F971-4987-B198-5DB98BDB73C3}"/>
              </a:ext>
            </a:extLst>
          </p:cNvPr>
          <p:cNvSpPr>
            <a:spLocks xmlns:a="http://schemas.openxmlformats.org/drawingml/2006/main" noGrp="1"/>
          </p:cNvSpPr>
          <p:nvPr/>
        </p:nvSpPr>
        <p:spPr>
          <a:xfrm xmlns:a="http://schemas.openxmlformats.org/drawingml/2006/main">
            <a:off x="609600" y="6572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3750" b="1">
                <a:solidFill>
                  <a:srgbClr val="F6FBFF"/>
                </a:solidFill>
                <a:latin typeface="Aptos Display"/>
                <a:ea typeface="Aptos Display"/>
                <a:cs typeface="Aptos Display"/>
              </a:defRPr>
            </a:pPr>
            <a:r>
              <a:rPr sz="3750" b="1">
                <a:solidFill>
                  <a:srgbClr val="F6FBFF"/>
                </a:solidFill>
                <a:latin typeface="Aptos Display"/>
                <a:ea typeface="Aptos Display"/>
                <a:cs typeface="Aptos Display"/>
              </a:rPr>
              <a:t>A personal control room for life admin</a:t>
            </a:r>
          </a:p>
        </p:txBody>
      </p:sp>
      <p:sp>
        <p:nvSpPr>
          <p:cNvPr id="8" name="subtitle-6">
            <a:extLst xmlns:a="http://schemas.openxmlformats.org/drawingml/2006/main">
              <a:ext uri="{FF2B5EF4-FFF2-40B4-BE49-F238E27FC236}">
                <a16:creationId xmlns:a16="http://schemas.microsoft.com/office/drawing/2014/main" id="{031801EB-A5DE-4DDA-A99F-F962B7A94DFC}"/>
              </a:ext>
            </a:extLst>
          </p:cNvPr>
          <p:cNvSpPr>
            <a:spLocks xmlns:a="http://schemas.openxmlformats.org/drawingml/2006/main" noGrp="1"/>
          </p:cNvSpPr>
          <p:nvPr/>
        </p:nvSpPr>
        <p:spPr>
          <a:xfrm xmlns:a="http://schemas.openxmlformats.org/drawingml/2006/main">
            <a:off x="628650" y="12382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83A4BA"/>
                </a:solidFill>
                <a:latin typeface="Aptos"/>
                <a:ea typeface="Aptos"/>
                <a:cs typeface="Aptos"/>
              </a:defRPr>
            </a:pPr>
            <a:r>
              <a:rPr sz="1725" b="0">
                <a:solidFill>
                  <a:srgbClr val="83A4BA"/>
                </a:solidFill>
                <a:latin typeface="Aptos"/>
                <a:ea typeface="Aptos"/>
                <a:cs typeface="Aptos"/>
              </a:rPr>
              <a:t>The same evidence discipline helps one person stay ahead of changing plans.</a:t>
            </a:r>
          </a:p>
        </p:txBody>
      </p:sp>
      <p:sp>
        <p:nvSpPr>
          <p:cNvPr id="9" name="calendar-frame">
            <a:extLst xmlns:a="http://schemas.openxmlformats.org/drawingml/2006/main">
              <a:ext uri="{FF2B5EF4-FFF2-40B4-BE49-F238E27FC236}">
                <a16:creationId xmlns:a16="http://schemas.microsoft.com/office/drawing/2014/main" id="{EEE9CCB4-EE80-4C1F-9D03-D3EF01DC1D52}"/>
              </a:ext>
            </a:extLst>
          </p:cNvPr>
          <p:cNvSpPr>
            <a:spLocks xmlns:a="http://schemas.openxmlformats.org/drawingml/2006/main" noGrp="1"/>
          </p:cNvSpPr>
          <p:nvPr/>
        </p:nvSpPr>
        <p:spPr>
          <a:xfrm xmlns:a="http://schemas.openxmlformats.org/drawingml/2006/main">
            <a:off x="590550" y="1885950"/>
            <a:ext cx="6858000" cy="4286250"/>
          </a:xfrm>
          <a:prstGeom xmlns:a="http://schemas.openxmlformats.org/drawingml/2006/main" prst="roundRect">
            <a:avLst>
              <a:gd name="adj" fmla="val 2667"/>
            </a:avLst>
          </a:prstGeom>
          <a:solidFill xmlns:a="http://schemas.openxmlformats.org/drawingml/2006/main">
            <a:srgbClr val="071421"/>
          </a:solidFill>
          <a:ln xmlns:a="http://schemas.openxmlformats.org/drawingml/2006/main" w="19050">
            <a:solidFill>
              <a:srgbClr val="099DCC"/>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e409949d2f942f1"/>
          <a:stretch xmlns:a="http://schemas.openxmlformats.org/drawingml/2006/main"/>
        </p:blipFill>
        <p:spPr>
          <a:xfrm xmlns:a="http://schemas.openxmlformats.org/drawingml/2006/main">
            <a:off x="681990" y="1943100"/>
            <a:ext cx="6675120" cy="4171950"/>
          </a:xfrm>
          <a:prstGeom xmlns:a="http://schemas.openxmlformats.org/drawingml/2006/main" prst="roundRect">
            <a:avLst>
              <a:gd name="adj" fmla="val 1826"/>
            </a:avLst>
          </a:prstGeom>
        </p:spPr>
      </p:pic>
      <p:sp>
        <p:nvSpPr>
          <p:cNvPr id="11" name="personal-why">
            <a:extLst xmlns:a="http://schemas.openxmlformats.org/drawingml/2006/main">
              <a:ext uri="{FF2B5EF4-FFF2-40B4-BE49-F238E27FC236}">
                <a16:creationId xmlns:a16="http://schemas.microsoft.com/office/drawing/2014/main" id="{67D1CFAF-2BC0-4FD3-A144-71FFDDACF87D}"/>
              </a:ext>
            </a:extLst>
          </p:cNvPr>
          <p:cNvSpPr>
            <a:spLocks xmlns:a="http://schemas.openxmlformats.org/drawingml/2006/main" noGrp="1"/>
          </p:cNvSpPr>
          <p:nvPr/>
        </p:nvSpPr>
        <p:spPr>
          <a:xfrm xmlns:a="http://schemas.openxmlformats.org/drawingml/2006/main">
            <a:off x="7905750" y="1952625"/>
            <a:ext cx="3286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3DDCFF"/>
                </a:solidFill>
                <a:latin typeface="Aptos Mono"/>
                <a:ea typeface="Aptos Mono"/>
                <a:cs typeface="Aptos Mono"/>
              </a:defRPr>
            </a:pPr>
            <a:r>
              <a:rPr sz="1275" b="1">
                <a:solidFill>
                  <a:srgbClr val="3DDCFF"/>
                </a:solidFill>
                <a:latin typeface="Aptos Mono"/>
                <a:ea typeface="Aptos Mono"/>
                <a:cs typeface="Aptos Mono"/>
              </a:rPr>
              <a:t>TRACK WHAT CHANGES</a:t>
            </a:r>
          </a:p>
        </p:txBody>
      </p:sp>
      <p:sp>
        <p:nvSpPr>
          <p:cNvPr id="12" name="personal-1-dot">
            <a:extLst xmlns:a="http://schemas.openxmlformats.org/drawingml/2006/main">
              <a:ext uri="{FF2B5EF4-FFF2-40B4-BE49-F238E27FC236}">
                <a16:creationId xmlns:a16="http://schemas.microsoft.com/office/drawing/2014/main" id="{F4B76413-1CC1-4B13-94E0-A42F4C6B633B}"/>
              </a:ext>
            </a:extLst>
          </p:cNvPr>
          <p:cNvSpPr>
            <a:spLocks xmlns:a="http://schemas.openxmlformats.org/drawingml/2006/main" noGrp="1"/>
          </p:cNvSpPr>
          <p:nvPr/>
        </p:nvSpPr>
        <p:spPr>
          <a:xfrm xmlns:a="http://schemas.openxmlformats.org/drawingml/2006/main">
            <a:off x="7867650" y="2476500"/>
            <a:ext cx="95250" cy="95250"/>
          </a:xfrm>
          <a:prstGeom xmlns:a="http://schemas.openxmlformats.org/drawingml/2006/main" prst="ellipse">
            <a:avLst/>
          </a:prstGeom>
          <a:solidFill xmlns:a="http://schemas.openxmlformats.org/drawingml/2006/main">
            <a:srgbClr val="3DDCFF"/>
          </a:solidFill>
          <a:ln xmlns:a="http://schemas.openxmlformats.org/drawingml/2006/main" w="0">
            <a:solidFill>
              <a:srgbClr val="3DDCFF"/>
            </a:solidFill>
            <a:prstDash val="solid"/>
          </a:ln>
        </p:spPr>
      </p:sp>
      <p:sp>
        <p:nvSpPr>
          <p:cNvPr id="13" name="personal-1">
            <a:extLst xmlns:a="http://schemas.openxmlformats.org/drawingml/2006/main">
              <a:ext uri="{FF2B5EF4-FFF2-40B4-BE49-F238E27FC236}">
                <a16:creationId xmlns:a16="http://schemas.microsoft.com/office/drawing/2014/main" id="{F39CBB81-338B-4E17-B788-1C0EEA2F893F}"/>
              </a:ext>
            </a:extLst>
          </p:cNvPr>
          <p:cNvSpPr>
            <a:spLocks xmlns:a="http://schemas.openxmlformats.org/drawingml/2006/main" noGrp="1"/>
          </p:cNvSpPr>
          <p:nvPr/>
        </p:nvSpPr>
        <p:spPr>
          <a:xfrm xmlns:a="http://schemas.openxmlformats.org/drawingml/2006/main">
            <a:off x="8096250" y="2381250"/>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Hackathons + launch parties</a:t>
            </a:r>
          </a:p>
        </p:txBody>
      </p:sp>
      <p:sp>
        <p:nvSpPr>
          <p:cNvPr id="14" name="personal-2-dot">
            <a:extLst xmlns:a="http://schemas.openxmlformats.org/drawingml/2006/main">
              <a:ext uri="{FF2B5EF4-FFF2-40B4-BE49-F238E27FC236}">
                <a16:creationId xmlns:a16="http://schemas.microsoft.com/office/drawing/2014/main" id="{58638ED2-C8F5-49E8-A0C1-CD7596B70D28}"/>
              </a:ext>
            </a:extLst>
          </p:cNvPr>
          <p:cNvSpPr>
            <a:spLocks xmlns:a="http://schemas.openxmlformats.org/drawingml/2006/main" noGrp="1"/>
          </p:cNvSpPr>
          <p:nvPr/>
        </p:nvSpPr>
        <p:spPr>
          <a:xfrm xmlns:a="http://schemas.openxmlformats.org/drawingml/2006/main">
            <a:off x="7867650" y="3124200"/>
            <a:ext cx="95250" cy="95250"/>
          </a:xfrm>
          <a:prstGeom xmlns:a="http://schemas.openxmlformats.org/drawingml/2006/main" prst="ellipse">
            <a:avLst/>
          </a:prstGeom>
          <a:solidFill xmlns:a="http://schemas.openxmlformats.org/drawingml/2006/main">
            <a:srgbClr val="29E7B1"/>
          </a:solidFill>
          <a:ln xmlns:a="http://schemas.openxmlformats.org/drawingml/2006/main" w="0">
            <a:solidFill>
              <a:srgbClr val="29E7B1"/>
            </a:solidFill>
            <a:prstDash val="solid"/>
          </a:ln>
        </p:spPr>
      </p:sp>
      <p:sp>
        <p:nvSpPr>
          <p:cNvPr id="15" name="personal-2">
            <a:extLst xmlns:a="http://schemas.openxmlformats.org/drawingml/2006/main">
              <a:ext uri="{FF2B5EF4-FFF2-40B4-BE49-F238E27FC236}">
                <a16:creationId xmlns:a16="http://schemas.microsoft.com/office/drawing/2014/main" id="{76629311-A4EE-4C61-9F6C-8075A26908D0}"/>
              </a:ext>
            </a:extLst>
          </p:cNvPr>
          <p:cNvSpPr>
            <a:spLocks xmlns:a="http://schemas.openxmlformats.org/drawingml/2006/main" noGrp="1"/>
          </p:cNvSpPr>
          <p:nvPr/>
        </p:nvSpPr>
        <p:spPr>
          <a:xfrm xmlns:a="http://schemas.openxmlformats.org/drawingml/2006/main">
            <a:off x="8096250" y="3028950"/>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AI + robotics events</a:t>
            </a:r>
          </a:p>
        </p:txBody>
      </p:sp>
      <p:sp>
        <p:nvSpPr>
          <p:cNvPr id="16" name="personal-3-dot">
            <a:extLst xmlns:a="http://schemas.openxmlformats.org/drawingml/2006/main">
              <a:ext uri="{FF2B5EF4-FFF2-40B4-BE49-F238E27FC236}">
                <a16:creationId xmlns:a16="http://schemas.microsoft.com/office/drawing/2014/main" id="{86EFB5E7-5AB6-4615-A5F2-574476D8768B}"/>
              </a:ext>
            </a:extLst>
          </p:cNvPr>
          <p:cNvSpPr>
            <a:spLocks xmlns:a="http://schemas.openxmlformats.org/drawingml/2006/main" noGrp="1"/>
          </p:cNvSpPr>
          <p:nvPr/>
        </p:nvSpPr>
        <p:spPr>
          <a:xfrm xmlns:a="http://schemas.openxmlformats.org/drawingml/2006/main">
            <a:off x="7867650" y="3771900"/>
            <a:ext cx="95250" cy="95250"/>
          </a:xfrm>
          <a:prstGeom xmlns:a="http://schemas.openxmlformats.org/drawingml/2006/main" prst="ellipse">
            <a:avLst/>
          </a:prstGeom>
          <a:solidFill xmlns:a="http://schemas.openxmlformats.org/drawingml/2006/main">
            <a:srgbClr val="FFC24A"/>
          </a:solidFill>
          <a:ln xmlns:a="http://schemas.openxmlformats.org/drawingml/2006/main" w="0">
            <a:solidFill>
              <a:srgbClr val="FFC24A"/>
            </a:solidFill>
            <a:prstDash val="solid"/>
          </a:ln>
        </p:spPr>
      </p:sp>
      <p:sp>
        <p:nvSpPr>
          <p:cNvPr id="17" name="personal-3">
            <a:extLst xmlns:a="http://schemas.openxmlformats.org/drawingml/2006/main">
              <a:ext uri="{FF2B5EF4-FFF2-40B4-BE49-F238E27FC236}">
                <a16:creationId xmlns:a16="http://schemas.microsoft.com/office/drawing/2014/main" id="{76BAE0C2-EBB7-44F4-B8F7-2BA26D35603B}"/>
              </a:ext>
            </a:extLst>
          </p:cNvPr>
          <p:cNvSpPr>
            <a:spLocks xmlns:a="http://schemas.openxmlformats.org/drawingml/2006/main" noGrp="1"/>
          </p:cNvSpPr>
          <p:nvPr/>
        </p:nvSpPr>
        <p:spPr>
          <a:xfrm xmlns:a="http://schemas.openxmlformats.org/drawingml/2006/main">
            <a:off x="8096250" y="3676650"/>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Receipts + purchases</a:t>
            </a:r>
          </a:p>
        </p:txBody>
      </p:sp>
      <p:sp>
        <p:nvSpPr>
          <p:cNvPr id="18" name="personal-4-dot">
            <a:extLst xmlns:a="http://schemas.openxmlformats.org/drawingml/2006/main">
              <a:ext uri="{FF2B5EF4-FFF2-40B4-BE49-F238E27FC236}">
                <a16:creationId xmlns:a16="http://schemas.microsoft.com/office/drawing/2014/main" id="{16B63952-AE2D-4A72-96F6-79AE42E6148D}"/>
              </a:ext>
            </a:extLst>
          </p:cNvPr>
          <p:cNvSpPr>
            <a:spLocks xmlns:a="http://schemas.openxmlformats.org/drawingml/2006/main" noGrp="1"/>
          </p:cNvSpPr>
          <p:nvPr/>
        </p:nvSpPr>
        <p:spPr>
          <a:xfrm xmlns:a="http://schemas.openxmlformats.org/drawingml/2006/main">
            <a:off x="7867650" y="4419600"/>
            <a:ext cx="95250" cy="95250"/>
          </a:xfrm>
          <a:prstGeom xmlns:a="http://schemas.openxmlformats.org/drawingml/2006/main" prst="ellipse">
            <a:avLst/>
          </a:prstGeom>
          <a:solidFill xmlns:a="http://schemas.openxmlformats.org/drawingml/2006/main">
            <a:srgbClr val="3DDCFF"/>
          </a:solidFill>
          <a:ln xmlns:a="http://schemas.openxmlformats.org/drawingml/2006/main" w="0">
            <a:solidFill>
              <a:srgbClr val="3DDCFF"/>
            </a:solidFill>
            <a:prstDash val="solid"/>
          </a:ln>
        </p:spPr>
      </p:sp>
      <p:sp>
        <p:nvSpPr>
          <p:cNvPr id="19" name="personal-4">
            <a:extLst xmlns:a="http://schemas.openxmlformats.org/drawingml/2006/main">
              <a:ext uri="{FF2B5EF4-FFF2-40B4-BE49-F238E27FC236}">
                <a16:creationId xmlns:a16="http://schemas.microsoft.com/office/drawing/2014/main" id="{D74BF697-8780-41D1-8D88-05D71B158A1D}"/>
              </a:ext>
            </a:extLst>
          </p:cNvPr>
          <p:cNvSpPr>
            <a:spLocks xmlns:a="http://schemas.openxmlformats.org/drawingml/2006/main" noGrp="1"/>
          </p:cNvSpPr>
          <p:nvPr/>
        </p:nvSpPr>
        <p:spPr>
          <a:xfrm xmlns:a="http://schemas.openxmlformats.org/drawingml/2006/main">
            <a:off x="8096250" y="4324350"/>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Reminders + calendar</a:t>
            </a:r>
          </a:p>
        </p:txBody>
      </p:sp>
      <p:sp>
        <p:nvSpPr>
          <p:cNvPr id="20" name="personal-5-dot">
            <a:extLst xmlns:a="http://schemas.openxmlformats.org/drawingml/2006/main">
              <a:ext uri="{FF2B5EF4-FFF2-40B4-BE49-F238E27FC236}">
                <a16:creationId xmlns:a16="http://schemas.microsoft.com/office/drawing/2014/main" id="{A2D2F5EA-09A5-468D-91E2-953FA46EF83E}"/>
              </a:ext>
            </a:extLst>
          </p:cNvPr>
          <p:cNvSpPr>
            <a:spLocks xmlns:a="http://schemas.openxmlformats.org/drawingml/2006/main" noGrp="1"/>
          </p:cNvSpPr>
          <p:nvPr/>
        </p:nvSpPr>
        <p:spPr>
          <a:xfrm xmlns:a="http://schemas.openxmlformats.org/drawingml/2006/main">
            <a:off x="7867650" y="5067300"/>
            <a:ext cx="95250" cy="95250"/>
          </a:xfrm>
          <a:prstGeom xmlns:a="http://schemas.openxmlformats.org/drawingml/2006/main" prst="ellipse">
            <a:avLst/>
          </a:prstGeom>
          <a:solidFill xmlns:a="http://schemas.openxmlformats.org/drawingml/2006/main">
            <a:srgbClr val="FF5B78"/>
          </a:solidFill>
          <a:ln xmlns:a="http://schemas.openxmlformats.org/drawingml/2006/main" w="0">
            <a:solidFill>
              <a:srgbClr val="FF5B78"/>
            </a:solidFill>
            <a:prstDash val="solid"/>
          </a:ln>
        </p:spPr>
      </p:sp>
      <p:sp>
        <p:nvSpPr>
          <p:cNvPr id="21" name="personal-5">
            <a:extLst xmlns:a="http://schemas.openxmlformats.org/drawingml/2006/main">
              <a:ext uri="{FF2B5EF4-FFF2-40B4-BE49-F238E27FC236}">
                <a16:creationId xmlns:a16="http://schemas.microsoft.com/office/drawing/2014/main" id="{15C9A8CA-A2C1-4186-A490-D5BACECB6A06}"/>
              </a:ext>
            </a:extLst>
          </p:cNvPr>
          <p:cNvSpPr>
            <a:spLocks xmlns:a="http://schemas.openxmlformats.org/drawingml/2006/main" noGrp="1"/>
          </p:cNvSpPr>
          <p:nvPr/>
        </p:nvSpPr>
        <p:spPr>
          <a:xfrm xmlns:a="http://schemas.openxmlformats.org/drawingml/2006/main">
            <a:off x="8096250" y="4972050"/>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Corrections with source trail</a:t>
            </a:r>
          </a:p>
        </p:txBody>
      </p:sp>
      <p:sp>
        <p:nvSpPr>
          <p:cNvPr id="22" name="personal-close">
            <a:extLst xmlns:a="http://schemas.openxmlformats.org/drawingml/2006/main">
              <a:ext uri="{FF2B5EF4-FFF2-40B4-BE49-F238E27FC236}">
                <a16:creationId xmlns:a16="http://schemas.microsoft.com/office/drawing/2014/main" id="{4C17D2A5-E63C-4895-AD72-786FA205A50F}"/>
              </a:ext>
            </a:extLst>
          </p:cNvPr>
          <p:cNvSpPr>
            <a:spLocks xmlns:a="http://schemas.openxmlformats.org/drawingml/2006/main" noGrp="1"/>
          </p:cNvSpPr>
          <p:nvPr/>
        </p:nvSpPr>
        <p:spPr>
          <a:xfrm xmlns:a="http://schemas.openxmlformats.org/drawingml/2006/main">
            <a:off x="7867650" y="5667375"/>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F6FBFF"/>
                </a:solidFill>
                <a:latin typeface="Aptos"/>
                <a:ea typeface="Aptos"/>
                <a:cs typeface="Aptos"/>
              </a:defRPr>
            </a:pPr>
            <a:r>
              <a:rPr sz="1575" b="1">
                <a:solidFill>
                  <a:srgbClr val="F6FBFF"/>
                </a:solidFill>
                <a:latin typeface="Aptos"/>
                <a:ea typeface="Aptos"/>
                <a:cs typeface="Aptos"/>
              </a:rPr>
              <a:t>Ask: “What changed—and where did that answer come from?”</a:t>
            </a:r>
          </a:p>
        </p:txBody>
      </p:sp>
      <p:sp>
        <p:nvSpPr>
          <p:cNvPr id="23" name="footer-line-6">
            <a:extLst xmlns:a="http://schemas.openxmlformats.org/drawingml/2006/main">
              <a:ext uri="{FF2B5EF4-FFF2-40B4-BE49-F238E27FC236}">
                <a16:creationId xmlns:a16="http://schemas.microsoft.com/office/drawing/2014/main" id="{0AC422E0-0C54-4A5F-BCB4-BB52C8D17C4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4" name="footer-brand-6">
            <a:extLst xmlns:a="http://schemas.openxmlformats.org/drawingml/2006/main">
              <a:ext uri="{FF2B5EF4-FFF2-40B4-BE49-F238E27FC236}">
                <a16:creationId xmlns:a16="http://schemas.microsoft.com/office/drawing/2014/main" id="{85C040B8-D099-439D-B3D6-9101A594B84C}"/>
              </a:ext>
            </a:extLst>
          </p:cNvPr>
          <p:cNvSpPr>
            <a:spLocks xmlns:a="http://schemas.openxmlformats.org/drawingml/2006/main" noGrp="1"/>
          </p:cNvSpPr>
          <p:nvPr/>
        </p:nvSpPr>
        <p:spPr>
          <a:xfrm xmlns:a="http://schemas.openxmlformats.org/drawingml/2006/main">
            <a:off x="6096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46657A"/>
                </a:solidFill>
                <a:latin typeface="Aptos Mono"/>
                <a:ea typeface="Aptos Mono"/>
                <a:cs typeface="Aptos Mono"/>
              </a:defRPr>
            </a:pPr>
            <a:r>
              <a:rPr sz="975" b="1">
                <a:solidFill>
                  <a:srgbClr val="46657A"/>
                </a:solidFill>
                <a:latin typeface="Aptos Mono"/>
                <a:ea typeface="Aptos Mono"/>
                <a:cs typeface="Aptos Mono"/>
              </a:rPr>
              <a:t>CONTEXTGATE  /  KIRA LABS</a:t>
            </a:r>
          </a:p>
        </p:txBody>
      </p:sp>
      <p:sp>
        <p:nvSpPr>
          <p:cNvPr id="25" name="footer-number-6">
            <a:extLst xmlns:a="http://schemas.openxmlformats.org/drawingml/2006/main">
              <a:ext uri="{FF2B5EF4-FFF2-40B4-BE49-F238E27FC236}">
                <a16:creationId xmlns:a16="http://schemas.microsoft.com/office/drawing/2014/main" id="{D01EE7D7-F2CB-49B9-8BA4-5B395AA407DC}"/>
              </a:ext>
            </a:extLst>
          </p:cNvPr>
          <p:cNvSpPr>
            <a:spLocks xmlns:a="http://schemas.openxmlformats.org/drawingml/2006/main" noGrp="1"/>
          </p:cNvSpPr>
          <p:nvPr/>
        </p:nvSpPr>
        <p:spPr>
          <a:xfrm xmlns:a="http://schemas.openxmlformats.org/drawingml/2006/main">
            <a:off x="11144250" y="65722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06</a:t>
            </a:r>
          </a:p>
        </p:txBody>
      </p:sp>
    </p:spTree>
    <p:extLst>
      <p:ext uri="{BB962C8B-B14F-4D97-AF65-F5344CB8AC3E}">
        <p14:creationId xmlns:p14="http://schemas.microsoft.com/office/powerpoint/2010/main" val="1088132688"/>
      </p:ext>
    </p:extLst>
  </p:cSld>
</p:sld>
</file>

<file path=ppt/slides/slide7.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28" name="top-signal-7">
            <a:extLst xmlns:a="http://schemas.openxmlformats.org/drawingml/2006/main">
              <a:ext uri="{FF2B5EF4-FFF2-40B4-BE49-F238E27FC236}">
                <a16:creationId xmlns:a16="http://schemas.microsoft.com/office/drawing/2014/main" id="{71935BE7-0BFE-4F69-9EB2-22B9A20CB56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7">
            <a:extLst xmlns:a="http://schemas.openxmlformats.org/drawingml/2006/main">
              <a:ext uri="{FF2B5EF4-FFF2-40B4-BE49-F238E27FC236}">
                <a16:creationId xmlns:a16="http://schemas.microsoft.com/office/drawing/2014/main" id="{0BBA6716-591F-486A-8330-9849FA4AA9F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3" name="signal-line-a-7">
            <a:extLst xmlns:a="http://schemas.openxmlformats.org/drawingml/2006/main">
              <a:ext uri="{FF2B5EF4-FFF2-40B4-BE49-F238E27FC236}">
                <a16:creationId xmlns:a16="http://schemas.microsoft.com/office/drawing/2014/main" id="{87BE7EF1-4587-41A3-ACE1-A315120E0326}"/>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7">
            <a:extLst xmlns:a="http://schemas.openxmlformats.org/drawingml/2006/main">
              <a:ext uri="{FF2B5EF4-FFF2-40B4-BE49-F238E27FC236}">
                <a16:creationId xmlns:a16="http://schemas.microsoft.com/office/drawing/2014/main" id="{D39BFFB1-5DF8-420F-9FF3-3F844E8ED067}"/>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7">
            <a:extLst xmlns:a="http://schemas.openxmlformats.org/drawingml/2006/main">
              <a:ext uri="{FF2B5EF4-FFF2-40B4-BE49-F238E27FC236}">
                <a16:creationId xmlns:a16="http://schemas.microsoft.com/office/drawing/2014/main" id="{0055813A-4BCD-4DB7-B79A-2E13A3B4EA47}"/>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kicker-7">
            <a:extLst xmlns:a="http://schemas.openxmlformats.org/drawingml/2006/main">
              <a:ext uri="{FF2B5EF4-FFF2-40B4-BE49-F238E27FC236}">
                <a16:creationId xmlns:a16="http://schemas.microsoft.com/office/drawing/2014/main" id="{723D6719-AE7E-4D30-A885-E3C9551D3997}"/>
              </a:ext>
            </a:extLst>
          </p:cNvPr>
          <p:cNvSpPr>
            <a:spLocks xmlns:a="http://schemas.openxmlformats.org/drawingml/2006/main" noGrp="1"/>
          </p:cNvSpPr>
          <p:nvPr/>
        </p:nvSpPr>
        <p:spPr>
          <a:xfrm xmlns:a="http://schemas.openxmlformats.org/drawingml/2006/main">
            <a:off x="609600" y="3810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LIVE PROOF</a:t>
            </a:r>
          </a:p>
        </p:txBody>
      </p:sp>
      <p:sp>
        <p:nvSpPr>
          <p:cNvPr id="7" name="title-7">
            <a:extLst xmlns:a="http://schemas.openxmlformats.org/drawingml/2006/main">
              <a:ext uri="{FF2B5EF4-FFF2-40B4-BE49-F238E27FC236}">
                <a16:creationId xmlns:a16="http://schemas.microsoft.com/office/drawing/2014/main" id="{1CC49D4F-47C7-46DE-AEA4-2BC710F7F243}"/>
              </a:ext>
            </a:extLst>
          </p:cNvPr>
          <p:cNvSpPr>
            <a:spLocks xmlns:a="http://schemas.openxmlformats.org/drawingml/2006/main" noGrp="1"/>
          </p:cNvSpPr>
          <p:nvPr/>
        </p:nvSpPr>
        <p:spPr>
          <a:xfrm xmlns:a="http://schemas.openxmlformats.org/drawingml/2006/main">
            <a:off x="609600" y="6572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3750" b="1">
                <a:solidFill>
                  <a:srgbClr val="F6FBFF"/>
                </a:solidFill>
                <a:latin typeface="Aptos Display"/>
                <a:ea typeface="Aptos Display"/>
                <a:cs typeface="Aptos Display"/>
              </a:defRPr>
            </a:pPr>
            <a:r>
              <a:rPr sz="3750" b="1">
                <a:solidFill>
                  <a:srgbClr val="F6FBFF"/>
                </a:solidFill>
                <a:latin typeface="Aptos Display"/>
                <a:ea typeface="Aptos Display"/>
                <a:cs typeface="Aptos Display"/>
              </a:rPr>
              <a:t>Tested like a control layer, not a demo</a:t>
            </a:r>
          </a:p>
        </p:txBody>
      </p:sp>
      <p:sp>
        <p:nvSpPr>
          <p:cNvPr id="8" name="subtitle-7">
            <a:extLst xmlns:a="http://schemas.openxmlformats.org/drawingml/2006/main">
              <a:ext uri="{FF2B5EF4-FFF2-40B4-BE49-F238E27FC236}">
                <a16:creationId xmlns:a16="http://schemas.microsoft.com/office/drawing/2014/main" id="{8E28D194-2783-4152-85B1-5B0B24179C2E}"/>
              </a:ext>
            </a:extLst>
          </p:cNvPr>
          <p:cNvSpPr>
            <a:spLocks xmlns:a="http://schemas.openxmlformats.org/drawingml/2006/main" noGrp="1"/>
          </p:cNvSpPr>
          <p:nvPr/>
        </p:nvSpPr>
        <p:spPr>
          <a:xfrm xmlns:a="http://schemas.openxmlformats.org/drawingml/2006/main">
            <a:off x="628650" y="12382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83A4BA"/>
                </a:solidFill>
                <a:latin typeface="Aptos"/>
                <a:ea typeface="Aptos"/>
                <a:cs typeface="Aptos"/>
              </a:defRPr>
            </a:pPr>
            <a:r>
              <a:rPr sz="1725" b="0">
                <a:solidFill>
                  <a:srgbClr val="83A4BA"/>
                </a:solidFill>
                <a:latin typeface="Aptos"/>
                <a:ea typeface="Aptos"/>
                <a:cs typeface="Aptos"/>
              </a:rPr>
              <a:t>Chat behavior, deterministic policy, adapters, UI, launchers, packaging, and CI are covered.</a:t>
            </a:r>
          </a:p>
        </p:txBody>
      </p:sp>
      <p:sp>
        <p:nvSpPr>
          <p:cNvPr id="9" name="metric-value-0">
            <a:extLst xmlns:a="http://schemas.openxmlformats.org/drawingml/2006/main">
              <a:ext uri="{FF2B5EF4-FFF2-40B4-BE49-F238E27FC236}">
                <a16:creationId xmlns:a16="http://schemas.microsoft.com/office/drawing/2014/main" id="{AE909F96-8936-4A31-A365-179B5798EC54}"/>
              </a:ext>
            </a:extLst>
          </p:cNvPr>
          <p:cNvSpPr>
            <a:spLocks xmlns:a="http://schemas.openxmlformats.org/drawingml/2006/main" noGrp="1"/>
          </p:cNvSpPr>
          <p:nvPr/>
        </p:nvSpPr>
        <p:spPr>
          <a:xfrm xmlns:a="http://schemas.openxmlformats.org/drawingml/2006/main">
            <a:off x="685800" y="1971675"/>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950" b="1">
                <a:solidFill>
                  <a:srgbClr val="3DDCFF"/>
                </a:solidFill>
                <a:latin typeface="Aptos Display"/>
                <a:ea typeface="Aptos Display"/>
                <a:cs typeface="Aptos Display"/>
              </a:defRPr>
            </a:pPr>
            <a:r>
              <a:rPr sz="4950" b="1">
                <a:solidFill>
                  <a:srgbClr val="3DDCFF"/>
                </a:solidFill>
                <a:latin typeface="Aptos Display"/>
                <a:ea typeface="Aptos Display"/>
                <a:cs typeface="Aptos Display"/>
              </a:rPr>
              <a:t>57/57</a:t>
            </a:r>
          </a:p>
        </p:txBody>
      </p:sp>
      <p:sp>
        <p:nvSpPr>
          <p:cNvPr id="10" name="metric-label-0">
            <a:extLst xmlns:a="http://schemas.openxmlformats.org/drawingml/2006/main">
              <a:ext uri="{FF2B5EF4-FFF2-40B4-BE49-F238E27FC236}">
                <a16:creationId xmlns:a16="http://schemas.microsoft.com/office/drawing/2014/main" id="{CF3D2A8B-CF1F-4365-A402-8AE41ED98410}"/>
              </a:ext>
            </a:extLst>
          </p:cNvPr>
          <p:cNvSpPr>
            <a:spLocks xmlns:a="http://schemas.openxmlformats.org/drawingml/2006/main" noGrp="1"/>
          </p:cNvSpPr>
          <p:nvPr/>
        </p:nvSpPr>
        <p:spPr>
          <a:xfrm xmlns:a="http://schemas.openxmlformats.org/drawingml/2006/main">
            <a:off x="704850" y="28575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DCEAF4"/>
                </a:solidFill>
                <a:latin typeface="Aptos"/>
                <a:ea typeface="Aptos"/>
                <a:cs typeface="Aptos"/>
              </a:defRPr>
            </a:pPr>
            <a:r>
              <a:rPr sz="1650" b="1">
                <a:solidFill>
                  <a:srgbClr val="DCEAF4"/>
                </a:solidFill>
                <a:latin typeface="Aptos"/>
                <a:ea typeface="Aptos"/>
                <a:cs typeface="Aptos"/>
              </a:rPr>
              <a:t>chat scenarios</a:t>
            </a:r>
          </a:p>
        </p:txBody>
      </p:sp>
      <p:sp>
        <p:nvSpPr>
          <p:cNvPr id="11" name="metric-divider-1">
            <a:extLst xmlns:a="http://schemas.openxmlformats.org/drawingml/2006/main">
              <a:ext uri="{FF2B5EF4-FFF2-40B4-BE49-F238E27FC236}">
                <a16:creationId xmlns:a16="http://schemas.microsoft.com/office/drawing/2014/main" id="{E374257F-3FC3-4A94-BEFF-3FC2CAAEADA7}"/>
              </a:ext>
            </a:extLst>
          </p:cNvPr>
          <p:cNvSpPr>
            <a:spLocks xmlns:a="http://schemas.openxmlformats.org/drawingml/2006/main" noGrp="1"/>
          </p:cNvSpPr>
          <p:nvPr/>
        </p:nvSpPr>
        <p:spPr>
          <a:xfrm xmlns:a="http://schemas.openxmlformats.org/drawingml/2006/main">
            <a:off x="3667125" y="2038350"/>
            <a:ext cx="19050" cy="14668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2" name="metric-value-1">
            <a:extLst xmlns:a="http://schemas.openxmlformats.org/drawingml/2006/main">
              <a:ext uri="{FF2B5EF4-FFF2-40B4-BE49-F238E27FC236}">
                <a16:creationId xmlns:a16="http://schemas.microsoft.com/office/drawing/2014/main" id="{51461253-0A79-4238-AB35-E7B84C402418}"/>
              </a:ext>
            </a:extLst>
          </p:cNvPr>
          <p:cNvSpPr>
            <a:spLocks xmlns:a="http://schemas.openxmlformats.org/drawingml/2006/main" noGrp="1"/>
          </p:cNvSpPr>
          <p:nvPr/>
        </p:nvSpPr>
        <p:spPr>
          <a:xfrm xmlns:a="http://schemas.openxmlformats.org/drawingml/2006/main">
            <a:off x="4095750" y="1971675"/>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950" b="1">
                <a:solidFill>
                  <a:srgbClr val="29E7B1"/>
                </a:solidFill>
                <a:latin typeface="Aptos Display"/>
                <a:ea typeface="Aptos Display"/>
                <a:cs typeface="Aptos Display"/>
              </a:defRPr>
            </a:pPr>
            <a:r>
              <a:rPr sz="4950" b="1">
                <a:solidFill>
                  <a:srgbClr val="29E7B1"/>
                </a:solidFill>
                <a:latin typeface="Aptos Display"/>
                <a:ea typeface="Aptos Display"/>
                <a:cs typeface="Aptos Display"/>
              </a:rPr>
              <a:t>277</a:t>
            </a:r>
          </a:p>
        </p:txBody>
      </p:sp>
      <p:sp>
        <p:nvSpPr>
          <p:cNvPr id="13" name="metric-label-1">
            <a:extLst xmlns:a="http://schemas.openxmlformats.org/drawingml/2006/main">
              <a:ext uri="{FF2B5EF4-FFF2-40B4-BE49-F238E27FC236}">
                <a16:creationId xmlns:a16="http://schemas.microsoft.com/office/drawing/2014/main" id="{5C637904-B5F3-4B22-ADAD-DC31B8C2488D}"/>
              </a:ext>
            </a:extLst>
          </p:cNvPr>
          <p:cNvSpPr>
            <a:spLocks xmlns:a="http://schemas.openxmlformats.org/drawingml/2006/main" noGrp="1"/>
          </p:cNvSpPr>
          <p:nvPr/>
        </p:nvSpPr>
        <p:spPr>
          <a:xfrm xmlns:a="http://schemas.openxmlformats.org/drawingml/2006/main">
            <a:off x="4114800" y="28575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DCEAF4"/>
                </a:solidFill>
                <a:latin typeface="Aptos"/>
                <a:ea typeface="Aptos"/>
                <a:cs typeface="Aptos"/>
              </a:defRPr>
            </a:pPr>
            <a:r>
              <a:rPr sz="1650" b="1">
                <a:solidFill>
                  <a:srgbClr val="DCEAF4"/>
                </a:solidFill>
                <a:latin typeface="Aptos"/>
                <a:ea typeface="Aptos"/>
                <a:cs typeface="Aptos"/>
              </a:rPr>
              <a:t>passed  ·  2 expected skips</a:t>
            </a:r>
          </a:p>
        </p:txBody>
      </p:sp>
      <p:sp>
        <p:nvSpPr>
          <p:cNvPr id="14" name="metric-divider-2">
            <a:extLst xmlns:a="http://schemas.openxmlformats.org/drawingml/2006/main">
              <a:ext uri="{FF2B5EF4-FFF2-40B4-BE49-F238E27FC236}">
                <a16:creationId xmlns:a16="http://schemas.microsoft.com/office/drawing/2014/main" id="{59EA11B5-3361-4508-974D-C581CCAFEAD2}"/>
              </a:ext>
            </a:extLst>
          </p:cNvPr>
          <p:cNvSpPr>
            <a:spLocks xmlns:a="http://schemas.openxmlformats.org/drawingml/2006/main" noGrp="1"/>
          </p:cNvSpPr>
          <p:nvPr/>
        </p:nvSpPr>
        <p:spPr>
          <a:xfrm xmlns:a="http://schemas.openxmlformats.org/drawingml/2006/main">
            <a:off x="7496175" y="2038350"/>
            <a:ext cx="19050" cy="14668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5" name="metric-value-2">
            <a:extLst xmlns:a="http://schemas.openxmlformats.org/drawingml/2006/main">
              <a:ext uri="{FF2B5EF4-FFF2-40B4-BE49-F238E27FC236}">
                <a16:creationId xmlns:a16="http://schemas.microsoft.com/office/drawing/2014/main" id="{198E246E-59AD-427A-8B64-6BE7D6C08E85}"/>
              </a:ext>
            </a:extLst>
          </p:cNvPr>
          <p:cNvSpPr>
            <a:spLocks xmlns:a="http://schemas.openxmlformats.org/drawingml/2006/main" noGrp="1"/>
          </p:cNvSpPr>
          <p:nvPr/>
        </p:nvSpPr>
        <p:spPr>
          <a:xfrm xmlns:a="http://schemas.openxmlformats.org/drawingml/2006/main">
            <a:off x="7924800" y="1971675"/>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950" b="1">
                <a:solidFill>
                  <a:srgbClr val="FFC24A"/>
                </a:solidFill>
                <a:latin typeface="Aptos Display"/>
                <a:ea typeface="Aptos Display"/>
                <a:cs typeface="Aptos Display"/>
              </a:defRPr>
            </a:pPr>
            <a:r>
              <a:rPr sz="4950" b="1">
                <a:solidFill>
                  <a:srgbClr val="FFC24A"/>
                </a:solidFill>
                <a:latin typeface="Aptos Display"/>
                <a:ea typeface="Aptos Display"/>
                <a:cs typeface="Aptos Display"/>
              </a:rPr>
              <a:t>4/4</a:t>
            </a:r>
          </a:p>
        </p:txBody>
      </p:sp>
      <p:sp>
        <p:nvSpPr>
          <p:cNvPr id="16" name="metric-label-2">
            <a:extLst xmlns:a="http://schemas.openxmlformats.org/drawingml/2006/main">
              <a:ext uri="{FF2B5EF4-FFF2-40B4-BE49-F238E27FC236}">
                <a16:creationId xmlns:a16="http://schemas.microsoft.com/office/drawing/2014/main" id="{2D233BF9-EDB3-4145-939F-F814394B4CEC}"/>
              </a:ext>
            </a:extLst>
          </p:cNvPr>
          <p:cNvSpPr>
            <a:spLocks xmlns:a="http://schemas.openxmlformats.org/drawingml/2006/main" noGrp="1"/>
          </p:cNvSpPr>
          <p:nvPr/>
        </p:nvSpPr>
        <p:spPr>
          <a:xfrm xmlns:a="http://schemas.openxmlformats.org/drawingml/2006/main">
            <a:off x="7943850" y="28575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DCEAF4"/>
                </a:solidFill>
                <a:latin typeface="Aptos"/>
                <a:ea typeface="Aptos"/>
                <a:cs typeface="Aptos"/>
              </a:defRPr>
            </a:pPr>
            <a:r>
              <a:rPr sz="1650" b="1">
                <a:solidFill>
                  <a:srgbClr val="DCEAF4"/>
                </a:solidFill>
                <a:latin typeface="Aptos"/>
                <a:ea typeface="Aptos"/>
                <a:cs typeface="Aptos"/>
              </a:rPr>
              <a:t>CI matrix jobs</a:t>
            </a:r>
          </a:p>
        </p:txBody>
      </p:sp>
      <p:sp>
        <p:nvSpPr>
          <p:cNvPr id="17" name="proof-rule">
            <a:extLst xmlns:a="http://schemas.openxmlformats.org/drawingml/2006/main">
              <a:ext uri="{FF2B5EF4-FFF2-40B4-BE49-F238E27FC236}">
                <a16:creationId xmlns:a16="http://schemas.microsoft.com/office/drawing/2014/main" id="{9D81C761-B981-471C-9B29-8C42E108361B}"/>
              </a:ext>
            </a:extLst>
          </p:cNvPr>
          <p:cNvSpPr>
            <a:spLocks xmlns:a="http://schemas.openxmlformats.org/drawingml/2006/main" noGrp="1"/>
          </p:cNvSpPr>
          <p:nvPr/>
        </p:nvSpPr>
        <p:spPr>
          <a:xfrm xmlns:a="http://schemas.openxmlformats.org/drawingml/2006/main">
            <a:off x="685800" y="3790950"/>
            <a:ext cx="106489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8" name="fictional-label">
            <a:extLst xmlns:a="http://schemas.openxmlformats.org/drawingml/2006/main">
              <a:ext uri="{FF2B5EF4-FFF2-40B4-BE49-F238E27FC236}">
                <a16:creationId xmlns:a16="http://schemas.microsoft.com/office/drawing/2014/main" id="{92F43AB6-D3C1-4A1A-A122-9CE5F79B84A2}"/>
              </a:ext>
            </a:extLst>
          </p:cNvPr>
          <p:cNvSpPr>
            <a:spLocks xmlns:a="http://schemas.openxmlformats.org/drawingml/2006/main" noGrp="1"/>
          </p:cNvSpPr>
          <p:nvPr/>
        </p:nvSpPr>
        <p:spPr>
          <a:xfrm xmlns:a="http://schemas.openxmlformats.org/drawingml/2006/main">
            <a:off x="704850" y="4114800"/>
            <a:ext cx="457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FFC24A"/>
                </a:solidFill>
                <a:latin typeface="Aptos Mono"/>
                <a:ea typeface="Aptos Mono"/>
                <a:cs typeface="Aptos Mono"/>
              </a:defRPr>
            </a:pPr>
            <a:r>
              <a:rPr sz="1200" b="1">
                <a:solidFill>
                  <a:srgbClr val="FFC24A"/>
                </a:solidFill>
                <a:latin typeface="Aptos Mono"/>
                <a:ea typeface="Aptos Mono"/>
                <a:cs typeface="Aptos Mono"/>
              </a:rPr>
              <a:t>FICTIONAL CATALOG  /  DEDUPLICATED</a:t>
            </a:r>
          </a:p>
        </p:txBody>
      </p:sp>
      <p:sp>
        <p:nvSpPr>
          <p:cNvPr id="19" name="fictional-values">
            <a:extLst xmlns:a="http://schemas.openxmlformats.org/drawingml/2006/main">
              <a:ext uri="{FF2B5EF4-FFF2-40B4-BE49-F238E27FC236}">
                <a16:creationId xmlns:a16="http://schemas.microsoft.com/office/drawing/2014/main" id="{107537BF-303E-4945-9204-65067BD32AF5}"/>
              </a:ext>
            </a:extLst>
          </p:cNvPr>
          <p:cNvSpPr>
            <a:spLocks xmlns:a="http://schemas.openxmlformats.org/drawingml/2006/main" noGrp="1"/>
          </p:cNvSpPr>
          <p:nvPr/>
        </p:nvSpPr>
        <p:spPr>
          <a:xfrm xmlns:a="http://schemas.openxmlformats.org/drawingml/2006/main">
            <a:off x="704850" y="44767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6FBFF"/>
                </a:solidFill>
                <a:latin typeface="Aptos"/>
                <a:ea typeface="Aptos"/>
                <a:cs typeface="Aptos"/>
              </a:defRPr>
            </a:pPr>
            <a:r>
              <a:rPr sz="2325" b="1">
                <a:solidFill>
                  <a:srgbClr val="F6FBFF"/>
                </a:solidFill>
                <a:latin typeface="Aptos"/>
                <a:ea typeface="Aptos"/>
                <a:cs typeface="Aptos"/>
              </a:rPr>
              <a:t>5 Eventbrite events   ·   6 NYC events</a:t>
            </a:r>
          </a:p>
        </p:txBody>
      </p:sp>
      <p:sp>
        <p:nvSpPr>
          <p:cNvPr id="20" name="fictional-detail">
            <a:extLst xmlns:a="http://schemas.openxmlformats.org/drawingml/2006/main">
              <a:ext uri="{FF2B5EF4-FFF2-40B4-BE49-F238E27FC236}">
                <a16:creationId xmlns:a16="http://schemas.microsoft.com/office/drawing/2014/main" id="{271F0F6C-9DD4-4F92-9298-1DD783862BAC}"/>
              </a:ext>
            </a:extLst>
          </p:cNvPr>
          <p:cNvSpPr>
            <a:spLocks xmlns:a="http://schemas.openxmlformats.org/drawingml/2006/main" noGrp="1"/>
          </p:cNvSpPr>
          <p:nvPr/>
        </p:nvSpPr>
        <p:spPr>
          <a:xfrm xmlns:a="http://schemas.openxmlformats.org/drawingml/2006/main">
            <a:off x="704850" y="5000625"/>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83A4BA"/>
                </a:solidFill>
                <a:latin typeface="Aptos"/>
                <a:ea typeface="Aptos"/>
                <a:cs typeface="Aptos"/>
              </a:defRPr>
            </a:pPr>
            <a:r>
              <a:rPr sz="1575" b="0">
                <a:solidFill>
                  <a:srgbClr val="83A4BA"/>
                </a:solidFill>
                <a:latin typeface="Aptos"/>
                <a:ea typeface="Aptos"/>
                <a:cs typeface="Aptos"/>
              </a:rPr>
              <a:t>Counts come from the bundled fictional catalog, after update duplicates are removed.</a:t>
            </a:r>
          </a:p>
        </p:txBody>
      </p:sp>
      <p:sp>
        <p:nvSpPr>
          <p:cNvPr id="21" name="proof-split">
            <a:extLst xmlns:a="http://schemas.openxmlformats.org/drawingml/2006/main">
              <a:ext uri="{FF2B5EF4-FFF2-40B4-BE49-F238E27FC236}">
                <a16:creationId xmlns:a16="http://schemas.microsoft.com/office/drawing/2014/main" id="{8A3ACBE0-6A1A-4F2C-BA84-1D9CD326C0CB}"/>
              </a:ext>
            </a:extLst>
          </p:cNvPr>
          <p:cNvSpPr>
            <a:spLocks xmlns:a="http://schemas.openxmlformats.org/drawingml/2006/main" noGrp="1"/>
          </p:cNvSpPr>
          <p:nvPr/>
        </p:nvSpPr>
        <p:spPr>
          <a:xfrm xmlns:a="http://schemas.openxmlformats.org/drawingml/2006/main">
            <a:off x="5943600" y="4019550"/>
            <a:ext cx="19050" cy="175260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2" name="real-label">
            <a:extLst xmlns:a="http://schemas.openxmlformats.org/drawingml/2006/main">
              <a:ext uri="{FF2B5EF4-FFF2-40B4-BE49-F238E27FC236}">
                <a16:creationId xmlns:a16="http://schemas.microsoft.com/office/drawing/2014/main" id="{97A5D9CA-21DD-418E-BCE6-F58D4ADDE3B3}"/>
              </a:ext>
            </a:extLst>
          </p:cNvPr>
          <p:cNvSpPr>
            <a:spLocks xmlns:a="http://schemas.openxmlformats.org/drawingml/2006/main" noGrp="1"/>
          </p:cNvSpPr>
          <p:nvPr/>
        </p:nvSpPr>
        <p:spPr>
          <a:xfrm xmlns:a="http://schemas.openxmlformats.org/drawingml/2006/main">
            <a:off x="6419850" y="41148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3DDCFF"/>
                </a:solidFill>
                <a:latin typeface="Aptos Mono"/>
                <a:ea typeface="Aptos Mono"/>
                <a:cs typeface="Aptos Mono"/>
              </a:defRPr>
            </a:pPr>
            <a:r>
              <a:rPr sz="1200" b="1">
                <a:solidFill>
                  <a:srgbClr val="3DDCFF"/>
                </a:solidFill>
                <a:latin typeface="Aptos Mono"/>
                <a:ea typeface="Aptos Mono"/>
                <a:cs typeface="Aptos Mono"/>
              </a:rPr>
              <a:t>REAL CONNECTOR OBSERVATION  /  03 SEP 2026</a:t>
            </a:r>
          </a:p>
        </p:txBody>
      </p:sp>
      <p:sp>
        <p:nvSpPr>
          <p:cNvPr id="23" name="real-values">
            <a:extLst xmlns:a="http://schemas.openxmlformats.org/drawingml/2006/main">
              <a:ext uri="{FF2B5EF4-FFF2-40B4-BE49-F238E27FC236}">
                <a16:creationId xmlns:a16="http://schemas.microsoft.com/office/drawing/2014/main" id="{C8059778-B75D-4FA0-94ED-55FA3741B1A1}"/>
              </a:ext>
            </a:extLst>
          </p:cNvPr>
          <p:cNvSpPr>
            <a:spLocks xmlns:a="http://schemas.openxmlformats.org/drawingml/2006/main" noGrp="1"/>
          </p:cNvSpPr>
          <p:nvPr/>
        </p:nvSpPr>
        <p:spPr>
          <a:xfrm xmlns:a="http://schemas.openxmlformats.org/drawingml/2006/main">
            <a:off x="6419850" y="44767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6FBFF"/>
                </a:solidFill>
                <a:latin typeface="Aptos"/>
                <a:ea typeface="Aptos"/>
                <a:cs typeface="Aptos"/>
              </a:defRPr>
            </a:pPr>
            <a:r>
              <a:rPr sz="2325" b="1">
                <a:solidFill>
                  <a:srgbClr val="F6FBFF"/>
                </a:solidFill>
                <a:latin typeface="Aptos"/>
                <a:ea typeface="Aptos"/>
                <a:cs typeface="Aptos"/>
              </a:rPr>
              <a:t>20 Eventbrite records</a:t>
            </a:r>
          </a:p>
        </p:txBody>
      </p:sp>
      <p:sp>
        <p:nvSpPr>
          <p:cNvPr id="24" name="real-detail">
            <a:extLst xmlns:a="http://schemas.openxmlformats.org/drawingml/2006/main">
              <a:ext uri="{FF2B5EF4-FFF2-40B4-BE49-F238E27FC236}">
                <a16:creationId xmlns:a16="http://schemas.microsoft.com/office/drawing/2014/main" id="{BE98FC77-8F55-4C69-ADBC-1C66FB06CF73}"/>
              </a:ext>
            </a:extLst>
          </p:cNvPr>
          <p:cNvSpPr>
            <a:spLocks xmlns:a="http://schemas.openxmlformats.org/drawingml/2006/main" noGrp="1"/>
          </p:cNvSpPr>
          <p:nvPr/>
        </p:nvSpPr>
        <p:spPr>
          <a:xfrm xmlns:a="http://schemas.openxmlformats.org/drawingml/2006/main">
            <a:off x="6419850" y="5000625"/>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83A4BA"/>
                </a:solidFill>
                <a:latin typeface="Aptos"/>
                <a:ea typeface="Aptos"/>
                <a:cs typeface="Aptos"/>
              </a:defRPr>
            </a:pPr>
            <a:r>
              <a:rPr sz="1575" b="0">
                <a:solidFill>
                  <a:srgbClr val="83A4BA"/>
                </a:solidFill>
                <a:latin typeface="Aptos"/>
                <a:ea typeface="Aptos"/>
                <a:cs typeface="Aptos"/>
              </a:rPr>
              <a:t>A time-bound live-site scan result—not a permanent claim about Eventbrite inventory.</a:t>
            </a:r>
          </a:p>
        </p:txBody>
      </p:sp>
      <p:sp>
        <p:nvSpPr>
          <p:cNvPr id="25" name="footer-line-7">
            <a:extLst xmlns:a="http://schemas.openxmlformats.org/drawingml/2006/main">
              <a:ext uri="{FF2B5EF4-FFF2-40B4-BE49-F238E27FC236}">
                <a16:creationId xmlns:a16="http://schemas.microsoft.com/office/drawing/2014/main" id="{30D47D4D-6E45-49DB-B45C-04431C42B86E}"/>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6" name="footer-brand-7">
            <a:extLst xmlns:a="http://schemas.openxmlformats.org/drawingml/2006/main">
              <a:ext uri="{FF2B5EF4-FFF2-40B4-BE49-F238E27FC236}">
                <a16:creationId xmlns:a16="http://schemas.microsoft.com/office/drawing/2014/main" id="{4D27CC63-306A-41A7-B12E-3766E4851A4B}"/>
              </a:ext>
            </a:extLst>
          </p:cNvPr>
          <p:cNvSpPr>
            <a:spLocks xmlns:a="http://schemas.openxmlformats.org/drawingml/2006/main" noGrp="1"/>
          </p:cNvSpPr>
          <p:nvPr/>
        </p:nvSpPr>
        <p:spPr>
          <a:xfrm xmlns:a="http://schemas.openxmlformats.org/drawingml/2006/main">
            <a:off x="6096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46657A"/>
                </a:solidFill>
                <a:latin typeface="Aptos Mono"/>
                <a:ea typeface="Aptos Mono"/>
                <a:cs typeface="Aptos Mono"/>
              </a:defRPr>
            </a:pPr>
            <a:r>
              <a:rPr sz="975" b="1">
                <a:solidFill>
                  <a:srgbClr val="46657A"/>
                </a:solidFill>
                <a:latin typeface="Aptos Mono"/>
                <a:ea typeface="Aptos Mono"/>
                <a:cs typeface="Aptos Mono"/>
              </a:rPr>
              <a:t>CONTEXTGATE  /  KIRA LABS</a:t>
            </a:r>
          </a:p>
        </p:txBody>
      </p:sp>
      <p:sp>
        <p:nvSpPr>
          <p:cNvPr id="27" name="footer-number-7">
            <a:extLst xmlns:a="http://schemas.openxmlformats.org/drawingml/2006/main">
              <a:ext uri="{FF2B5EF4-FFF2-40B4-BE49-F238E27FC236}">
                <a16:creationId xmlns:a16="http://schemas.microsoft.com/office/drawing/2014/main" id="{8B66296E-9323-4684-9298-DDE14EA9B25F}"/>
              </a:ext>
            </a:extLst>
          </p:cNvPr>
          <p:cNvSpPr>
            <a:spLocks xmlns:a="http://schemas.openxmlformats.org/drawingml/2006/main" noGrp="1"/>
          </p:cNvSpPr>
          <p:nvPr/>
        </p:nvSpPr>
        <p:spPr>
          <a:xfrm xmlns:a="http://schemas.openxmlformats.org/drawingml/2006/main">
            <a:off x="11144250" y="65722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07</a:t>
            </a:r>
          </a:p>
        </p:txBody>
      </p:sp>
    </p:spTree>
    <p:extLst>
      <p:ext uri="{BB962C8B-B14F-4D97-AF65-F5344CB8AC3E}">
        <p14:creationId xmlns:p14="http://schemas.microsoft.com/office/powerpoint/2010/main" val="2076051556"/>
      </p:ext>
    </p:extLst>
  </p:cSld>
</p:sld>
</file>

<file path=ppt/slides/slide8.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25" name="top-signal-8">
            <a:extLst xmlns:a="http://schemas.openxmlformats.org/drawingml/2006/main">
              <a:ext uri="{FF2B5EF4-FFF2-40B4-BE49-F238E27FC236}">
                <a16:creationId xmlns:a16="http://schemas.microsoft.com/office/drawing/2014/main" id="{83A291E4-FEEF-4828-8AC2-38BCE35350B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8">
            <a:extLst xmlns:a="http://schemas.openxmlformats.org/drawingml/2006/main">
              <a:ext uri="{FF2B5EF4-FFF2-40B4-BE49-F238E27FC236}">
                <a16:creationId xmlns:a16="http://schemas.microsoft.com/office/drawing/2014/main" id="{F75296D0-728C-4CC5-81E0-B36C89AAB05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3" name="signal-line-a-8">
            <a:extLst xmlns:a="http://schemas.openxmlformats.org/drawingml/2006/main">
              <a:ext uri="{FF2B5EF4-FFF2-40B4-BE49-F238E27FC236}">
                <a16:creationId xmlns:a16="http://schemas.microsoft.com/office/drawing/2014/main" id="{EFDB75E9-36DD-4484-A5C1-4A87495061BF}"/>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8">
            <a:extLst xmlns:a="http://schemas.openxmlformats.org/drawingml/2006/main">
              <a:ext uri="{FF2B5EF4-FFF2-40B4-BE49-F238E27FC236}">
                <a16:creationId xmlns:a16="http://schemas.microsoft.com/office/drawing/2014/main" id="{0F406FF0-79B1-4755-A5AE-011FB7FD0C7F}"/>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8">
            <a:extLst xmlns:a="http://schemas.openxmlformats.org/drawingml/2006/main">
              <a:ext uri="{FF2B5EF4-FFF2-40B4-BE49-F238E27FC236}">
                <a16:creationId xmlns:a16="http://schemas.microsoft.com/office/drawing/2014/main" id="{69A27BD1-DDA9-4925-B257-4A8E44CA6495}"/>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kicker-8">
            <a:extLst xmlns:a="http://schemas.openxmlformats.org/drawingml/2006/main">
              <a:ext uri="{FF2B5EF4-FFF2-40B4-BE49-F238E27FC236}">
                <a16:creationId xmlns:a16="http://schemas.microsoft.com/office/drawing/2014/main" id="{91804540-0BFD-4993-99FB-4CEA93771152}"/>
              </a:ext>
            </a:extLst>
          </p:cNvPr>
          <p:cNvSpPr>
            <a:spLocks xmlns:a="http://schemas.openxmlformats.org/drawingml/2006/main" noGrp="1"/>
          </p:cNvSpPr>
          <p:nvPr/>
        </p:nvSpPr>
        <p:spPr>
          <a:xfrm xmlns:a="http://schemas.openxmlformats.org/drawingml/2006/main">
            <a:off x="609600" y="3810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TRUST BOUNDARY</a:t>
            </a:r>
          </a:p>
        </p:txBody>
      </p:sp>
      <p:sp>
        <p:nvSpPr>
          <p:cNvPr id="7" name="title-8">
            <a:extLst xmlns:a="http://schemas.openxmlformats.org/drawingml/2006/main">
              <a:ext uri="{FF2B5EF4-FFF2-40B4-BE49-F238E27FC236}">
                <a16:creationId xmlns:a16="http://schemas.microsoft.com/office/drawing/2014/main" id="{A9CAE7AF-6029-4808-9603-B0F8538EE6AC}"/>
              </a:ext>
            </a:extLst>
          </p:cNvPr>
          <p:cNvSpPr>
            <a:spLocks xmlns:a="http://schemas.openxmlformats.org/drawingml/2006/main" noGrp="1"/>
          </p:cNvSpPr>
          <p:nvPr/>
        </p:nvSpPr>
        <p:spPr>
          <a:xfrm xmlns:a="http://schemas.openxmlformats.org/drawingml/2006/main">
            <a:off x="609600" y="6572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3750" b="1">
                <a:solidFill>
                  <a:srgbClr val="F6FBFF"/>
                </a:solidFill>
                <a:latin typeface="Aptos Display"/>
                <a:ea typeface="Aptos Display"/>
                <a:cs typeface="Aptos Display"/>
              </a:defRPr>
            </a:pPr>
            <a:r>
              <a:rPr sz="3750" b="1">
                <a:solidFill>
                  <a:srgbClr val="F6FBFF"/>
                </a:solidFill>
                <a:latin typeface="Aptos Display"/>
                <a:ea typeface="Aptos Display"/>
                <a:cs typeface="Aptos Display"/>
              </a:rPr>
              <a:t>The model explains. The gate decides.</a:t>
            </a:r>
          </a:p>
        </p:txBody>
      </p:sp>
      <p:sp>
        <p:nvSpPr>
          <p:cNvPr id="8" name="subtitle-8">
            <a:extLst xmlns:a="http://schemas.openxmlformats.org/drawingml/2006/main">
              <a:ext uri="{FF2B5EF4-FFF2-40B4-BE49-F238E27FC236}">
                <a16:creationId xmlns:a16="http://schemas.microsoft.com/office/drawing/2014/main" id="{EED25AA1-FC7A-4BB8-98FA-A7996EDBCB41}"/>
              </a:ext>
            </a:extLst>
          </p:cNvPr>
          <p:cNvSpPr>
            <a:spLocks xmlns:a="http://schemas.openxmlformats.org/drawingml/2006/main" noGrp="1"/>
          </p:cNvSpPr>
          <p:nvPr/>
        </p:nvSpPr>
        <p:spPr>
          <a:xfrm xmlns:a="http://schemas.openxmlformats.org/drawingml/2006/main">
            <a:off x="628650" y="12382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83A4BA"/>
                </a:solidFill>
                <a:latin typeface="Aptos"/>
                <a:ea typeface="Aptos"/>
                <a:cs typeface="Aptos"/>
              </a:defRPr>
            </a:pPr>
            <a:r>
              <a:rPr sz="1725" b="0">
                <a:solidFill>
                  <a:srgbClr val="83A4BA"/>
                </a:solidFill>
                <a:latin typeface="Aptos"/>
                <a:ea typeface="Aptos"/>
                <a:cs typeface="Aptos"/>
              </a:rPr>
              <a:t>Use AI for useful language—keep policy, identity, and authority deterministic.</a:t>
            </a:r>
          </a:p>
        </p:txBody>
      </p:sp>
      <p:sp>
        <p:nvSpPr>
          <p:cNvPr id="9" name="trust-core">
            <a:extLst xmlns:a="http://schemas.openxmlformats.org/drawingml/2006/main">
              <a:ext uri="{FF2B5EF4-FFF2-40B4-BE49-F238E27FC236}">
                <a16:creationId xmlns:a16="http://schemas.microsoft.com/office/drawing/2014/main" id="{8538D38E-F69B-443F-95BC-9E5C1A0C55F7}"/>
              </a:ext>
            </a:extLst>
          </p:cNvPr>
          <p:cNvSpPr>
            <a:spLocks xmlns:a="http://schemas.openxmlformats.org/drawingml/2006/main" noGrp="1"/>
          </p:cNvSpPr>
          <p:nvPr/>
        </p:nvSpPr>
        <p:spPr>
          <a:xfrm xmlns:a="http://schemas.openxmlformats.org/drawingml/2006/main">
            <a:off x="657225" y="19621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3DDCFF"/>
                </a:solidFill>
                <a:latin typeface="Aptos Mono"/>
                <a:ea typeface="Aptos Mono"/>
                <a:cs typeface="Aptos Mono"/>
              </a:defRPr>
            </a:pPr>
            <a:r>
              <a:rPr sz="1275" b="1">
                <a:solidFill>
                  <a:srgbClr val="3DDCFF"/>
                </a:solidFill>
                <a:latin typeface="Aptos Mono"/>
                <a:ea typeface="Aptos Mono"/>
                <a:cs typeface="Aptos Mono"/>
              </a:rPr>
              <a:t>DETERMINISTIC CORE</a:t>
            </a:r>
          </a:p>
        </p:txBody>
      </p:sp>
      <p:sp>
        <p:nvSpPr>
          <p:cNvPr id="10" name="trust-big">
            <a:extLst xmlns:a="http://schemas.openxmlformats.org/drawingml/2006/main">
              <a:ext uri="{FF2B5EF4-FFF2-40B4-BE49-F238E27FC236}">
                <a16:creationId xmlns:a16="http://schemas.microsoft.com/office/drawing/2014/main" id="{EB73431F-4754-4DF9-A797-86E6164C0123}"/>
              </a:ext>
            </a:extLst>
          </p:cNvPr>
          <p:cNvSpPr>
            <a:spLocks xmlns:a="http://schemas.openxmlformats.org/drawingml/2006/main" noGrp="1"/>
          </p:cNvSpPr>
          <p:nvPr/>
        </p:nvSpPr>
        <p:spPr>
          <a:xfrm xmlns:a="http://schemas.openxmlformats.org/drawingml/2006/main">
            <a:off x="657225" y="2381250"/>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F6FBFF"/>
                </a:solidFill>
                <a:latin typeface="Aptos"/>
                <a:ea typeface="Aptos"/>
                <a:cs typeface="Aptos"/>
              </a:defRPr>
            </a:pPr>
            <a:r>
              <a:rPr sz="2550" b="1">
                <a:solidFill>
                  <a:srgbClr val="F6FBFF"/>
                </a:solidFill>
                <a:latin typeface="Aptos"/>
                <a:ea typeface="Aptos"/>
                <a:cs typeface="Aptos"/>
              </a:rPr>
              <a:t>A model can describe a receipt. It cannot rewrite the result.</a:t>
            </a:r>
          </a:p>
        </p:txBody>
      </p:sp>
      <p:sp>
        <p:nvSpPr>
          <p:cNvPr id="11" name="trust-1-dot">
            <a:extLst xmlns:a="http://schemas.openxmlformats.org/drawingml/2006/main">
              <a:ext uri="{FF2B5EF4-FFF2-40B4-BE49-F238E27FC236}">
                <a16:creationId xmlns:a16="http://schemas.microsoft.com/office/drawing/2014/main" id="{5C29DF86-F719-49A2-B31F-EEE9BAC496B9}"/>
              </a:ext>
            </a:extLst>
          </p:cNvPr>
          <p:cNvSpPr>
            <a:spLocks xmlns:a="http://schemas.openxmlformats.org/drawingml/2006/main" noGrp="1"/>
          </p:cNvSpPr>
          <p:nvPr/>
        </p:nvSpPr>
        <p:spPr>
          <a:xfrm xmlns:a="http://schemas.openxmlformats.org/drawingml/2006/main">
            <a:off x="685800" y="3981450"/>
            <a:ext cx="95250" cy="95250"/>
          </a:xfrm>
          <a:prstGeom xmlns:a="http://schemas.openxmlformats.org/drawingml/2006/main" prst="ellipse">
            <a:avLst/>
          </a:prstGeom>
          <a:solidFill xmlns:a="http://schemas.openxmlformats.org/drawingml/2006/main">
            <a:srgbClr val="3DDCFF"/>
          </a:solidFill>
          <a:ln xmlns:a="http://schemas.openxmlformats.org/drawingml/2006/main" w="0">
            <a:solidFill>
              <a:srgbClr val="3DDCFF"/>
            </a:solidFill>
            <a:prstDash val="solid"/>
          </a:ln>
        </p:spPr>
      </p:sp>
      <p:sp>
        <p:nvSpPr>
          <p:cNvPr id="12" name="trust-1">
            <a:extLst xmlns:a="http://schemas.openxmlformats.org/drawingml/2006/main">
              <a:ext uri="{FF2B5EF4-FFF2-40B4-BE49-F238E27FC236}">
                <a16:creationId xmlns:a16="http://schemas.microsoft.com/office/drawing/2014/main" id="{38942074-B057-4BF2-8E35-D254422D616F}"/>
              </a:ext>
            </a:extLst>
          </p:cNvPr>
          <p:cNvSpPr>
            <a:spLocks xmlns:a="http://schemas.openxmlformats.org/drawingml/2006/main" noGrp="1"/>
          </p:cNvSpPr>
          <p:nvPr/>
        </p:nvSpPr>
        <p:spPr>
          <a:xfrm xmlns:a="http://schemas.openxmlformats.org/drawingml/2006/main">
            <a:off x="914400" y="38862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Source-ranked + time-bound</a:t>
            </a:r>
          </a:p>
        </p:txBody>
      </p:sp>
      <p:sp>
        <p:nvSpPr>
          <p:cNvPr id="13" name="trust-2-dot">
            <a:extLst xmlns:a="http://schemas.openxmlformats.org/drawingml/2006/main">
              <a:ext uri="{FF2B5EF4-FFF2-40B4-BE49-F238E27FC236}">
                <a16:creationId xmlns:a16="http://schemas.microsoft.com/office/drawing/2014/main" id="{5EB55917-5646-4844-8ADB-637D60DE1237}"/>
              </a:ext>
            </a:extLst>
          </p:cNvPr>
          <p:cNvSpPr>
            <a:spLocks xmlns:a="http://schemas.openxmlformats.org/drawingml/2006/main" noGrp="1"/>
          </p:cNvSpPr>
          <p:nvPr/>
        </p:nvSpPr>
        <p:spPr>
          <a:xfrm xmlns:a="http://schemas.openxmlformats.org/drawingml/2006/main">
            <a:off x="685800" y="4562475"/>
            <a:ext cx="95250" cy="95250"/>
          </a:xfrm>
          <a:prstGeom xmlns:a="http://schemas.openxmlformats.org/drawingml/2006/main" prst="ellipse">
            <a:avLst/>
          </a:prstGeom>
          <a:solidFill xmlns:a="http://schemas.openxmlformats.org/drawingml/2006/main">
            <a:srgbClr val="29E7B1"/>
          </a:solidFill>
          <a:ln xmlns:a="http://schemas.openxmlformats.org/drawingml/2006/main" w="0">
            <a:solidFill>
              <a:srgbClr val="29E7B1"/>
            </a:solidFill>
            <a:prstDash val="solid"/>
          </a:ln>
        </p:spPr>
      </p:sp>
      <p:sp>
        <p:nvSpPr>
          <p:cNvPr id="14" name="trust-2">
            <a:extLst xmlns:a="http://schemas.openxmlformats.org/drawingml/2006/main">
              <a:ext uri="{FF2B5EF4-FFF2-40B4-BE49-F238E27FC236}">
                <a16:creationId xmlns:a16="http://schemas.microsoft.com/office/drawing/2014/main" id="{F61CB7E6-E154-490B-9A9D-5176EE6C84DC}"/>
              </a:ext>
            </a:extLst>
          </p:cNvPr>
          <p:cNvSpPr>
            <a:spLocks xmlns:a="http://schemas.openxmlformats.org/drawingml/2006/main" noGrp="1"/>
          </p:cNvSpPr>
          <p:nvPr/>
        </p:nvSpPr>
        <p:spPr>
          <a:xfrm xmlns:a="http://schemas.openxmlformats.org/drawingml/2006/main">
            <a:off x="914400" y="44672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Human correction appends a receipt</a:t>
            </a:r>
          </a:p>
        </p:txBody>
      </p:sp>
      <p:sp>
        <p:nvSpPr>
          <p:cNvPr id="15" name="trust-3-dot">
            <a:extLst xmlns:a="http://schemas.openxmlformats.org/drawingml/2006/main">
              <a:ext uri="{FF2B5EF4-FFF2-40B4-BE49-F238E27FC236}">
                <a16:creationId xmlns:a16="http://schemas.microsoft.com/office/drawing/2014/main" id="{A715C342-4057-406F-A362-A3E61D519EFF}"/>
              </a:ext>
            </a:extLst>
          </p:cNvPr>
          <p:cNvSpPr>
            <a:spLocks xmlns:a="http://schemas.openxmlformats.org/drawingml/2006/main" noGrp="1"/>
          </p:cNvSpPr>
          <p:nvPr/>
        </p:nvSpPr>
        <p:spPr>
          <a:xfrm xmlns:a="http://schemas.openxmlformats.org/drawingml/2006/main">
            <a:off x="685800" y="5143500"/>
            <a:ext cx="95250" cy="95250"/>
          </a:xfrm>
          <a:prstGeom xmlns:a="http://schemas.openxmlformats.org/drawingml/2006/main" prst="ellipse">
            <a:avLst/>
          </a:prstGeom>
          <a:solidFill xmlns:a="http://schemas.openxmlformats.org/drawingml/2006/main">
            <a:srgbClr val="FFC24A"/>
          </a:solidFill>
          <a:ln xmlns:a="http://schemas.openxmlformats.org/drawingml/2006/main" w="0">
            <a:solidFill>
              <a:srgbClr val="FFC24A"/>
            </a:solidFill>
            <a:prstDash val="solid"/>
          </a:ln>
        </p:spPr>
      </p:sp>
      <p:sp>
        <p:nvSpPr>
          <p:cNvPr id="16" name="trust-3">
            <a:extLst xmlns:a="http://schemas.openxmlformats.org/drawingml/2006/main">
              <a:ext uri="{FF2B5EF4-FFF2-40B4-BE49-F238E27FC236}">
                <a16:creationId xmlns:a16="http://schemas.microsoft.com/office/drawing/2014/main" id="{FEC0B30E-4403-4601-893B-7638A79C7F72}"/>
              </a:ext>
            </a:extLst>
          </p:cNvPr>
          <p:cNvSpPr>
            <a:spLocks xmlns:a="http://schemas.openxmlformats.org/drawingml/2006/main" noGrp="1"/>
          </p:cNvSpPr>
          <p:nvPr/>
        </p:nvSpPr>
        <p:spPr>
          <a:xfrm xmlns:a="http://schemas.openxmlformats.org/drawingml/2006/main">
            <a:off x="914400" y="50482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Read-only OAuth; no mailbox passwords</a:t>
            </a:r>
          </a:p>
        </p:txBody>
      </p:sp>
      <p:sp>
        <p:nvSpPr>
          <p:cNvPr id="17" name="trust-4-dot">
            <a:extLst xmlns:a="http://schemas.openxmlformats.org/drawingml/2006/main">
              <a:ext uri="{FF2B5EF4-FFF2-40B4-BE49-F238E27FC236}">
                <a16:creationId xmlns:a16="http://schemas.microsoft.com/office/drawing/2014/main" id="{D77B8C1A-8B8F-4E95-AD59-5FB928815CB0}"/>
              </a:ext>
            </a:extLst>
          </p:cNvPr>
          <p:cNvSpPr>
            <a:spLocks xmlns:a="http://schemas.openxmlformats.org/drawingml/2006/main" noGrp="1"/>
          </p:cNvSpPr>
          <p:nvPr/>
        </p:nvSpPr>
        <p:spPr>
          <a:xfrm xmlns:a="http://schemas.openxmlformats.org/drawingml/2006/main">
            <a:off x="685800" y="5724525"/>
            <a:ext cx="95250" cy="95250"/>
          </a:xfrm>
          <a:prstGeom xmlns:a="http://schemas.openxmlformats.org/drawingml/2006/main" prst="ellipse">
            <a:avLst/>
          </a:prstGeom>
          <a:solidFill xmlns:a="http://schemas.openxmlformats.org/drawingml/2006/main">
            <a:srgbClr val="FF5B78"/>
          </a:solidFill>
          <a:ln xmlns:a="http://schemas.openxmlformats.org/drawingml/2006/main" w="0">
            <a:solidFill>
              <a:srgbClr val="FF5B78"/>
            </a:solidFill>
            <a:prstDash val="solid"/>
          </a:ln>
        </p:spPr>
      </p:sp>
      <p:sp>
        <p:nvSpPr>
          <p:cNvPr id="18" name="trust-4">
            <a:extLst xmlns:a="http://schemas.openxmlformats.org/drawingml/2006/main">
              <a:ext uri="{FF2B5EF4-FFF2-40B4-BE49-F238E27FC236}">
                <a16:creationId xmlns:a16="http://schemas.microsoft.com/office/drawing/2014/main" id="{F583EC26-02A4-40BA-9DE5-3296EC8F85D2}"/>
              </a:ext>
            </a:extLst>
          </p:cNvPr>
          <p:cNvSpPr>
            <a:spLocks xmlns:a="http://schemas.openxmlformats.org/drawingml/2006/main" noGrp="1"/>
          </p:cNvSpPr>
          <p:nvPr/>
        </p:nvSpPr>
        <p:spPr>
          <a:xfrm xmlns:a="http://schemas.openxmlformats.org/drawingml/2006/main">
            <a:off x="914400" y="56292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No external action in the judged path</a:t>
            </a:r>
          </a:p>
        </p:txBody>
      </p:sp>
      <p:sp>
        <p:nvSpPr>
          <p:cNvPr id="19" name="trust-shot-frame">
            <a:extLst xmlns:a="http://schemas.openxmlformats.org/drawingml/2006/main">
              <a:ext uri="{FF2B5EF4-FFF2-40B4-BE49-F238E27FC236}">
                <a16:creationId xmlns:a16="http://schemas.microsoft.com/office/drawing/2014/main" id="{54A573CA-E89F-4040-BEF7-21CE9FBA267C}"/>
              </a:ext>
            </a:extLst>
          </p:cNvPr>
          <p:cNvSpPr>
            <a:spLocks xmlns:a="http://schemas.openxmlformats.org/drawingml/2006/main" noGrp="1"/>
          </p:cNvSpPr>
          <p:nvPr/>
        </p:nvSpPr>
        <p:spPr>
          <a:xfrm xmlns:a="http://schemas.openxmlformats.org/drawingml/2006/main">
            <a:off x="5257800" y="1885950"/>
            <a:ext cx="6324600" cy="3952875"/>
          </a:xfrm>
          <a:prstGeom xmlns:a="http://schemas.openxmlformats.org/drawingml/2006/main" prst="roundRect">
            <a:avLst>
              <a:gd name="adj" fmla="val 2892"/>
            </a:avLst>
          </a:prstGeom>
          <a:solidFill xmlns:a="http://schemas.openxmlformats.org/drawingml/2006/main">
            <a:srgbClr val="071421"/>
          </a:solidFill>
          <a:ln xmlns:a="http://schemas.openxmlformats.org/drawingml/2006/main" w="19050">
            <a:solidFill>
              <a:srgbClr val="FF5B78"/>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4f479fbbc66e4cb6"/>
          <a:stretch xmlns:a="http://schemas.openxmlformats.org/drawingml/2006/main"/>
        </p:blipFill>
        <p:spPr>
          <a:xfrm xmlns:a="http://schemas.openxmlformats.org/drawingml/2006/main">
            <a:off x="5349240" y="1943100"/>
            <a:ext cx="6141720" cy="3838575"/>
          </a:xfrm>
          <a:prstGeom xmlns:a="http://schemas.openxmlformats.org/drawingml/2006/main" prst="roundRect">
            <a:avLst>
              <a:gd name="adj" fmla="val 1985"/>
            </a:avLst>
          </a:prstGeom>
        </p:spPr>
      </p:pic>
      <p:sp>
        <p:nvSpPr>
          <p:cNvPr id="21" name="trust-caption">
            <a:extLst xmlns:a="http://schemas.openxmlformats.org/drawingml/2006/main">
              <a:ext uri="{FF2B5EF4-FFF2-40B4-BE49-F238E27FC236}">
                <a16:creationId xmlns:a16="http://schemas.microsoft.com/office/drawing/2014/main" id="{A423DA4C-76D9-42F8-ADE8-9EC700A3F6BC}"/>
              </a:ext>
            </a:extLst>
          </p:cNvPr>
          <p:cNvSpPr>
            <a:spLocks xmlns:a="http://schemas.openxmlformats.org/drawingml/2006/main" noGrp="1"/>
          </p:cNvSpPr>
          <p:nvPr/>
        </p:nvSpPr>
        <p:spPr>
          <a:xfrm xmlns:a="http://schemas.openxmlformats.org/drawingml/2006/main">
            <a:off x="6134100" y="59626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1">
                <a:solidFill>
                  <a:srgbClr val="FF5B78"/>
                </a:solidFill>
                <a:latin typeface="Aptos Mono"/>
                <a:ea typeface="Aptos Mono"/>
                <a:cs typeface="Aptos Mono"/>
              </a:defRPr>
            </a:pPr>
            <a:r>
              <a:rPr sz="1125" b="1">
                <a:solidFill>
                  <a:srgbClr val="FF5B78"/>
                </a:solidFill>
                <a:latin typeface="Aptos Mono"/>
                <a:ea typeface="Aptos Mono"/>
                <a:cs typeface="Aptos Mono"/>
              </a:rPr>
              <a:t>BLOCKED  ≠  SILENT  /  THE RECEIPT SHOWS WHY</a:t>
            </a:r>
          </a:p>
        </p:txBody>
      </p:sp>
      <p:sp>
        <p:nvSpPr>
          <p:cNvPr id="22" name="footer-line-8">
            <a:extLst xmlns:a="http://schemas.openxmlformats.org/drawingml/2006/main">
              <a:ext uri="{FF2B5EF4-FFF2-40B4-BE49-F238E27FC236}">
                <a16:creationId xmlns:a16="http://schemas.microsoft.com/office/drawing/2014/main" id="{E61F7063-3C43-47B8-960E-D006E2E8E3EE}"/>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3" name="footer-brand-8">
            <a:extLst xmlns:a="http://schemas.openxmlformats.org/drawingml/2006/main">
              <a:ext uri="{FF2B5EF4-FFF2-40B4-BE49-F238E27FC236}">
                <a16:creationId xmlns:a16="http://schemas.microsoft.com/office/drawing/2014/main" id="{29A1D348-522C-42F8-B096-48E0CF2A002A}"/>
              </a:ext>
            </a:extLst>
          </p:cNvPr>
          <p:cNvSpPr>
            <a:spLocks xmlns:a="http://schemas.openxmlformats.org/drawingml/2006/main" noGrp="1"/>
          </p:cNvSpPr>
          <p:nvPr/>
        </p:nvSpPr>
        <p:spPr>
          <a:xfrm xmlns:a="http://schemas.openxmlformats.org/drawingml/2006/main">
            <a:off x="6096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46657A"/>
                </a:solidFill>
                <a:latin typeface="Aptos Mono"/>
                <a:ea typeface="Aptos Mono"/>
                <a:cs typeface="Aptos Mono"/>
              </a:defRPr>
            </a:pPr>
            <a:r>
              <a:rPr sz="975" b="1">
                <a:solidFill>
                  <a:srgbClr val="46657A"/>
                </a:solidFill>
                <a:latin typeface="Aptos Mono"/>
                <a:ea typeface="Aptos Mono"/>
                <a:cs typeface="Aptos Mono"/>
              </a:rPr>
              <a:t>CONTEXTGATE  /  KIRA LABS</a:t>
            </a:r>
          </a:p>
        </p:txBody>
      </p:sp>
      <p:sp>
        <p:nvSpPr>
          <p:cNvPr id="24" name="footer-number-8">
            <a:extLst xmlns:a="http://schemas.openxmlformats.org/drawingml/2006/main">
              <a:ext uri="{FF2B5EF4-FFF2-40B4-BE49-F238E27FC236}">
                <a16:creationId xmlns:a16="http://schemas.microsoft.com/office/drawing/2014/main" id="{A3A0CD8B-5DB1-4934-ABA1-10FC53A997E2}"/>
              </a:ext>
            </a:extLst>
          </p:cNvPr>
          <p:cNvSpPr>
            <a:spLocks xmlns:a="http://schemas.openxmlformats.org/drawingml/2006/main" noGrp="1"/>
          </p:cNvSpPr>
          <p:nvPr/>
        </p:nvSpPr>
        <p:spPr>
          <a:xfrm xmlns:a="http://schemas.openxmlformats.org/drawingml/2006/main">
            <a:off x="11144250" y="65722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08</a:t>
            </a:r>
          </a:p>
        </p:txBody>
      </p:sp>
    </p:spTree>
    <p:extLst>
      <p:ext uri="{BB962C8B-B14F-4D97-AF65-F5344CB8AC3E}">
        <p14:creationId xmlns:p14="http://schemas.microsoft.com/office/powerpoint/2010/main" val="1078317301"/>
      </p:ext>
    </p:extLst>
  </p:cSld>
</p:sld>
</file>

<file path=ppt/slides/slide9.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35" name="top-signal-9">
            <a:extLst xmlns:a="http://schemas.openxmlformats.org/drawingml/2006/main">
              <a:ext uri="{FF2B5EF4-FFF2-40B4-BE49-F238E27FC236}">
                <a16:creationId xmlns:a16="http://schemas.microsoft.com/office/drawing/2014/main" id="{30920255-577C-4DA5-816B-1F99620C64C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9">
            <a:extLst xmlns:a="http://schemas.openxmlformats.org/drawingml/2006/main">
              <a:ext uri="{FF2B5EF4-FFF2-40B4-BE49-F238E27FC236}">
                <a16:creationId xmlns:a16="http://schemas.microsoft.com/office/drawing/2014/main" id="{3CE482F2-4A64-4D3E-A255-D3784397B67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3" name="signal-line-a-9">
            <a:extLst xmlns:a="http://schemas.openxmlformats.org/drawingml/2006/main">
              <a:ext uri="{FF2B5EF4-FFF2-40B4-BE49-F238E27FC236}">
                <a16:creationId xmlns:a16="http://schemas.microsoft.com/office/drawing/2014/main" id="{CFF53E5C-C43B-4FD8-BBBA-C19F877F3DA1}"/>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9">
            <a:extLst xmlns:a="http://schemas.openxmlformats.org/drawingml/2006/main">
              <a:ext uri="{FF2B5EF4-FFF2-40B4-BE49-F238E27FC236}">
                <a16:creationId xmlns:a16="http://schemas.microsoft.com/office/drawing/2014/main" id="{702AE453-6B77-45A6-A7D7-3BE2995F3D8C}"/>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9">
            <a:extLst xmlns:a="http://schemas.openxmlformats.org/drawingml/2006/main">
              <a:ext uri="{FF2B5EF4-FFF2-40B4-BE49-F238E27FC236}">
                <a16:creationId xmlns:a16="http://schemas.microsoft.com/office/drawing/2014/main" id="{CB734BA9-6586-4723-9307-F50A126472A5}"/>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kicker-9">
            <a:extLst xmlns:a="http://schemas.openxmlformats.org/drawingml/2006/main">
              <a:ext uri="{FF2B5EF4-FFF2-40B4-BE49-F238E27FC236}">
                <a16:creationId xmlns:a16="http://schemas.microsoft.com/office/drawing/2014/main" id="{D573A5DD-67FD-47A1-A493-776E855DA4DE}"/>
              </a:ext>
            </a:extLst>
          </p:cNvPr>
          <p:cNvSpPr>
            <a:spLocks xmlns:a="http://schemas.openxmlformats.org/drawingml/2006/main" noGrp="1"/>
          </p:cNvSpPr>
          <p:nvPr/>
        </p:nvSpPr>
        <p:spPr>
          <a:xfrm xmlns:a="http://schemas.openxmlformats.org/drawingml/2006/main">
            <a:off x="609600" y="3810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3DDCFF"/>
                </a:solidFill>
                <a:latin typeface="Aptos Mono"/>
                <a:ea typeface="Aptos Mono"/>
                <a:cs typeface="Aptos Mono"/>
              </a:defRPr>
            </a:pPr>
            <a:r>
              <a:rPr sz="1125" b="1">
                <a:solidFill>
                  <a:srgbClr val="3DDCFF"/>
                </a:solidFill>
                <a:latin typeface="Aptos Mono"/>
                <a:ea typeface="Aptos Mono"/>
                <a:cs typeface="Aptos Mono"/>
              </a:rPr>
              <a:t>LIVE DEMO</a:t>
            </a:r>
          </a:p>
        </p:txBody>
      </p:sp>
      <p:sp>
        <p:nvSpPr>
          <p:cNvPr id="7" name="title-9">
            <a:extLst xmlns:a="http://schemas.openxmlformats.org/drawingml/2006/main">
              <a:ext uri="{FF2B5EF4-FFF2-40B4-BE49-F238E27FC236}">
                <a16:creationId xmlns:a16="http://schemas.microsoft.com/office/drawing/2014/main" id="{73D2EA51-6257-488D-8766-1FD7ECB6FDCC}"/>
              </a:ext>
            </a:extLst>
          </p:cNvPr>
          <p:cNvSpPr>
            <a:spLocks xmlns:a="http://schemas.openxmlformats.org/drawingml/2006/main" noGrp="1"/>
          </p:cNvSpPr>
          <p:nvPr/>
        </p:nvSpPr>
        <p:spPr>
          <a:xfrm xmlns:a="http://schemas.openxmlformats.org/drawingml/2006/main">
            <a:off x="609600" y="65722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3750" b="1">
                <a:solidFill>
                  <a:srgbClr val="F6FBFF"/>
                </a:solidFill>
                <a:latin typeface="Aptos Display"/>
                <a:ea typeface="Aptos Display"/>
                <a:cs typeface="Aptos Display"/>
              </a:defRPr>
            </a:pPr>
            <a:r>
              <a:rPr sz="3750" b="1">
                <a:solidFill>
                  <a:srgbClr val="F6FBFF"/>
                </a:solidFill>
                <a:latin typeface="Aptos Display"/>
                <a:ea typeface="Aptos Display"/>
                <a:cs typeface="Aptos Display"/>
              </a:rPr>
              <a:t>Ask the questions judges care about</a:t>
            </a:r>
          </a:p>
        </p:txBody>
      </p:sp>
      <p:sp>
        <p:nvSpPr>
          <p:cNvPr id="8" name="subtitle-9">
            <a:extLst xmlns:a="http://schemas.openxmlformats.org/drawingml/2006/main">
              <a:ext uri="{FF2B5EF4-FFF2-40B4-BE49-F238E27FC236}">
                <a16:creationId xmlns:a16="http://schemas.microsoft.com/office/drawing/2014/main" id="{FEDC1508-BC47-41D9-BB46-8C1009727CD7}"/>
              </a:ext>
            </a:extLst>
          </p:cNvPr>
          <p:cNvSpPr>
            <a:spLocks xmlns:a="http://schemas.openxmlformats.org/drawingml/2006/main" noGrp="1"/>
          </p:cNvSpPr>
          <p:nvPr/>
        </p:nvSpPr>
        <p:spPr>
          <a:xfrm xmlns:a="http://schemas.openxmlformats.org/drawingml/2006/main">
            <a:off x="628650" y="12382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83A4BA"/>
                </a:solidFill>
                <a:latin typeface="Aptos"/>
                <a:ea typeface="Aptos"/>
                <a:cs typeface="Aptos"/>
              </a:defRPr>
            </a:pPr>
            <a:r>
              <a:rPr sz="1725" b="0">
                <a:solidFill>
                  <a:srgbClr val="83A4BA"/>
                </a:solidFill>
                <a:latin typeface="Aptos"/>
                <a:ea typeface="Aptos"/>
                <a:cs typeface="Aptos"/>
              </a:rPr>
              <a:t>Every answer can point back to evidence, policy, or a human correction.</a:t>
            </a:r>
          </a:p>
        </p:txBody>
      </p:sp>
      <p:sp>
        <p:nvSpPr>
          <p:cNvPr id="9" name="terminal">
            <a:extLst xmlns:a="http://schemas.openxmlformats.org/drawingml/2006/main">
              <a:ext uri="{FF2B5EF4-FFF2-40B4-BE49-F238E27FC236}">
                <a16:creationId xmlns:a16="http://schemas.microsoft.com/office/drawing/2014/main" id="{49FD2FC9-E54D-4262-9940-7451BB7C6FB5}"/>
              </a:ext>
            </a:extLst>
          </p:cNvPr>
          <p:cNvSpPr>
            <a:spLocks xmlns:a="http://schemas.openxmlformats.org/drawingml/2006/main" noGrp="1"/>
          </p:cNvSpPr>
          <p:nvPr/>
        </p:nvSpPr>
        <p:spPr>
          <a:xfrm xmlns:a="http://schemas.openxmlformats.org/drawingml/2006/main">
            <a:off x="704850" y="1885950"/>
            <a:ext cx="7239000" cy="4143375"/>
          </a:xfrm>
          <a:prstGeom xmlns:a="http://schemas.openxmlformats.org/drawingml/2006/main" prst="roundRect">
            <a:avLst>
              <a:gd name="adj" fmla="val 2759"/>
            </a:avLst>
          </a:prstGeom>
          <a:solidFill xmlns:a="http://schemas.openxmlformats.org/drawingml/2006/main">
            <a:srgbClr val="071421"/>
          </a:solidFill>
          <a:ln xmlns:a="http://schemas.openxmlformats.org/drawingml/2006/main" w="19050">
            <a:solidFill>
              <a:srgbClr val="099DCC"/>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10" name="terminal-head">
            <a:extLst xmlns:a="http://schemas.openxmlformats.org/drawingml/2006/main">
              <a:ext uri="{FF2B5EF4-FFF2-40B4-BE49-F238E27FC236}">
                <a16:creationId xmlns:a16="http://schemas.microsoft.com/office/drawing/2014/main" id="{C4EA7A72-8D23-4105-AE6B-2D3DF8AB39F9}"/>
              </a:ext>
            </a:extLst>
          </p:cNvPr>
          <p:cNvSpPr>
            <a:spLocks xmlns:a="http://schemas.openxmlformats.org/drawingml/2006/main" noGrp="1"/>
          </p:cNvSpPr>
          <p:nvPr/>
        </p:nvSpPr>
        <p:spPr>
          <a:xfrm xmlns:a="http://schemas.openxmlformats.org/drawingml/2006/main">
            <a:off x="1000125" y="2105025"/>
            <a:ext cx="3524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3DDCFF"/>
                </a:solidFill>
                <a:latin typeface="Aptos Mono"/>
                <a:ea typeface="Aptos Mono"/>
                <a:cs typeface="Aptos Mono"/>
              </a:defRPr>
            </a:pPr>
            <a:r>
              <a:rPr sz="1200" b="1">
                <a:solidFill>
                  <a:srgbClr val="3DDCFF"/>
                </a:solidFill>
                <a:latin typeface="Aptos Mono"/>
                <a:ea typeface="Aptos Mono"/>
                <a:cs typeface="Aptos Mono"/>
              </a:rPr>
              <a:t>ASK CONTEXTGATE</a:t>
            </a:r>
          </a:p>
        </p:txBody>
      </p:sp>
      <p:sp>
        <p:nvSpPr>
          <p:cNvPr id="11" name="prompt-caret-0">
            <a:extLst xmlns:a="http://schemas.openxmlformats.org/drawingml/2006/main">
              <a:ext uri="{FF2B5EF4-FFF2-40B4-BE49-F238E27FC236}">
                <a16:creationId xmlns:a16="http://schemas.microsoft.com/office/drawing/2014/main" id="{972277AA-E59D-4B97-AED2-2F3FA28E83B7}"/>
              </a:ext>
            </a:extLst>
          </p:cNvPr>
          <p:cNvSpPr>
            <a:spLocks xmlns:a="http://schemas.openxmlformats.org/drawingml/2006/main" noGrp="1"/>
          </p:cNvSpPr>
          <p:nvPr/>
        </p:nvSpPr>
        <p:spPr>
          <a:xfrm xmlns:a="http://schemas.openxmlformats.org/drawingml/2006/main">
            <a:off x="1000125" y="2628900"/>
            <a:ext cx="22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3DDCFF"/>
                </a:solidFill>
                <a:latin typeface="Aptos Mono"/>
                <a:ea typeface="Aptos Mono"/>
                <a:cs typeface="Aptos Mono"/>
              </a:defRPr>
            </a:pPr>
            <a:r>
              <a:rPr sz="1725" b="1">
                <a:solidFill>
                  <a:srgbClr val="3DDCFF"/>
                </a:solidFill>
                <a:latin typeface="Aptos Mono"/>
                <a:ea typeface="Aptos Mono"/>
                <a:cs typeface="Aptos Mono"/>
              </a:rPr>
              <a:t>&gt;</a:t>
            </a:r>
          </a:p>
        </p:txBody>
      </p:sp>
      <p:sp>
        <p:nvSpPr>
          <p:cNvPr id="12" name="prompt-0">
            <a:extLst xmlns:a="http://schemas.openxmlformats.org/drawingml/2006/main">
              <a:ext uri="{FF2B5EF4-FFF2-40B4-BE49-F238E27FC236}">
                <a16:creationId xmlns:a16="http://schemas.microsoft.com/office/drawing/2014/main" id="{71F06780-9355-40BE-BB49-DBAEFDAB4CE9}"/>
              </a:ext>
            </a:extLst>
          </p:cNvPr>
          <p:cNvSpPr>
            <a:spLocks xmlns:a="http://schemas.openxmlformats.org/drawingml/2006/main" noGrp="1"/>
          </p:cNvSpPr>
          <p:nvPr/>
        </p:nvSpPr>
        <p:spPr>
          <a:xfrm xmlns:a="http://schemas.openxmlformats.org/drawingml/2006/main">
            <a:off x="1390650" y="262890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6FBFF"/>
                </a:solidFill>
                <a:latin typeface="Aptos Mono"/>
                <a:ea typeface="Aptos Mono"/>
                <a:cs typeface="Aptos Mono"/>
              </a:defRPr>
            </a:pPr>
            <a:r>
              <a:rPr sz="1650" b="0">
                <a:solidFill>
                  <a:srgbClr val="F6FBFF"/>
                </a:solidFill>
                <a:latin typeface="Aptos Mono"/>
                <a:ea typeface="Aptos Mono"/>
                <a:cs typeface="Aptos Mono"/>
              </a:rPr>
              <a:t>Why was this blocked? Show your sources.</a:t>
            </a:r>
          </a:p>
        </p:txBody>
      </p:sp>
      <p:sp>
        <p:nvSpPr>
          <p:cNvPr id="13" name="prompt-rule-0">
            <a:extLst xmlns:a="http://schemas.openxmlformats.org/drawingml/2006/main">
              <a:ext uri="{FF2B5EF4-FFF2-40B4-BE49-F238E27FC236}">
                <a16:creationId xmlns:a16="http://schemas.microsoft.com/office/drawing/2014/main" id="{AB7C9BD4-A4A2-466F-A252-AF6C6ED8BF0F}"/>
              </a:ext>
            </a:extLst>
          </p:cNvPr>
          <p:cNvSpPr>
            <a:spLocks xmlns:a="http://schemas.openxmlformats.org/drawingml/2006/main" noGrp="1"/>
          </p:cNvSpPr>
          <p:nvPr/>
        </p:nvSpPr>
        <p:spPr>
          <a:xfrm xmlns:a="http://schemas.openxmlformats.org/drawingml/2006/main">
            <a:off x="1000125" y="3124200"/>
            <a:ext cx="6400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4" name="prompt-caret-1">
            <a:extLst xmlns:a="http://schemas.openxmlformats.org/drawingml/2006/main">
              <a:ext uri="{FF2B5EF4-FFF2-40B4-BE49-F238E27FC236}">
                <a16:creationId xmlns:a16="http://schemas.microsoft.com/office/drawing/2014/main" id="{6766935D-0346-4BD7-A3F2-F97CDEE976F7}"/>
              </a:ext>
            </a:extLst>
          </p:cNvPr>
          <p:cNvSpPr>
            <a:spLocks xmlns:a="http://schemas.openxmlformats.org/drawingml/2006/main" noGrp="1"/>
          </p:cNvSpPr>
          <p:nvPr/>
        </p:nvSpPr>
        <p:spPr>
          <a:xfrm xmlns:a="http://schemas.openxmlformats.org/drawingml/2006/main">
            <a:off x="1000125" y="3409950"/>
            <a:ext cx="22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3DDCFF"/>
                </a:solidFill>
                <a:latin typeface="Aptos Mono"/>
                <a:ea typeface="Aptos Mono"/>
                <a:cs typeface="Aptos Mono"/>
              </a:defRPr>
            </a:pPr>
            <a:r>
              <a:rPr sz="1725" b="1">
                <a:solidFill>
                  <a:srgbClr val="3DDCFF"/>
                </a:solidFill>
                <a:latin typeface="Aptos Mono"/>
                <a:ea typeface="Aptos Mono"/>
                <a:cs typeface="Aptos Mono"/>
              </a:rPr>
              <a:t>&gt;</a:t>
            </a:r>
          </a:p>
        </p:txBody>
      </p:sp>
      <p:sp>
        <p:nvSpPr>
          <p:cNvPr id="15" name="prompt-1">
            <a:extLst xmlns:a="http://schemas.openxmlformats.org/drawingml/2006/main">
              <a:ext uri="{FF2B5EF4-FFF2-40B4-BE49-F238E27FC236}">
                <a16:creationId xmlns:a16="http://schemas.microsoft.com/office/drawing/2014/main" id="{C6C2D0BB-FFE1-4D37-9C29-A6FB0A6D22B6}"/>
              </a:ext>
            </a:extLst>
          </p:cNvPr>
          <p:cNvSpPr>
            <a:spLocks xmlns:a="http://schemas.openxmlformats.org/drawingml/2006/main" noGrp="1"/>
          </p:cNvSpPr>
          <p:nvPr/>
        </p:nvSpPr>
        <p:spPr>
          <a:xfrm xmlns:a="http://schemas.openxmlformats.org/drawingml/2006/main">
            <a:off x="1390650" y="340995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6FBFF"/>
                </a:solidFill>
                <a:latin typeface="Aptos Mono"/>
                <a:ea typeface="Aptos Mono"/>
                <a:cs typeface="Aptos Mono"/>
              </a:defRPr>
            </a:pPr>
            <a:r>
              <a:rPr sz="1650" b="0">
                <a:solidFill>
                  <a:srgbClr val="F6FBFF"/>
                </a:solidFill>
                <a:latin typeface="Aptos Mono"/>
                <a:ea typeface="Aptos Mono"/>
                <a:cs typeface="Aptos Mono"/>
              </a:rPr>
              <a:t>How many fictional events came from Eventbrite?</a:t>
            </a:r>
          </a:p>
        </p:txBody>
      </p:sp>
      <p:sp>
        <p:nvSpPr>
          <p:cNvPr id="16" name="prompt-rule-1">
            <a:extLst xmlns:a="http://schemas.openxmlformats.org/drawingml/2006/main">
              <a:ext uri="{FF2B5EF4-FFF2-40B4-BE49-F238E27FC236}">
                <a16:creationId xmlns:a16="http://schemas.microsoft.com/office/drawing/2014/main" id="{30105C53-5303-4835-B950-F52D3A222556}"/>
              </a:ext>
            </a:extLst>
          </p:cNvPr>
          <p:cNvSpPr>
            <a:spLocks xmlns:a="http://schemas.openxmlformats.org/drawingml/2006/main" noGrp="1"/>
          </p:cNvSpPr>
          <p:nvPr/>
        </p:nvSpPr>
        <p:spPr>
          <a:xfrm xmlns:a="http://schemas.openxmlformats.org/drawingml/2006/main">
            <a:off x="1000125" y="3905250"/>
            <a:ext cx="6400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7" name="prompt-caret-2">
            <a:extLst xmlns:a="http://schemas.openxmlformats.org/drawingml/2006/main">
              <a:ext uri="{FF2B5EF4-FFF2-40B4-BE49-F238E27FC236}">
                <a16:creationId xmlns:a16="http://schemas.microsoft.com/office/drawing/2014/main" id="{0C76F7F3-F437-4C18-A366-31A5B0BFFBA1}"/>
              </a:ext>
            </a:extLst>
          </p:cNvPr>
          <p:cNvSpPr>
            <a:spLocks xmlns:a="http://schemas.openxmlformats.org/drawingml/2006/main" noGrp="1"/>
          </p:cNvSpPr>
          <p:nvPr/>
        </p:nvSpPr>
        <p:spPr>
          <a:xfrm xmlns:a="http://schemas.openxmlformats.org/drawingml/2006/main">
            <a:off x="1000125" y="4191000"/>
            <a:ext cx="22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3DDCFF"/>
                </a:solidFill>
                <a:latin typeface="Aptos Mono"/>
                <a:ea typeface="Aptos Mono"/>
                <a:cs typeface="Aptos Mono"/>
              </a:defRPr>
            </a:pPr>
            <a:r>
              <a:rPr sz="1725" b="1">
                <a:solidFill>
                  <a:srgbClr val="3DDCFF"/>
                </a:solidFill>
                <a:latin typeface="Aptos Mono"/>
                <a:ea typeface="Aptos Mono"/>
                <a:cs typeface="Aptos Mono"/>
              </a:rPr>
              <a:t>&gt;</a:t>
            </a:r>
          </a:p>
        </p:txBody>
      </p:sp>
      <p:sp>
        <p:nvSpPr>
          <p:cNvPr id="18" name="prompt-2">
            <a:extLst xmlns:a="http://schemas.openxmlformats.org/drawingml/2006/main">
              <a:ext uri="{FF2B5EF4-FFF2-40B4-BE49-F238E27FC236}">
                <a16:creationId xmlns:a16="http://schemas.microsoft.com/office/drawing/2014/main" id="{68581342-9407-449C-A523-D0F19F949C57}"/>
              </a:ext>
            </a:extLst>
          </p:cNvPr>
          <p:cNvSpPr>
            <a:spLocks xmlns:a="http://schemas.openxmlformats.org/drawingml/2006/main" noGrp="1"/>
          </p:cNvSpPr>
          <p:nvPr/>
        </p:nvSpPr>
        <p:spPr>
          <a:xfrm xmlns:a="http://schemas.openxmlformats.org/drawingml/2006/main">
            <a:off x="1390650" y="419100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6FBFF"/>
                </a:solidFill>
                <a:latin typeface="Aptos Mono"/>
                <a:ea typeface="Aptos Mono"/>
                <a:cs typeface="Aptos Mono"/>
              </a:defRPr>
            </a:pPr>
            <a:r>
              <a:rPr sz="1650" b="0">
                <a:solidFill>
                  <a:srgbClr val="F6FBFF"/>
                </a:solidFill>
                <a:latin typeface="Aptos Mono"/>
                <a:ea typeface="Aptos Mono"/>
                <a:cs typeface="Aptos Mono"/>
              </a:rPr>
              <a:t>Correct this total—and preserve the original receipt.</a:t>
            </a:r>
          </a:p>
        </p:txBody>
      </p:sp>
      <p:sp>
        <p:nvSpPr>
          <p:cNvPr id="19" name="prompt-rule-2">
            <a:extLst xmlns:a="http://schemas.openxmlformats.org/drawingml/2006/main">
              <a:ext uri="{FF2B5EF4-FFF2-40B4-BE49-F238E27FC236}">
                <a16:creationId xmlns:a16="http://schemas.microsoft.com/office/drawing/2014/main" id="{33EFC401-13B3-440C-B829-DACB2BF3FAE0}"/>
              </a:ext>
            </a:extLst>
          </p:cNvPr>
          <p:cNvSpPr>
            <a:spLocks xmlns:a="http://schemas.openxmlformats.org/drawingml/2006/main" noGrp="1"/>
          </p:cNvSpPr>
          <p:nvPr/>
        </p:nvSpPr>
        <p:spPr>
          <a:xfrm xmlns:a="http://schemas.openxmlformats.org/drawingml/2006/main">
            <a:off x="1000125" y="4686300"/>
            <a:ext cx="6400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20" name="prompt-caret-3">
            <a:extLst xmlns:a="http://schemas.openxmlformats.org/drawingml/2006/main">
              <a:ext uri="{FF2B5EF4-FFF2-40B4-BE49-F238E27FC236}">
                <a16:creationId xmlns:a16="http://schemas.microsoft.com/office/drawing/2014/main" id="{3C7E958C-0E86-4E0F-B40C-809685FAFBF3}"/>
              </a:ext>
            </a:extLst>
          </p:cNvPr>
          <p:cNvSpPr>
            <a:spLocks xmlns:a="http://schemas.openxmlformats.org/drawingml/2006/main" noGrp="1"/>
          </p:cNvSpPr>
          <p:nvPr/>
        </p:nvSpPr>
        <p:spPr>
          <a:xfrm xmlns:a="http://schemas.openxmlformats.org/drawingml/2006/main">
            <a:off x="1000125" y="4972050"/>
            <a:ext cx="22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29E7B1"/>
                </a:solidFill>
                <a:latin typeface="Aptos Mono"/>
                <a:ea typeface="Aptos Mono"/>
                <a:cs typeface="Aptos Mono"/>
              </a:defRPr>
            </a:pPr>
            <a:r>
              <a:rPr sz="1725" b="1">
                <a:solidFill>
                  <a:srgbClr val="29E7B1"/>
                </a:solidFill>
                <a:latin typeface="Aptos Mono"/>
                <a:ea typeface="Aptos Mono"/>
                <a:cs typeface="Aptos Mono"/>
              </a:rPr>
              <a:t>&gt;</a:t>
            </a:r>
          </a:p>
        </p:txBody>
      </p:sp>
      <p:sp>
        <p:nvSpPr>
          <p:cNvPr id="21" name="prompt-3">
            <a:extLst xmlns:a="http://schemas.openxmlformats.org/drawingml/2006/main">
              <a:ext uri="{FF2B5EF4-FFF2-40B4-BE49-F238E27FC236}">
                <a16:creationId xmlns:a16="http://schemas.microsoft.com/office/drawing/2014/main" id="{DA677193-A3C7-43BB-A53B-7A59DEBE9FCC}"/>
              </a:ext>
            </a:extLst>
          </p:cNvPr>
          <p:cNvSpPr>
            <a:spLocks xmlns:a="http://schemas.openxmlformats.org/drawingml/2006/main" noGrp="1"/>
          </p:cNvSpPr>
          <p:nvPr/>
        </p:nvSpPr>
        <p:spPr>
          <a:xfrm xmlns:a="http://schemas.openxmlformats.org/drawingml/2006/main">
            <a:off x="1390650" y="497205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6FBFF"/>
                </a:solidFill>
                <a:latin typeface="Aptos Mono"/>
                <a:ea typeface="Aptos Mono"/>
                <a:cs typeface="Aptos Mono"/>
              </a:defRPr>
            </a:pPr>
            <a:r>
              <a:rPr sz="1650" b="0">
                <a:solidFill>
                  <a:srgbClr val="F6FBFF"/>
                </a:solidFill>
                <a:latin typeface="Aptos Mono"/>
                <a:ea typeface="Aptos Mono"/>
                <a:cs typeface="Aptos Mono"/>
              </a:rPr>
              <a:t>Create a Kira Labs PDF report and pie chart.</a:t>
            </a:r>
          </a:p>
        </p:txBody>
      </p:sp>
      <p:sp>
        <p:nvSpPr>
          <p:cNvPr id="22" name="judge-view-kicker">
            <a:extLst xmlns:a="http://schemas.openxmlformats.org/drawingml/2006/main">
              <a:ext uri="{FF2B5EF4-FFF2-40B4-BE49-F238E27FC236}">
                <a16:creationId xmlns:a16="http://schemas.microsoft.com/office/drawing/2014/main" id="{3A578B83-596D-45DB-9BD0-920ABAD380A4}"/>
              </a:ext>
            </a:extLst>
          </p:cNvPr>
          <p:cNvSpPr>
            <a:spLocks xmlns:a="http://schemas.openxmlformats.org/drawingml/2006/main" noGrp="1"/>
          </p:cNvSpPr>
          <p:nvPr/>
        </p:nvSpPr>
        <p:spPr>
          <a:xfrm xmlns:a="http://schemas.openxmlformats.org/drawingml/2006/main">
            <a:off x="8534400" y="2000250"/>
            <a:ext cx="2724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FFC24A"/>
                </a:solidFill>
                <a:latin typeface="Aptos Mono"/>
                <a:ea typeface="Aptos Mono"/>
                <a:cs typeface="Aptos Mono"/>
              </a:defRPr>
            </a:pPr>
            <a:r>
              <a:rPr sz="1200" b="1">
                <a:solidFill>
                  <a:srgbClr val="FFC24A"/>
                </a:solidFill>
                <a:latin typeface="Aptos Mono"/>
                <a:ea typeface="Aptos Mono"/>
                <a:cs typeface="Aptos Mono"/>
              </a:rPr>
              <a:t>WHAT JUDGES SEE</a:t>
            </a:r>
          </a:p>
        </p:txBody>
      </p:sp>
      <p:sp>
        <p:nvSpPr>
          <p:cNvPr id="23" name="judge-see-1-dot">
            <a:extLst xmlns:a="http://schemas.openxmlformats.org/drawingml/2006/main">
              <a:ext uri="{FF2B5EF4-FFF2-40B4-BE49-F238E27FC236}">
                <a16:creationId xmlns:a16="http://schemas.microsoft.com/office/drawing/2014/main" id="{07B51E40-3EE6-4571-B067-B31046EB30FC}"/>
              </a:ext>
            </a:extLst>
          </p:cNvPr>
          <p:cNvSpPr>
            <a:spLocks xmlns:a="http://schemas.openxmlformats.org/drawingml/2006/main" noGrp="1"/>
          </p:cNvSpPr>
          <p:nvPr/>
        </p:nvSpPr>
        <p:spPr>
          <a:xfrm xmlns:a="http://schemas.openxmlformats.org/drawingml/2006/main">
            <a:off x="8524875" y="2571750"/>
            <a:ext cx="95250" cy="95250"/>
          </a:xfrm>
          <a:prstGeom xmlns:a="http://schemas.openxmlformats.org/drawingml/2006/main" prst="ellipse">
            <a:avLst/>
          </a:prstGeom>
          <a:solidFill xmlns:a="http://schemas.openxmlformats.org/drawingml/2006/main">
            <a:srgbClr val="3DDCFF"/>
          </a:solidFill>
          <a:ln xmlns:a="http://schemas.openxmlformats.org/drawingml/2006/main" w="0">
            <a:solidFill>
              <a:srgbClr val="3DDCFF"/>
            </a:solidFill>
            <a:prstDash val="solid"/>
          </a:ln>
        </p:spPr>
      </p:sp>
      <p:sp>
        <p:nvSpPr>
          <p:cNvPr id="24" name="judge-see-1">
            <a:extLst xmlns:a="http://schemas.openxmlformats.org/drawingml/2006/main">
              <a:ext uri="{FF2B5EF4-FFF2-40B4-BE49-F238E27FC236}">
                <a16:creationId xmlns:a16="http://schemas.microsoft.com/office/drawing/2014/main" id="{DCBC400C-153E-4B1D-A3D7-042E612AD991}"/>
              </a:ext>
            </a:extLst>
          </p:cNvPr>
          <p:cNvSpPr>
            <a:spLocks xmlns:a="http://schemas.openxmlformats.org/drawingml/2006/main" noGrp="1"/>
          </p:cNvSpPr>
          <p:nvPr/>
        </p:nvSpPr>
        <p:spPr>
          <a:xfrm xmlns:a="http://schemas.openxmlformats.org/drawingml/2006/main">
            <a:off x="8753475" y="2476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A cited explanation</a:t>
            </a:r>
          </a:p>
        </p:txBody>
      </p:sp>
      <p:sp>
        <p:nvSpPr>
          <p:cNvPr id="25" name="judge-see-2-dot">
            <a:extLst xmlns:a="http://schemas.openxmlformats.org/drawingml/2006/main">
              <a:ext uri="{FF2B5EF4-FFF2-40B4-BE49-F238E27FC236}">
                <a16:creationId xmlns:a16="http://schemas.microsoft.com/office/drawing/2014/main" id="{8CB3ECD7-61DD-4E3E-8E1A-83311FDDAEBA}"/>
              </a:ext>
            </a:extLst>
          </p:cNvPr>
          <p:cNvSpPr>
            <a:spLocks xmlns:a="http://schemas.openxmlformats.org/drawingml/2006/main" noGrp="1"/>
          </p:cNvSpPr>
          <p:nvPr/>
        </p:nvSpPr>
        <p:spPr>
          <a:xfrm xmlns:a="http://schemas.openxmlformats.org/drawingml/2006/main">
            <a:off x="8524875" y="3276600"/>
            <a:ext cx="95250" cy="95250"/>
          </a:xfrm>
          <a:prstGeom xmlns:a="http://schemas.openxmlformats.org/drawingml/2006/main" prst="ellipse">
            <a:avLst/>
          </a:prstGeom>
          <a:solidFill xmlns:a="http://schemas.openxmlformats.org/drawingml/2006/main">
            <a:srgbClr val="29E7B1"/>
          </a:solidFill>
          <a:ln xmlns:a="http://schemas.openxmlformats.org/drawingml/2006/main" w="0">
            <a:solidFill>
              <a:srgbClr val="29E7B1"/>
            </a:solidFill>
            <a:prstDash val="solid"/>
          </a:ln>
        </p:spPr>
      </p:sp>
      <p:sp>
        <p:nvSpPr>
          <p:cNvPr id="26" name="judge-see-2">
            <a:extLst xmlns:a="http://schemas.openxmlformats.org/drawingml/2006/main">
              <a:ext uri="{FF2B5EF4-FFF2-40B4-BE49-F238E27FC236}">
                <a16:creationId xmlns:a16="http://schemas.microsoft.com/office/drawing/2014/main" id="{DD4DB2A2-2AD0-47D7-B9D3-513580ECDFBC}"/>
              </a:ext>
            </a:extLst>
          </p:cNvPr>
          <p:cNvSpPr>
            <a:spLocks xmlns:a="http://schemas.openxmlformats.org/drawingml/2006/main" noGrp="1"/>
          </p:cNvSpPr>
          <p:nvPr/>
        </p:nvSpPr>
        <p:spPr>
          <a:xfrm xmlns:a="http://schemas.openxmlformats.org/drawingml/2006/main">
            <a:off x="8753475" y="31813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A corrected state</a:t>
            </a:r>
          </a:p>
        </p:txBody>
      </p:sp>
      <p:sp>
        <p:nvSpPr>
          <p:cNvPr id="27" name="judge-see-3-dot">
            <a:extLst xmlns:a="http://schemas.openxmlformats.org/drawingml/2006/main">
              <a:ext uri="{FF2B5EF4-FFF2-40B4-BE49-F238E27FC236}">
                <a16:creationId xmlns:a16="http://schemas.microsoft.com/office/drawing/2014/main" id="{41172D26-CE8F-4819-A193-6851BB0554F7}"/>
              </a:ext>
            </a:extLst>
          </p:cNvPr>
          <p:cNvSpPr>
            <a:spLocks xmlns:a="http://schemas.openxmlformats.org/drawingml/2006/main" noGrp="1"/>
          </p:cNvSpPr>
          <p:nvPr/>
        </p:nvSpPr>
        <p:spPr>
          <a:xfrm xmlns:a="http://schemas.openxmlformats.org/drawingml/2006/main">
            <a:off x="8524875" y="3981450"/>
            <a:ext cx="95250" cy="95250"/>
          </a:xfrm>
          <a:prstGeom xmlns:a="http://schemas.openxmlformats.org/drawingml/2006/main" prst="ellipse">
            <a:avLst/>
          </a:prstGeom>
          <a:solidFill xmlns:a="http://schemas.openxmlformats.org/drawingml/2006/main">
            <a:srgbClr val="FFC24A"/>
          </a:solidFill>
          <a:ln xmlns:a="http://schemas.openxmlformats.org/drawingml/2006/main" w="0">
            <a:solidFill>
              <a:srgbClr val="FFC24A"/>
            </a:solidFill>
            <a:prstDash val="solid"/>
          </a:ln>
        </p:spPr>
      </p:sp>
      <p:sp>
        <p:nvSpPr>
          <p:cNvPr id="28" name="judge-see-3">
            <a:extLst xmlns:a="http://schemas.openxmlformats.org/drawingml/2006/main">
              <a:ext uri="{FF2B5EF4-FFF2-40B4-BE49-F238E27FC236}">
                <a16:creationId xmlns:a16="http://schemas.microsoft.com/office/drawing/2014/main" id="{D32F4A07-34C6-474A-B782-AA80636B51C8}"/>
              </a:ext>
            </a:extLst>
          </p:cNvPr>
          <p:cNvSpPr>
            <a:spLocks xmlns:a="http://schemas.openxmlformats.org/drawingml/2006/main" noGrp="1"/>
          </p:cNvSpPr>
          <p:nvPr/>
        </p:nvSpPr>
        <p:spPr>
          <a:xfrm xmlns:a="http://schemas.openxmlformats.org/drawingml/2006/main">
            <a:off x="8753475" y="38862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An intact original</a:t>
            </a:r>
          </a:p>
        </p:txBody>
      </p:sp>
      <p:sp>
        <p:nvSpPr>
          <p:cNvPr id="29" name="judge-see-4-dot">
            <a:extLst xmlns:a="http://schemas.openxmlformats.org/drawingml/2006/main">
              <a:ext uri="{FF2B5EF4-FFF2-40B4-BE49-F238E27FC236}">
                <a16:creationId xmlns:a16="http://schemas.microsoft.com/office/drawing/2014/main" id="{E5E9A6A9-64C7-42F7-8758-74D0E6B22986}"/>
              </a:ext>
            </a:extLst>
          </p:cNvPr>
          <p:cNvSpPr>
            <a:spLocks xmlns:a="http://schemas.openxmlformats.org/drawingml/2006/main" noGrp="1"/>
          </p:cNvSpPr>
          <p:nvPr/>
        </p:nvSpPr>
        <p:spPr>
          <a:xfrm xmlns:a="http://schemas.openxmlformats.org/drawingml/2006/main">
            <a:off x="8524875" y="4686300"/>
            <a:ext cx="95250" cy="95250"/>
          </a:xfrm>
          <a:prstGeom xmlns:a="http://schemas.openxmlformats.org/drawingml/2006/main" prst="ellipse">
            <a:avLst/>
          </a:prstGeom>
          <a:solidFill xmlns:a="http://schemas.openxmlformats.org/drawingml/2006/main">
            <a:srgbClr val="3DDCFF"/>
          </a:solidFill>
          <a:ln xmlns:a="http://schemas.openxmlformats.org/drawingml/2006/main" w="0">
            <a:solidFill>
              <a:srgbClr val="3DDCFF"/>
            </a:solidFill>
            <a:prstDash val="solid"/>
          </a:ln>
        </p:spPr>
      </p:sp>
      <p:sp>
        <p:nvSpPr>
          <p:cNvPr id="30" name="judge-see-4">
            <a:extLst xmlns:a="http://schemas.openxmlformats.org/drawingml/2006/main">
              <a:ext uri="{FF2B5EF4-FFF2-40B4-BE49-F238E27FC236}">
                <a16:creationId xmlns:a16="http://schemas.microsoft.com/office/drawing/2014/main" id="{0D74E3A8-FBE2-4B0E-A973-41DA747DCB0B}"/>
              </a:ext>
            </a:extLst>
          </p:cNvPr>
          <p:cNvSpPr>
            <a:spLocks xmlns:a="http://schemas.openxmlformats.org/drawingml/2006/main" noGrp="1"/>
          </p:cNvSpPr>
          <p:nvPr/>
        </p:nvSpPr>
        <p:spPr>
          <a:xfrm xmlns:a="http://schemas.openxmlformats.org/drawingml/2006/main">
            <a:off x="8753475" y="45910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6FBFF"/>
                </a:solidFill>
                <a:latin typeface="Aptos"/>
                <a:ea typeface="Aptos"/>
                <a:cs typeface="Aptos"/>
              </a:defRPr>
            </a:pPr>
            <a:r>
              <a:rPr sz="1650" b="1">
                <a:solidFill>
                  <a:srgbClr val="F6FBFF"/>
                </a:solidFill>
                <a:latin typeface="Aptos"/>
                <a:ea typeface="Aptos"/>
                <a:cs typeface="Aptos"/>
              </a:rPr>
              <a:t>A real saved report</a:t>
            </a:r>
          </a:p>
        </p:txBody>
      </p:sp>
      <p:sp>
        <p:nvSpPr>
          <p:cNvPr id="31" name="demo-backup">
            <a:extLst xmlns:a="http://schemas.openxmlformats.org/drawingml/2006/main">
              <a:ext uri="{FF2B5EF4-FFF2-40B4-BE49-F238E27FC236}">
                <a16:creationId xmlns:a16="http://schemas.microsoft.com/office/drawing/2014/main" id="{21A0A2D8-D016-400B-A8A0-586CE918EF81}"/>
              </a:ext>
            </a:extLst>
          </p:cNvPr>
          <p:cNvSpPr>
            <a:spLocks xmlns:a="http://schemas.openxmlformats.org/drawingml/2006/main" noGrp="1"/>
          </p:cNvSpPr>
          <p:nvPr/>
        </p:nvSpPr>
        <p:spPr>
          <a:xfrm xmlns:a="http://schemas.openxmlformats.org/drawingml/2006/main">
            <a:off x="8524875" y="5381625"/>
            <a:ext cx="2809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83A4BA"/>
                </a:solidFill>
                <a:latin typeface="Aptos"/>
                <a:ea typeface="Aptos"/>
                <a:cs typeface="Aptos"/>
              </a:defRPr>
            </a:pPr>
            <a:r>
              <a:rPr sz="1500" b="0">
                <a:solidFill>
                  <a:srgbClr val="83A4BA"/>
                </a:solidFill>
                <a:latin typeface="Aptos"/>
                <a:ea typeface="Aptos"/>
                <a:cs typeface="Aptos"/>
              </a:rPr>
              <a:t>Offline fallback: the deterministic gate and fictional demo require no cloud call or API key.</a:t>
            </a:r>
          </a:p>
        </p:txBody>
      </p:sp>
      <p:sp>
        <p:nvSpPr>
          <p:cNvPr id="32" name="footer-line-9">
            <a:extLst xmlns:a="http://schemas.openxmlformats.org/drawingml/2006/main">
              <a:ext uri="{FF2B5EF4-FFF2-40B4-BE49-F238E27FC236}">
                <a16:creationId xmlns:a16="http://schemas.microsoft.com/office/drawing/2014/main" id="{9CABED7F-4D20-41EC-9E10-97CA50BA967D}"/>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33" name="footer-brand-9">
            <a:extLst xmlns:a="http://schemas.openxmlformats.org/drawingml/2006/main">
              <a:ext uri="{FF2B5EF4-FFF2-40B4-BE49-F238E27FC236}">
                <a16:creationId xmlns:a16="http://schemas.microsoft.com/office/drawing/2014/main" id="{21F2C0D8-4359-483E-B5B5-F7EE26A76BA9}"/>
              </a:ext>
            </a:extLst>
          </p:cNvPr>
          <p:cNvSpPr>
            <a:spLocks xmlns:a="http://schemas.openxmlformats.org/drawingml/2006/main" noGrp="1"/>
          </p:cNvSpPr>
          <p:nvPr/>
        </p:nvSpPr>
        <p:spPr>
          <a:xfrm xmlns:a="http://schemas.openxmlformats.org/drawingml/2006/main">
            <a:off x="6096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46657A"/>
                </a:solidFill>
                <a:latin typeface="Aptos Mono"/>
                <a:ea typeface="Aptos Mono"/>
                <a:cs typeface="Aptos Mono"/>
              </a:defRPr>
            </a:pPr>
            <a:r>
              <a:rPr sz="975" b="1">
                <a:solidFill>
                  <a:srgbClr val="46657A"/>
                </a:solidFill>
                <a:latin typeface="Aptos Mono"/>
                <a:ea typeface="Aptos Mono"/>
                <a:cs typeface="Aptos Mono"/>
              </a:rPr>
              <a:t>CONTEXTGATE  /  KIRA LABS</a:t>
            </a:r>
          </a:p>
        </p:txBody>
      </p:sp>
      <p:sp>
        <p:nvSpPr>
          <p:cNvPr id="34" name="footer-number-9">
            <a:extLst xmlns:a="http://schemas.openxmlformats.org/drawingml/2006/main">
              <a:ext uri="{FF2B5EF4-FFF2-40B4-BE49-F238E27FC236}">
                <a16:creationId xmlns:a16="http://schemas.microsoft.com/office/drawing/2014/main" id="{2C4E53FA-8BED-443B-A22D-083EAA3519A6}"/>
              </a:ext>
            </a:extLst>
          </p:cNvPr>
          <p:cNvSpPr>
            <a:spLocks xmlns:a="http://schemas.openxmlformats.org/drawingml/2006/main" noGrp="1"/>
          </p:cNvSpPr>
          <p:nvPr/>
        </p:nvSpPr>
        <p:spPr>
          <a:xfrm xmlns:a="http://schemas.openxmlformats.org/drawingml/2006/main">
            <a:off x="11144250" y="65722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09</a:t>
            </a:r>
          </a:p>
        </p:txBody>
      </p:sp>
    </p:spTree>
    <p:extLst>
      <p:ext uri="{BB962C8B-B14F-4D97-AF65-F5344CB8AC3E}">
        <p14:creationId xmlns:p14="http://schemas.microsoft.com/office/powerpoint/2010/main" val="1933707664"/>
      </p:ext>
    </p:extLst>
  </p:cSld>
</p:sld>
</file>

<file path=ppt/slides/slide10.xml><?xml version="1.0" encoding="utf-8"?>
<p:sld xmlns:p="http://schemas.openxmlformats.org/presentationml/2006/main">
  <p:cSld>
    <p:bg>
      <p:bgPr>
        <a:solidFill xmlns:a="http://schemas.openxmlformats.org/drawingml/2006/main">
          <a:srgbClr val="03070D"/>
        </a:solidFill>
      </p:bgPr>
    </p:bg>
    <p:spTree>
      <p:nvGrpSpPr>
        <p:cNvPr id="1" name=""/>
        <p:cNvGrpSpPr/>
        <p:nvPr/>
      </p:nvGrpSpPr>
      <p:grpSpPr>
        <a:xfrm xmlns:a="http://schemas.openxmlformats.org/drawingml/2006/main"/>
      </p:grpSpPr>
      <p:sp>
        <p:nvSpPr>
          <p:cNvPr id="24" name="top-signal-10">
            <a:extLst xmlns:a="http://schemas.openxmlformats.org/drawingml/2006/main">
              <a:ext uri="{FF2B5EF4-FFF2-40B4-BE49-F238E27FC236}">
                <a16:creationId xmlns:a16="http://schemas.microsoft.com/office/drawing/2014/main" id="{B2418140-BC25-4967-9A26-F1CAB926B41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DCFF"/>
          </a:solidFill>
          <a:ln xmlns:a="http://schemas.openxmlformats.org/drawingml/2006/main" w="0">
            <a:noFill/>
            <a:prstDash val="solid"/>
          </a:ln>
        </p:spPr>
      </p:sp>
      <p:sp>
        <p:nvSpPr>
          <p:cNvPr id="2" name="left-edge-10">
            <a:extLst xmlns:a="http://schemas.openxmlformats.org/drawingml/2006/main">
              <a:ext uri="{FF2B5EF4-FFF2-40B4-BE49-F238E27FC236}">
                <a16:creationId xmlns:a16="http://schemas.microsoft.com/office/drawing/2014/main" id="{59D137E9-F0EF-4B8B-B39E-DE245ED783A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3" name="signal-line-a-10">
            <a:extLst xmlns:a="http://schemas.openxmlformats.org/drawingml/2006/main">
              <a:ext uri="{FF2B5EF4-FFF2-40B4-BE49-F238E27FC236}">
                <a16:creationId xmlns:a16="http://schemas.microsoft.com/office/drawing/2014/main" id="{2C978650-BD9F-43D3-9063-F69C7A965CEB}"/>
              </a:ext>
            </a:extLst>
          </p:cNvPr>
          <p:cNvSpPr>
            <a:spLocks xmlns:a="http://schemas.openxmlformats.org/drawingml/2006/main" noGrp="1"/>
          </p:cNvSpPr>
          <p:nvPr/>
        </p:nvSpPr>
        <p:spPr>
          <a:xfrm xmlns:a="http://schemas.openxmlformats.org/drawingml/2006/main">
            <a:off x="8858250" y="666750"/>
            <a:ext cx="2762250" cy="1905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4" name="signal-line-b-10">
            <a:extLst xmlns:a="http://schemas.openxmlformats.org/drawingml/2006/main">
              <a:ext uri="{FF2B5EF4-FFF2-40B4-BE49-F238E27FC236}">
                <a16:creationId xmlns:a16="http://schemas.microsoft.com/office/drawing/2014/main" id="{4E2E8F9C-CB82-4CF6-8245-3E3B2FB2959B}"/>
              </a:ext>
            </a:extLst>
          </p:cNvPr>
          <p:cNvSpPr>
            <a:spLocks xmlns:a="http://schemas.openxmlformats.org/drawingml/2006/main" noGrp="1"/>
          </p:cNvSpPr>
          <p:nvPr/>
        </p:nvSpPr>
        <p:spPr>
          <a:xfrm xmlns:a="http://schemas.openxmlformats.org/drawingml/2006/main">
            <a:off x="10001250" y="885825"/>
            <a:ext cx="1619250" cy="19050"/>
          </a:xfrm>
          <a:prstGeom xmlns:a="http://schemas.openxmlformats.org/drawingml/2006/main" prst="rect">
            <a:avLst/>
          </a:prstGeom>
          <a:solidFill xmlns:a="http://schemas.openxmlformats.org/drawingml/2006/main">
            <a:srgbClr val="099DCC"/>
          </a:solidFill>
          <a:ln xmlns:a="http://schemas.openxmlformats.org/drawingml/2006/main" w="0">
            <a:noFill/>
            <a:prstDash val="solid"/>
          </a:ln>
        </p:spPr>
      </p:sp>
      <p:sp>
        <p:nvSpPr>
          <p:cNvPr id="5" name="signal-node-10">
            <a:extLst xmlns:a="http://schemas.openxmlformats.org/drawingml/2006/main">
              <a:ext uri="{FF2B5EF4-FFF2-40B4-BE49-F238E27FC236}">
                <a16:creationId xmlns:a16="http://schemas.microsoft.com/office/drawing/2014/main" id="{B16335FE-D8A1-4440-AE93-8A651C9B8A8D}"/>
              </a:ext>
            </a:extLst>
          </p:cNvPr>
          <p:cNvSpPr>
            <a:spLocks xmlns:a="http://schemas.openxmlformats.org/drawingml/2006/main" noGrp="1"/>
          </p:cNvSpPr>
          <p:nvPr/>
        </p:nvSpPr>
        <p:spPr>
          <a:xfrm xmlns:a="http://schemas.openxmlformats.org/drawingml/2006/main">
            <a:off x="11525250" y="800100"/>
            <a:ext cx="171450" cy="171450"/>
          </a:xfrm>
          <a:prstGeom xmlns:a="http://schemas.openxmlformats.org/drawingml/2006/main" prst="ellipse">
            <a:avLst/>
          </a:prstGeom>
          <a:solidFill xmlns:a="http://schemas.openxmlformats.org/drawingml/2006/main">
            <a:srgbClr val="03070D"/>
          </a:solidFill>
          <a:ln xmlns:a="http://schemas.openxmlformats.org/drawingml/2006/main" w="19050">
            <a:solidFill>
              <a:srgbClr val="3DDCFF"/>
            </a:solidFill>
            <a:prstDash val="solid"/>
          </a:ln>
        </p:spPr>
      </p:sp>
      <p:sp>
        <p:nvSpPr>
          <p:cNvPr id="6" name="close-kicker">
            <a:extLst xmlns:a="http://schemas.openxmlformats.org/drawingml/2006/main">
              <a:ext uri="{FF2B5EF4-FFF2-40B4-BE49-F238E27FC236}">
                <a16:creationId xmlns:a16="http://schemas.microsoft.com/office/drawing/2014/main" id="{05716EEF-777D-4B59-A112-0C3CC8BF7737}"/>
              </a:ext>
            </a:extLst>
          </p:cNvPr>
          <p:cNvSpPr>
            <a:spLocks xmlns:a="http://schemas.openxmlformats.org/drawingml/2006/main" noGrp="1"/>
          </p:cNvSpPr>
          <p:nvPr/>
        </p:nvSpPr>
        <p:spPr>
          <a:xfrm xmlns:a="http://schemas.openxmlformats.org/drawingml/2006/main">
            <a:off x="723900" y="6477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3DDCFF"/>
                </a:solidFill>
                <a:latin typeface="Aptos Mono"/>
                <a:ea typeface="Aptos Mono"/>
                <a:cs typeface="Aptos Mono"/>
              </a:defRPr>
            </a:pPr>
            <a:r>
              <a:rPr sz="1275" b="1">
                <a:solidFill>
                  <a:srgbClr val="3DDCFF"/>
                </a:solidFill>
                <a:latin typeface="Aptos Mono"/>
                <a:ea typeface="Aptos Mono"/>
                <a:cs typeface="Aptos Mono"/>
              </a:rPr>
              <a:t>CONTEXTGATE  /  KIRA LABS</a:t>
            </a:r>
          </a:p>
        </p:txBody>
      </p:sp>
      <p:sp>
        <p:nvSpPr>
          <p:cNvPr id="7" name="close-title">
            <a:extLst xmlns:a="http://schemas.openxmlformats.org/drawingml/2006/main">
              <a:ext uri="{FF2B5EF4-FFF2-40B4-BE49-F238E27FC236}">
                <a16:creationId xmlns:a16="http://schemas.microsoft.com/office/drawing/2014/main" id="{4304104D-C14D-4108-AF3D-E62DBAD4A588}"/>
              </a:ext>
            </a:extLst>
          </p:cNvPr>
          <p:cNvSpPr>
            <a:spLocks xmlns:a="http://schemas.openxmlformats.org/drawingml/2006/main" noGrp="1"/>
          </p:cNvSpPr>
          <p:nvPr/>
        </p:nvSpPr>
        <p:spPr>
          <a:xfrm xmlns:a="http://schemas.openxmlformats.org/drawingml/2006/main">
            <a:off x="704850" y="1466850"/>
            <a:ext cx="1009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4650" b="1">
                <a:solidFill>
                  <a:srgbClr val="F6FBFF"/>
                </a:solidFill>
                <a:latin typeface="Aptos Display"/>
                <a:ea typeface="Aptos Display"/>
                <a:cs typeface="Aptos Display"/>
              </a:defRPr>
            </a:pPr>
            <a:r>
              <a:rPr sz="4650" b="1">
                <a:solidFill>
                  <a:srgbClr val="F6FBFF"/>
                </a:solidFill>
                <a:latin typeface="Aptos Display"/>
                <a:ea typeface="Aptos Display"/>
                <a:cs typeface="Aptos Display"/>
              </a:rPr>
              <a:t>Give agents context they can defend</a:t>
            </a:r>
          </a:p>
        </p:txBody>
      </p:sp>
      <p:sp>
        <p:nvSpPr>
          <p:cNvPr id="8" name="close-subtitle">
            <a:extLst xmlns:a="http://schemas.openxmlformats.org/drawingml/2006/main">
              <a:ext uri="{FF2B5EF4-FFF2-40B4-BE49-F238E27FC236}">
                <a16:creationId xmlns:a16="http://schemas.microsoft.com/office/drawing/2014/main" id="{3AC1EF34-1FF9-4B4A-8B8B-6E5214F2F930}"/>
              </a:ext>
            </a:extLst>
          </p:cNvPr>
          <p:cNvSpPr>
            <a:spLocks xmlns:a="http://schemas.openxmlformats.org/drawingml/2006/main" noGrp="1"/>
          </p:cNvSpPr>
          <p:nvPr/>
        </p:nvSpPr>
        <p:spPr>
          <a:xfrm xmlns:a="http://schemas.openxmlformats.org/drawingml/2006/main">
            <a:off x="733425" y="2400300"/>
            <a:ext cx="838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0">
                <a:solidFill>
                  <a:srgbClr val="83A4BA"/>
                </a:solidFill>
                <a:latin typeface="Aptos"/>
                <a:ea typeface="Aptos"/>
                <a:cs typeface="Aptos"/>
              </a:defRPr>
            </a:pPr>
            <a:r>
              <a:rPr sz="2325" b="0">
                <a:solidFill>
                  <a:srgbClr val="83A4BA"/>
                </a:solidFill>
                <a:latin typeface="Aptos"/>
                <a:ea typeface="Aptos"/>
                <a:cs typeface="Aptos"/>
              </a:rPr>
              <a:t>Know what is true. Decide what is safe. Prove why.</a:t>
            </a:r>
          </a:p>
        </p:txBody>
      </p:sp>
      <p:sp>
        <p:nvSpPr>
          <p:cNvPr id="9" name="close-line-a">
            <a:extLst xmlns:a="http://schemas.openxmlformats.org/drawingml/2006/main">
              <a:ext uri="{FF2B5EF4-FFF2-40B4-BE49-F238E27FC236}">
                <a16:creationId xmlns:a16="http://schemas.microsoft.com/office/drawing/2014/main" id="{366276C2-B34F-4772-8C64-B8CC8FBE565D}"/>
              </a:ext>
            </a:extLst>
          </p:cNvPr>
          <p:cNvSpPr>
            <a:spLocks xmlns:a="http://schemas.openxmlformats.org/drawingml/2006/main" noGrp="1"/>
          </p:cNvSpPr>
          <p:nvPr/>
        </p:nvSpPr>
        <p:spPr>
          <a:xfrm xmlns:a="http://schemas.openxmlformats.org/drawingml/2006/main">
            <a:off x="2762250" y="3752850"/>
            <a:ext cx="1714500" cy="3810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0" name="close-line-b">
            <a:extLst xmlns:a="http://schemas.openxmlformats.org/drawingml/2006/main">
              <a:ext uri="{FF2B5EF4-FFF2-40B4-BE49-F238E27FC236}">
                <a16:creationId xmlns:a16="http://schemas.microsoft.com/office/drawing/2014/main" id="{49DD0088-DF73-4C0F-86ED-E118F2EEDD7E}"/>
              </a:ext>
            </a:extLst>
          </p:cNvPr>
          <p:cNvSpPr>
            <a:spLocks xmlns:a="http://schemas.openxmlformats.org/drawingml/2006/main" noGrp="1"/>
          </p:cNvSpPr>
          <p:nvPr/>
        </p:nvSpPr>
        <p:spPr>
          <a:xfrm xmlns:a="http://schemas.openxmlformats.org/drawingml/2006/main">
            <a:off x="6762750" y="3752850"/>
            <a:ext cx="1714500" cy="38100"/>
          </a:xfrm>
          <a:prstGeom xmlns:a="http://schemas.openxmlformats.org/drawingml/2006/main" prst="rect">
            <a:avLst/>
          </a:prstGeom>
          <a:solidFill xmlns:a="http://schemas.openxmlformats.org/drawingml/2006/main">
            <a:srgbClr val="17435B"/>
          </a:solidFill>
          <a:ln xmlns:a="http://schemas.openxmlformats.org/drawingml/2006/main" w="0">
            <a:noFill/>
            <a:prstDash val="solid"/>
          </a:ln>
        </p:spPr>
      </p:sp>
      <p:sp>
        <p:nvSpPr>
          <p:cNvPr id="11" name="close-node-0">
            <a:extLst xmlns:a="http://schemas.openxmlformats.org/drawingml/2006/main">
              <a:ext uri="{FF2B5EF4-FFF2-40B4-BE49-F238E27FC236}">
                <a16:creationId xmlns:a16="http://schemas.microsoft.com/office/drawing/2014/main" id="{8F9CBBA8-832C-4F3B-8CB8-F8FE0513AB92}"/>
              </a:ext>
            </a:extLst>
          </p:cNvPr>
          <p:cNvSpPr>
            <a:spLocks xmlns:a="http://schemas.openxmlformats.org/drawingml/2006/main" noGrp="1"/>
          </p:cNvSpPr>
          <p:nvPr/>
        </p:nvSpPr>
        <p:spPr>
          <a:xfrm xmlns:a="http://schemas.openxmlformats.org/drawingml/2006/main">
            <a:off x="876300" y="3352800"/>
            <a:ext cx="2667000" cy="857250"/>
          </a:xfrm>
          <a:prstGeom xmlns:a="http://schemas.openxmlformats.org/drawingml/2006/main" prst="roundRect">
            <a:avLst>
              <a:gd name="adj" fmla="val 13333"/>
            </a:avLst>
          </a:prstGeom>
          <a:solidFill xmlns:a="http://schemas.openxmlformats.org/drawingml/2006/main">
            <a:srgbClr val="0B1C2C"/>
          </a:solidFill>
          <a:ln xmlns:a="http://schemas.openxmlformats.org/drawingml/2006/main" w="19050">
            <a:solidFill>
              <a:srgbClr val="3DDCFF"/>
            </a:solidFill>
            <a:prstDash val="solid"/>
          </a:ln>
        </p:spPr>
      </p:sp>
      <p:sp>
        <p:nvSpPr>
          <p:cNvPr id="12" name="close-label-0">
            <a:extLst xmlns:a="http://schemas.openxmlformats.org/drawingml/2006/main">
              <a:ext uri="{FF2B5EF4-FFF2-40B4-BE49-F238E27FC236}">
                <a16:creationId xmlns:a16="http://schemas.microsoft.com/office/drawing/2014/main" id="{3D662D90-2284-4525-886C-46BA57AC467A}"/>
              </a:ext>
            </a:extLst>
          </p:cNvPr>
          <p:cNvSpPr>
            <a:spLocks xmlns:a="http://schemas.openxmlformats.org/drawingml/2006/main" noGrp="1"/>
          </p:cNvSpPr>
          <p:nvPr/>
        </p:nvSpPr>
        <p:spPr>
          <a:xfrm xmlns:a="http://schemas.openxmlformats.org/drawingml/2006/main">
            <a:off x="1066800" y="34766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3DDCFF"/>
                </a:solidFill>
                <a:latin typeface="Aptos Mono"/>
                <a:ea typeface="Aptos Mono"/>
                <a:cs typeface="Aptos Mono"/>
              </a:defRPr>
            </a:pPr>
            <a:r>
              <a:rPr sz="1875" b="1">
                <a:solidFill>
                  <a:srgbClr val="3DDCFF"/>
                </a:solidFill>
                <a:latin typeface="Aptos Mono"/>
                <a:ea typeface="Aptos Mono"/>
                <a:cs typeface="Aptos Mono"/>
              </a:rPr>
              <a:t>KNOW</a:t>
            </a:r>
          </a:p>
        </p:txBody>
      </p:sp>
      <p:sp>
        <p:nvSpPr>
          <p:cNvPr id="13" name="close-detail-0">
            <a:extLst xmlns:a="http://schemas.openxmlformats.org/drawingml/2006/main">
              <a:ext uri="{FF2B5EF4-FFF2-40B4-BE49-F238E27FC236}">
                <a16:creationId xmlns:a16="http://schemas.microsoft.com/office/drawing/2014/main" id="{C33FB5E3-B61F-444C-8EF9-0F0DAFAF0A19}"/>
              </a:ext>
            </a:extLst>
          </p:cNvPr>
          <p:cNvSpPr>
            <a:spLocks xmlns:a="http://schemas.openxmlformats.org/drawingml/2006/main" noGrp="1"/>
          </p:cNvSpPr>
          <p:nvPr/>
        </p:nvSpPr>
        <p:spPr>
          <a:xfrm xmlns:a="http://schemas.openxmlformats.org/drawingml/2006/main">
            <a:off x="1066800" y="38481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DCEAF4"/>
                </a:solidFill>
                <a:latin typeface="Aptos"/>
                <a:ea typeface="Aptos"/>
                <a:cs typeface="Aptos"/>
              </a:defRPr>
            </a:pPr>
            <a:r>
              <a:rPr sz="1275" b="0">
                <a:solidFill>
                  <a:srgbClr val="DCEAF4"/>
                </a:solidFill>
                <a:latin typeface="Aptos"/>
                <a:ea typeface="Aptos"/>
                <a:cs typeface="Aptos"/>
              </a:rPr>
              <a:t>Evidence + authority</a:t>
            </a:r>
          </a:p>
        </p:txBody>
      </p:sp>
      <p:sp>
        <p:nvSpPr>
          <p:cNvPr id="14" name="close-node-1">
            <a:extLst xmlns:a="http://schemas.openxmlformats.org/drawingml/2006/main">
              <a:ext uri="{FF2B5EF4-FFF2-40B4-BE49-F238E27FC236}">
                <a16:creationId xmlns:a16="http://schemas.microsoft.com/office/drawing/2014/main" id="{09F08C42-F159-4A3F-B21F-E143075AE2B8}"/>
              </a:ext>
            </a:extLst>
          </p:cNvPr>
          <p:cNvSpPr>
            <a:spLocks xmlns:a="http://schemas.openxmlformats.org/drawingml/2006/main" noGrp="1"/>
          </p:cNvSpPr>
          <p:nvPr/>
        </p:nvSpPr>
        <p:spPr>
          <a:xfrm xmlns:a="http://schemas.openxmlformats.org/drawingml/2006/main">
            <a:off x="4648200" y="3352800"/>
            <a:ext cx="2667000" cy="857250"/>
          </a:xfrm>
          <a:prstGeom xmlns:a="http://schemas.openxmlformats.org/drawingml/2006/main" prst="roundRect">
            <a:avLst>
              <a:gd name="adj" fmla="val 13333"/>
            </a:avLst>
          </a:prstGeom>
          <a:solidFill xmlns:a="http://schemas.openxmlformats.org/drawingml/2006/main">
            <a:srgbClr val="0B1C2C"/>
          </a:solidFill>
          <a:ln xmlns:a="http://schemas.openxmlformats.org/drawingml/2006/main" w="19050">
            <a:solidFill>
              <a:srgbClr val="FFC24A"/>
            </a:solidFill>
            <a:prstDash val="solid"/>
          </a:ln>
        </p:spPr>
      </p:sp>
      <p:sp>
        <p:nvSpPr>
          <p:cNvPr id="15" name="close-label-1">
            <a:extLst xmlns:a="http://schemas.openxmlformats.org/drawingml/2006/main">
              <a:ext uri="{FF2B5EF4-FFF2-40B4-BE49-F238E27FC236}">
                <a16:creationId xmlns:a16="http://schemas.microsoft.com/office/drawing/2014/main" id="{CCD9903D-EB1F-45D4-BD78-A9420EA79D9F}"/>
              </a:ext>
            </a:extLst>
          </p:cNvPr>
          <p:cNvSpPr>
            <a:spLocks xmlns:a="http://schemas.openxmlformats.org/drawingml/2006/main" noGrp="1"/>
          </p:cNvSpPr>
          <p:nvPr/>
        </p:nvSpPr>
        <p:spPr>
          <a:xfrm xmlns:a="http://schemas.openxmlformats.org/drawingml/2006/main">
            <a:off x="4838700" y="34766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FFC24A"/>
                </a:solidFill>
                <a:latin typeface="Aptos Mono"/>
                <a:ea typeface="Aptos Mono"/>
                <a:cs typeface="Aptos Mono"/>
              </a:defRPr>
            </a:pPr>
            <a:r>
              <a:rPr sz="1875" b="1">
                <a:solidFill>
                  <a:srgbClr val="FFC24A"/>
                </a:solidFill>
                <a:latin typeface="Aptos Mono"/>
                <a:ea typeface="Aptos Mono"/>
                <a:cs typeface="Aptos Mono"/>
              </a:rPr>
              <a:t>DECIDE</a:t>
            </a:r>
          </a:p>
        </p:txBody>
      </p:sp>
      <p:sp>
        <p:nvSpPr>
          <p:cNvPr id="16" name="close-detail-1">
            <a:extLst xmlns:a="http://schemas.openxmlformats.org/drawingml/2006/main">
              <a:ext uri="{FF2B5EF4-FFF2-40B4-BE49-F238E27FC236}">
                <a16:creationId xmlns:a16="http://schemas.microsoft.com/office/drawing/2014/main" id="{C54528D0-CE7C-4180-B0AE-EFA66E87E738}"/>
              </a:ext>
            </a:extLst>
          </p:cNvPr>
          <p:cNvSpPr>
            <a:spLocks xmlns:a="http://schemas.openxmlformats.org/drawingml/2006/main" noGrp="1"/>
          </p:cNvSpPr>
          <p:nvPr/>
        </p:nvSpPr>
        <p:spPr>
          <a:xfrm xmlns:a="http://schemas.openxmlformats.org/drawingml/2006/main">
            <a:off x="4838700" y="38481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DCEAF4"/>
                </a:solidFill>
                <a:latin typeface="Aptos"/>
                <a:ea typeface="Aptos"/>
                <a:cs typeface="Aptos"/>
              </a:defRPr>
            </a:pPr>
            <a:r>
              <a:rPr sz="1275" b="0">
                <a:solidFill>
                  <a:srgbClr val="DCEAF4"/>
                </a:solidFill>
                <a:latin typeface="Aptos"/>
                <a:ea typeface="Aptos"/>
                <a:cs typeface="Aptos"/>
              </a:rPr>
              <a:t>ALLOW / REVIEW / BLOCK</a:t>
            </a:r>
          </a:p>
        </p:txBody>
      </p:sp>
      <p:sp>
        <p:nvSpPr>
          <p:cNvPr id="17" name="close-node-2">
            <a:extLst xmlns:a="http://schemas.openxmlformats.org/drawingml/2006/main">
              <a:ext uri="{FF2B5EF4-FFF2-40B4-BE49-F238E27FC236}">
                <a16:creationId xmlns:a16="http://schemas.microsoft.com/office/drawing/2014/main" id="{5B4BFCE7-9539-4DBC-A12D-B66FB110D4C7}"/>
              </a:ext>
            </a:extLst>
          </p:cNvPr>
          <p:cNvSpPr>
            <a:spLocks xmlns:a="http://schemas.openxmlformats.org/drawingml/2006/main" noGrp="1"/>
          </p:cNvSpPr>
          <p:nvPr/>
        </p:nvSpPr>
        <p:spPr>
          <a:xfrm xmlns:a="http://schemas.openxmlformats.org/drawingml/2006/main">
            <a:off x="8648700" y="3352800"/>
            <a:ext cx="2667000" cy="857250"/>
          </a:xfrm>
          <a:prstGeom xmlns:a="http://schemas.openxmlformats.org/drawingml/2006/main" prst="roundRect">
            <a:avLst>
              <a:gd name="adj" fmla="val 13333"/>
            </a:avLst>
          </a:prstGeom>
          <a:solidFill xmlns:a="http://schemas.openxmlformats.org/drawingml/2006/main">
            <a:srgbClr val="0B1C2C"/>
          </a:solidFill>
          <a:ln xmlns:a="http://schemas.openxmlformats.org/drawingml/2006/main" w="19050">
            <a:solidFill>
              <a:srgbClr val="29E7B1"/>
            </a:solidFill>
            <a:prstDash val="solid"/>
          </a:ln>
        </p:spPr>
      </p:sp>
      <p:sp>
        <p:nvSpPr>
          <p:cNvPr id="18" name="close-label-2">
            <a:extLst xmlns:a="http://schemas.openxmlformats.org/drawingml/2006/main">
              <a:ext uri="{FF2B5EF4-FFF2-40B4-BE49-F238E27FC236}">
                <a16:creationId xmlns:a16="http://schemas.microsoft.com/office/drawing/2014/main" id="{C35CF0DC-5689-407E-B22F-B34D77D4F67F}"/>
              </a:ext>
            </a:extLst>
          </p:cNvPr>
          <p:cNvSpPr>
            <a:spLocks xmlns:a="http://schemas.openxmlformats.org/drawingml/2006/main" noGrp="1"/>
          </p:cNvSpPr>
          <p:nvPr/>
        </p:nvSpPr>
        <p:spPr>
          <a:xfrm xmlns:a="http://schemas.openxmlformats.org/drawingml/2006/main">
            <a:off x="8839200" y="34766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29E7B1"/>
                </a:solidFill>
                <a:latin typeface="Aptos Mono"/>
                <a:ea typeface="Aptos Mono"/>
                <a:cs typeface="Aptos Mono"/>
              </a:defRPr>
            </a:pPr>
            <a:r>
              <a:rPr sz="1875" b="1">
                <a:solidFill>
                  <a:srgbClr val="29E7B1"/>
                </a:solidFill>
                <a:latin typeface="Aptos Mono"/>
                <a:ea typeface="Aptos Mono"/>
                <a:cs typeface="Aptos Mono"/>
              </a:rPr>
              <a:t>PROVE</a:t>
            </a:r>
          </a:p>
        </p:txBody>
      </p:sp>
      <p:sp>
        <p:nvSpPr>
          <p:cNvPr id="19" name="close-detail-2">
            <a:extLst xmlns:a="http://schemas.openxmlformats.org/drawingml/2006/main">
              <a:ext uri="{FF2B5EF4-FFF2-40B4-BE49-F238E27FC236}">
                <a16:creationId xmlns:a16="http://schemas.microsoft.com/office/drawing/2014/main" id="{DC6DDA93-A057-40B4-BE25-715985404441}"/>
              </a:ext>
            </a:extLst>
          </p:cNvPr>
          <p:cNvSpPr>
            <a:spLocks xmlns:a="http://schemas.openxmlformats.org/drawingml/2006/main" noGrp="1"/>
          </p:cNvSpPr>
          <p:nvPr/>
        </p:nvSpPr>
        <p:spPr>
          <a:xfrm xmlns:a="http://schemas.openxmlformats.org/drawingml/2006/main">
            <a:off x="8839200" y="38481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DCEAF4"/>
                </a:solidFill>
                <a:latin typeface="Aptos"/>
                <a:ea typeface="Aptos"/>
                <a:cs typeface="Aptos"/>
              </a:defRPr>
            </a:pPr>
            <a:r>
              <a:rPr sz="1275" b="0">
                <a:solidFill>
                  <a:srgbClr val="DCEAF4"/>
                </a:solidFill>
                <a:latin typeface="Aptos"/>
                <a:ea typeface="Aptos"/>
                <a:cs typeface="Aptos"/>
              </a:rPr>
              <a:t>Explanation + receipt</a:t>
            </a:r>
          </a:p>
        </p:txBody>
      </p:sp>
      <p:sp>
        <p:nvSpPr>
          <p:cNvPr id="20" name="close-ask-band">
            <a:extLst xmlns:a="http://schemas.openxmlformats.org/drawingml/2006/main">
              <a:ext uri="{FF2B5EF4-FFF2-40B4-BE49-F238E27FC236}">
                <a16:creationId xmlns:a16="http://schemas.microsoft.com/office/drawing/2014/main" id="{2AE4B656-079B-439B-9E9D-F090C9E48E0E}"/>
              </a:ext>
            </a:extLst>
          </p:cNvPr>
          <p:cNvSpPr>
            <a:spLocks xmlns:a="http://schemas.openxmlformats.org/drawingml/2006/main" noGrp="1"/>
          </p:cNvSpPr>
          <p:nvPr/>
        </p:nvSpPr>
        <p:spPr>
          <a:xfrm xmlns:a="http://schemas.openxmlformats.org/drawingml/2006/main">
            <a:off x="704850" y="4876800"/>
            <a:ext cx="10839450" cy="819150"/>
          </a:xfrm>
          <a:prstGeom xmlns:a="http://schemas.openxmlformats.org/drawingml/2006/main" prst="roundRect">
            <a:avLst>
              <a:gd name="adj" fmla="val 13953"/>
            </a:avLst>
          </a:prstGeom>
          <a:solidFill xmlns:a="http://schemas.openxmlformats.org/drawingml/2006/main">
            <a:srgbClr val="0B1C2C"/>
          </a:solidFill>
          <a:ln xmlns:a="http://schemas.openxmlformats.org/drawingml/2006/main" w="19050">
            <a:solidFill>
              <a:srgbClr val="099DCC"/>
            </a:solidFill>
            <a:prstDash val="solid"/>
          </a:ln>
        </p:spPr>
      </p:sp>
      <p:sp>
        <p:nvSpPr>
          <p:cNvPr id="21" name="close-ask">
            <a:extLst xmlns:a="http://schemas.openxmlformats.org/drawingml/2006/main">
              <a:ext uri="{FF2B5EF4-FFF2-40B4-BE49-F238E27FC236}">
                <a16:creationId xmlns:a16="http://schemas.microsoft.com/office/drawing/2014/main" id="{F59345C6-4A4C-497A-B764-5BFB92CD073C}"/>
              </a:ext>
            </a:extLst>
          </p:cNvPr>
          <p:cNvSpPr>
            <a:spLocks xmlns:a="http://schemas.openxmlformats.org/drawingml/2006/main" noGrp="1"/>
          </p:cNvSpPr>
          <p:nvPr/>
        </p:nvSpPr>
        <p:spPr>
          <a:xfrm xmlns:a="http://schemas.openxmlformats.org/drawingml/2006/main">
            <a:off x="1000125" y="5114925"/>
            <a:ext cx="1024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3DDCFF"/>
                </a:solidFill>
                <a:latin typeface="Aptos"/>
                <a:ea typeface="Aptos"/>
                <a:cs typeface="Aptos"/>
              </a:defRPr>
            </a:pPr>
            <a:r>
              <a:rPr sz="2025" b="1">
                <a:solidFill>
                  <a:srgbClr val="3DDCFF"/>
                </a:solidFill>
                <a:latin typeface="Aptos"/>
                <a:ea typeface="Aptos"/>
                <a:cs typeface="Aptos"/>
              </a:rPr>
              <a:t>Next: connect workshop credentials and prove this same path through Kafka + Flink.</a:t>
            </a:r>
          </a:p>
        </p:txBody>
      </p:sp>
      <p:sp>
        <p:nvSpPr>
          <p:cNvPr id="22" name="close-contact">
            <a:extLst xmlns:a="http://schemas.openxmlformats.org/drawingml/2006/main">
              <a:ext uri="{FF2B5EF4-FFF2-40B4-BE49-F238E27FC236}">
                <a16:creationId xmlns:a16="http://schemas.microsoft.com/office/drawing/2014/main" id="{9CEA2D9A-DD04-4FBC-AE93-800536503C33}"/>
              </a:ext>
            </a:extLst>
          </p:cNvPr>
          <p:cNvSpPr>
            <a:spLocks xmlns:a="http://schemas.openxmlformats.org/drawingml/2006/main" noGrp="1"/>
          </p:cNvSpPr>
          <p:nvPr/>
        </p:nvSpPr>
        <p:spPr>
          <a:xfrm xmlns:a="http://schemas.openxmlformats.org/drawingml/2006/main">
            <a:off x="714375" y="611505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F6FBFF"/>
                </a:solidFill>
                <a:latin typeface="Aptos"/>
                <a:ea typeface="Aptos"/>
                <a:cs typeface="Aptos"/>
              </a:defRPr>
            </a:pPr>
            <a:r>
              <a:rPr sz="1500" b="0">
                <a:solidFill>
                  <a:srgbClr val="F6FBFF"/>
                </a:solidFill>
                <a:latin typeface="Aptos"/>
                <a:ea typeface="Aptos"/>
                <a:cs typeface="Aptos"/>
              </a:rPr>
              <a:t>Robert McMurrer  ·  Kira Labs  ·  kiralabs.org</a:t>
            </a:r>
          </a:p>
        </p:txBody>
      </p:sp>
      <p:sp>
        <p:nvSpPr>
          <p:cNvPr id="23" name="close-number">
            <a:extLst xmlns:a="http://schemas.openxmlformats.org/drawingml/2006/main">
              <a:ext uri="{FF2B5EF4-FFF2-40B4-BE49-F238E27FC236}">
                <a16:creationId xmlns:a16="http://schemas.microsoft.com/office/drawing/2014/main" id="{B35CC131-AB46-43D6-9229-78C3599CBE16}"/>
              </a:ext>
            </a:extLst>
          </p:cNvPr>
          <p:cNvSpPr>
            <a:spLocks xmlns:a="http://schemas.openxmlformats.org/drawingml/2006/main" noGrp="1"/>
          </p:cNvSpPr>
          <p:nvPr/>
        </p:nvSpPr>
        <p:spPr>
          <a:xfrm xmlns:a="http://schemas.openxmlformats.org/drawingml/2006/main">
            <a:off x="11087100" y="64960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3DDCFF"/>
                </a:solidFill>
                <a:latin typeface="Aptos Mono"/>
                <a:ea typeface="Aptos Mono"/>
                <a:cs typeface="Aptos Mono"/>
              </a:defRPr>
            </a:pPr>
            <a:r>
              <a:rPr sz="975" b="1">
                <a:solidFill>
                  <a:srgbClr val="3DDCFF"/>
                </a:solidFill>
                <a:latin typeface="Aptos Mono"/>
                <a:ea typeface="Aptos Mono"/>
                <a:cs typeface="Aptos Mono"/>
              </a:rPr>
              <a:t>10</a:t>
            </a:r>
          </a:p>
        </p:txBody>
      </p:sp>
    </p:spTree>
    <p:extLst>
      <p:ext uri="{BB962C8B-B14F-4D97-AF65-F5344CB8AC3E}">
        <p14:creationId xmlns:p14="http://schemas.microsoft.com/office/powerpoint/2010/main" val="376537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2026-09-03T15:28:30.5330000Z</dcterms:created>
  <dcterms:modified xsi:type="dcterms:W3CDTF">2026-09-03T15:28:30.5340000Z</dcterms:modified>
</coreProperties>
</file>